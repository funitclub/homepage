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運営向けの資料です。WG が立ち上がるたびに、この順番で作業します。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1〜4 は WG が立ち上がったときに一度だけ行います。メンバーが増えたらチームに足し、卒業・退部や WG の終了のときは 5 を行います。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Owner を自分の個人アカウントのままにすると、org の外にリポジトリができてしまいます。作り直しになるので、必ず funITclub を選んでください。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Rulesets は org の無料プランでも公開リポジトリなら使えます。テンプレートから作ってもルールは引き継がれないので、WG ごとに作ります。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テストの名前 test は、wg-template の GitHub Actions のジョブ名です。一度も流れていないと候補に出ません。承認を必須にすると、自分の PR は自分では承認できないので、メンバーが 1 人のうちは 0 にしておきます。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Write があれば、ブランチを作って送り、プルリクエストを出してマージできます。リポジトリの設定を変えられる Maintain や Admin は付けません。チームの名前はリポジトリと同じ wg-&lt;名前&gt; にそろえます。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「活動中」の WG だけが TOP の「活動中のWG」の件数に入ります。Webアプリの URL が空欄のうちは「作成中」ページに繋がります。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メンバーは佛教大学の学生なので、卒業で入れ替わります。GitHub は学生かどうかを確かめないので、外し忘れると卒業後も書き込めるままになります。アーカイブしたリポジトリは読み取り専用で残り、あとから元に戻せます。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まだ用意していない構成案です。WG のアプリは Container Apps で動かし、イメージは GitHub のコンテナレジストリ（ghcr.io）に置きます。WG ごとにリソースグループ（RG）を分け、homepage と DB がある hirahira には入れません。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homepage の自動デプロイも、権限を App Service 1 つに絞り、RG の hirahira には付けていません。WG でも同じ考え方で、GitHub Actions から届く範囲を WG の RG に閉じます。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1E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fun IT club — WG 立ち上げガイド  01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4754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リポジトリを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5BB8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作って見守る。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278892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DDDD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のリポジトリの作り方、main を守るルール、WG のチーム、サイトへの掲載、メンバーの交代と終了。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3840480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384048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運営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44348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9CA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2026-09  ·  fun IT club 運営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394960" y="1051560"/>
            <a:ext cx="3291840" cy="3017520"/>
          </a:xfrm>
          <a:prstGeom prst="rect">
            <a:avLst/>
          </a:prstGeom>
          <a:solidFill>
            <a:srgbClr val="1A4A70"/>
          </a:solidFill>
          <a:ln w="12700">
            <a:solidFill>
              <a:srgbClr val="1A4A7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623560" y="120700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資料は 4 本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5623560" y="1600200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9CA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00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035040" y="1600200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概要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6035040" y="1847088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全員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5486400" y="2148840"/>
            <a:ext cx="3108960" cy="548640"/>
          </a:xfrm>
          <a:prstGeom prst="rect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623560" y="2203704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6035040" y="2203704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リポジトリの作り方と運用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6035040" y="2450592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B8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運営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5623560" y="2807208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9CA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035040" y="2807208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パソコンの準備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6035040" y="3054096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全員・初回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5623560" y="341071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9CA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6035040" y="3410712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開発の進め方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6035040" y="3657600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全員・毎日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01  ·  運営の作業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が立ち上がったらやること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1499616" cy="31546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21792" y="1664208"/>
            <a:ext cx="384048" cy="384048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21792" y="1664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4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08176" y="1709928"/>
            <a:ext cx="292608" cy="292608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21792" y="2240280"/>
            <a:ext cx="12252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作る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621792" y="269748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テンプレートから WG のリポジトリを作る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21792" y="4178808"/>
            <a:ext cx="914400" cy="237744"/>
          </a:xfrm>
          <a:prstGeom prst="roundRect">
            <a:avLst>
              <a:gd name="adj" fmla="val 50000"/>
            </a:avLst>
          </a:prstGeom>
          <a:solidFill>
            <a:srgbClr val="E4F2FF"/>
          </a:solidFill>
          <a:ln w="12700">
            <a:solidFill>
              <a:srgbClr val="E4F2F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21792" y="4178808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4A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一度だけ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2139696" y="1463040"/>
            <a:ext cx="1499616" cy="31546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2304288" y="1664208"/>
            <a:ext cx="384048" cy="384048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304288" y="1664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400" dirty="0"/>
          </a:p>
        </p:txBody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90672" y="1709928"/>
            <a:ext cx="292608" cy="292608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2304288" y="2240280"/>
            <a:ext cx="12252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守る</a:t>
            </a:r>
            <a:endParaRPr lang="en-US" sz="1600" dirty="0"/>
          </a:p>
        </p:txBody>
      </p:sp>
      <p:sp>
        <p:nvSpPr>
          <p:cNvPr id="17" name="Text 13"/>
          <p:cNvSpPr txBox="1"/>
          <p:nvPr/>
        </p:nvSpPr>
        <p:spPr>
          <a:xfrm>
            <a:off x="2304288" y="269748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main に直接 push できないルールを作る</a:t>
            </a:r>
            <a:endParaRPr lang="en-US" sz="1100" dirty="0"/>
          </a:p>
        </p:txBody>
      </p:sp>
      <p:sp>
        <p:nvSpPr>
          <p:cNvPr id="18" name="Shape 14"/>
          <p:cNvSpPr/>
          <p:nvPr/>
        </p:nvSpPr>
        <p:spPr>
          <a:xfrm>
            <a:off x="2304288" y="4178808"/>
            <a:ext cx="914400" cy="237744"/>
          </a:xfrm>
          <a:prstGeom prst="roundRect">
            <a:avLst>
              <a:gd name="adj" fmla="val 50000"/>
            </a:avLst>
          </a:prstGeom>
          <a:solidFill>
            <a:srgbClr val="E4F2FF"/>
          </a:solidFill>
          <a:ln w="12700">
            <a:solidFill>
              <a:srgbClr val="E4F2FF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2304288" y="4178808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4A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一度だけ</a:t>
            </a:r>
            <a:endParaRPr lang="en-US" sz="900" dirty="0"/>
          </a:p>
        </p:txBody>
      </p:sp>
      <p:sp>
        <p:nvSpPr>
          <p:cNvPr id="20" name="Shape 16"/>
          <p:cNvSpPr/>
          <p:nvPr/>
        </p:nvSpPr>
        <p:spPr>
          <a:xfrm>
            <a:off x="3822192" y="1463040"/>
            <a:ext cx="1499616" cy="31546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1" name="Shape 17"/>
          <p:cNvSpPr/>
          <p:nvPr/>
        </p:nvSpPr>
        <p:spPr>
          <a:xfrm>
            <a:off x="3986784" y="1664208"/>
            <a:ext cx="384048" cy="384048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3986784" y="1664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400" dirty="0"/>
          </a:p>
        </p:txBody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73168" y="1709928"/>
            <a:ext cx="292608" cy="292608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3986784" y="2240280"/>
            <a:ext cx="12252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チーム</a:t>
            </a:r>
            <a:endParaRPr lang="en-US" sz="1600" dirty="0"/>
          </a:p>
        </p:txBody>
      </p:sp>
      <p:sp>
        <p:nvSpPr>
          <p:cNvPr id="25" name="Text 20"/>
          <p:cNvSpPr txBox="1"/>
          <p:nvPr/>
        </p:nvSpPr>
        <p:spPr>
          <a:xfrm>
            <a:off x="3986784" y="269748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のチームを作り、リポジトリに Write を付ける</a:t>
            </a:r>
            <a:endParaRPr lang="en-US" sz="1100" dirty="0"/>
          </a:p>
        </p:txBody>
      </p:sp>
      <p:sp>
        <p:nvSpPr>
          <p:cNvPr id="26" name="Shape 21"/>
          <p:cNvSpPr/>
          <p:nvPr/>
        </p:nvSpPr>
        <p:spPr>
          <a:xfrm>
            <a:off x="3986784" y="4178808"/>
            <a:ext cx="914400" cy="237744"/>
          </a:xfrm>
          <a:prstGeom prst="roundRect">
            <a:avLst>
              <a:gd name="adj" fmla="val 50000"/>
            </a:avLst>
          </a:prstGeom>
          <a:solidFill>
            <a:srgbClr val="E4F2FF"/>
          </a:solidFill>
          <a:ln w="12700">
            <a:solidFill>
              <a:srgbClr val="E4F2FF"/>
            </a:solidFill>
            <a:prstDash val="solid"/>
          </a:ln>
        </p:spPr>
      </p:sp>
      <p:sp>
        <p:nvSpPr>
          <p:cNvPr id="27" name="Text 22"/>
          <p:cNvSpPr txBox="1"/>
          <p:nvPr/>
        </p:nvSpPr>
        <p:spPr>
          <a:xfrm>
            <a:off x="3986784" y="4178808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4A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一度だけ</a:t>
            </a:r>
            <a:endParaRPr lang="en-US" sz="900" dirty="0"/>
          </a:p>
        </p:txBody>
      </p:sp>
      <p:sp>
        <p:nvSpPr>
          <p:cNvPr id="28" name="Shape 23"/>
          <p:cNvSpPr/>
          <p:nvPr/>
        </p:nvSpPr>
        <p:spPr>
          <a:xfrm>
            <a:off x="5504688" y="1463040"/>
            <a:ext cx="1499616" cy="31546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9" name="Shape 24"/>
          <p:cNvSpPr/>
          <p:nvPr/>
        </p:nvSpPr>
        <p:spPr>
          <a:xfrm>
            <a:off x="5669280" y="1664208"/>
            <a:ext cx="384048" cy="384048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30" name="Text 25"/>
          <p:cNvSpPr txBox="1"/>
          <p:nvPr/>
        </p:nvSpPr>
        <p:spPr>
          <a:xfrm>
            <a:off x="5669280" y="1664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400" dirty="0"/>
          </a:p>
        </p:txBody>
      </p:sp>
      <p:pic>
        <p:nvPicPr>
          <p:cNvPr id="3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55664" y="1709928"/>
            <a:ext cx="292608" cy="292608"/>
          </a:xfrm>
          <a:prstGeom prst="rect">
            <a:avLst/>
          </a:prstGeom>
        </p:spPr>
      </p:pic>
      <p:sp>
        <p:nvSpPr>
          <p:cNvPr id="32" name="Text 26"/>
          <p:cNvSpPr txBox="1"/>
          <p:nvPr/>
        </p:nvSpPr>
        <p:spPr>
          <a:xfrm>
            <a:off x="5669280" y="2240280"/>
            <a:ext cx="12252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載せる</a:t>
            </a:r>
            <a:endParaRPr lang="en-US" sz="1600" dirty="0"/>
          </a:p>
        </p:txBody>
      </p:sp>
      <p:sp>
        <p:nvSpPr>
          <p:cNvPr id="33" name="Text 27"/>
          <p:cNvSpPr txBox="1"/>
          <p:nvPr/>
        </p:nvSpPr>
        <p:spPr>
          <a:xfrm>
            <a:off x="5669280" y="269748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サイトの WG 一覧に「準備中」で載せる</a:t>
            </a:r>
            <a:endParaRPr lang="en-US" sz="1100" dirty="0"/>
          </a:p>
        </p:txBody>
      </p:sp>
      <p:sp>
        <p:nvSpPr>
          <p:cNvPr id="34" name="Shape 28"/>
          <p:cNvSpPr/>
          <p:nvPr/>
        </p:nvSpPr>
        <p:spPr>
          <a:xfrm>
            <a:off x="5669280" y="4178808"/>
            <a:ext cx="914400" cy="237744"/>
          </a:xfrm>
          <a:prstGeom prst="roundRect">
            <a:avLst>
              <a:gd name="adj" fmla="val 50000"/>
            </a:avLst>
          </a:prstGeom>
          <a:solidFill>
            <a:srgbClr val="E4F2FF"/>
          </a:solidFill>
          <a:ln w="12700">
            <a:solidFill>
              <a:srgbClr val="E4F2FF"/>
            </a:solidFill>
            <a:prstDash val="solid"/>
          </a:ln>
        </p:spPr>
      </p:sp>
      <p:sp>
        <p:nvSpPr>
          <p:cNvPr id="35" name="Text 29"/>
          <p:cNvSpPr txBox="1"/>
          <p:nvPr/>
        </p:nvSpPr>
        <p:spPr>
          <a:xfrm>
            <a:off x="5669280" y="4178808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4A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一度だけ</a:t>
            </a:r>
            <a:endParaRPr lang="en-US" sz="900" dirty="0"/>
          </a:p>
        </p:txBody>
      </p:sp>
      <p:sp>
        <p:nvSpPr>
          <p:cNvPr id="36" name="Shape 30"/>
          <p:cNvSpPr/>
          <p:nvPr/>
        </p:nvSpPr>
        <p:spPr>
          <a:xfrm>
            <a:off x="7187184" y="1463040"/>
            <a:ext cx="1499616" cy="31546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7" name="Shape 31"/>
          <p:cNvSpPr/>
          <p:nvPr/>
        </p:nvSpPr>
        <p:spPr>
          <a:xfrm>
            <a:off x="7351776" y="1664208"/>
            <a:ext cx="384048" cy="384048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38" name="Text 32"/>
          <p:cNvSpPr txBox="1"/>
          <p:nvPr/>
        </p:nvSpPr>
        <p:spPr>
          <a:xfrm>
            <a:off x="7351776" y="1664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400" dirty="0"/>
          </a:p>
        </p:txBody>
      </p:sp>
      <p:pic>
        <p:nvPicPr>
          <p:cNvPr id="3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38160" y="1709928"/>
            <a:ext cx="292608" cy="292608"/>
          </a:xfrm>
          <a:prstGeom prst="rect">
            <a:avLst/>
          </a:prstGeom>
        </p:spPr>
      </p:pic>
      <p:sp>
        <p:nvSpPr>
          <p:cNvPr id="40" name="Text 33"/>
          <p:cNvSpPr txBox="1"/>
          <p:nvPr/>
        </p:nvSpPr>
        <p:spPr>
          <a:xfrm>
            <a:off x="7351776" y="2240280"/>
            <a:ext cx="12252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見守る</a:t>
            </a:r>
            <a:endParaRPr lang="en-US" sz="1600" dirty="0"/>
          </a:p>
        </p:txBody>
      </p:sp>
      <p:sp>
        <p:nvSpPr>
          <p:cNvPr id="41" name="Text 34"/>
          <p:cNvSpPr txBox="1"/>
          <p:nvPr/>
        </p:nvSpPr>
        <p:spPr>
          <a:xfrm>
            <a:off x="7351776" y="269748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人の出入りはチームで。終わったらアーカイブ</a:t>
            </a:r>
            <a:endParaRPr lang="en-US" sz="1100" dirty="0"/>
          </a:p>
        </p:txBody>
      </p:sp>
      <p:sp>
        <p:nvSpPr>
          <p:cNvPr id="42" name="Shape 35"/>
          <p:cNvSpPr/>
          <p:nvPr/>
        </p:nvSpPr>
        <p:spPr>
          <a:xfrm>
            <a:off x="7351776" y="4178808"/>
            <a:ext cx="914400" cy="237744"/>
          </a:xfrm>
          <a:prstGeom prst="roundRect">
            <a:avLst>
              <a:gd name="adj" fmla="val 50000"/>
            </a:avLst>
          </a:prstGeom>
          <a:solidFill>
            <a:srgbClr val="E4F2FF"/>
          </a:solidFill>
          <a:ln w="12700">
            <a:solidFill>
              <a:srgbClr val="E4F2FF"/>
            </a:solidFill>
            <a:prstDash val="solid"/>
          </a:ln>
        </p:spPr>
      </p:sp>
      <p:sp>
        <p:nvSpPr>
          <p:cNvPr id="43" name="Text 36"/>
          <p:cNvSpPr txBox="1"/>
          <p:nvPr/>
        </p:nvSpPr>
        <p:spPr>
          <a:xfrm>
            <a:off x="7351776" y="4178808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4A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そのつど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01  ·  手順 1  ·  作る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テンプレートからリポジトリを作る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3716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380744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wg-template を開く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1645920"/>
            <a:ext cx="3767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github.com/funITclub/wg-template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57200" y="201168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20116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896112" y="2020824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「Use this template」を押す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896112" y="2286000"/>
            <a:ext cx="3767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右上の緑のボタン →「Create a new repository」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57200" y="265176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26517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896112" y="2660904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Owner を funITclub にする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896112" y="2926080"/>
            <a:ext cx="3767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自分のアカウントのままにしない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" y="329184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32918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896112" y="3300984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名前を wg-&lt;名前&gt; にする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896112" y="3566160"/>
            <a:ext cx="3767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英小文字とハイフン（例 wg-countdown）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57200" y="393192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57200" y="39319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96112" y="3941064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Public を選んで作る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896112" y="4206240"/>
            <a:ext cx="3767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「Create repository」を押す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892040" y="1371600"/>
            <a:ext cx="379476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892040" y="1371600"/>
            <a:ext cx="3794760" cy="274320"/>
          </a:xfrm>
          <a:prstGeom prst="rect">
            <a:avLst/>
          </a:prstGeom>
          <a:solidFill>
            <a:srgbClr val="E3E7EB"/>
          </a:solidFill>
          <a:ln w="12700">
            <a:solidFill>
              <a:srgbClr val="E3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020056" y="1463040"/>
            <a:ext cx="91440" cy="91440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184648" y="1463040"/>
            <a:ext cx="91440" cy="91440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349240" y="1463040"/>
            <a:ext cx="91440" cy="91440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577840" y="1371600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Create a new repository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5120640" y="173736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 a new repository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5120640" y="2103120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Owner *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5120640" y="2322576"/>
            <a:ext cx="123444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7DE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193792" y="2322576"/>
            <a:ext cx="1088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funITclub  ▾</a:t>
            </a:r>
            <a:endParaRPr lang="en-US" sz="900" dirty="0"/>
          </a:p>
        </p:txBody>
      </p:sp>
      <p:sp>
        <p:nvSpPr>
          <p:cNvPr id="34" name="Text 32"/>
          <p:cNvSpPr txBox="1"/>
          <p:nvPr/>
        </p:nvSpPr>
        <p:spPr>
          <a:xfrm>
            <a:off x="6382512" y="2322576"/>
            <a:ext cx="137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963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6537960" y="2103120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Repository name *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6537960" y="2322576"/>
            <a:ext cx="192024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7DE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611112" y="2322576"/>
            <a:ext cx="1773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wg-countdown</a:t>
            </a:r>
            <a:endParaRPr lang="en-US" sz="900" dirty="0"/>
          </a:p>
        </p:txBody>
      </p:sp>
      <p:sp>
        <p:nvSpPr>
          <p:cNvPr id="38" name="Text 36"/>
          <p:cNvSpPr txBox="1"/>
          <p:nvPr/>
        </p:nvSpPr>
        <p:spPr>
          <a:xfrm>
            <a:off x="5120640" y="2697480"/>
            <a:ext cx="3337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Description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5120640" y="2916936"/>
            <a:ext cx="333756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7DE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193792" y="2916936"/>
            <a:ext cx="31912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963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カウントダウンのアプリを作る WG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138928" y="3364992"/>
            <a:ext cx="146304" cy="146304"/>
          </a:xfrm>
          <a:prstGeom prst="ellipse">
            <a:avLst/>
          </a:prstGeom>
          <a:solidFill>
            <a:srgbClr val="FFFFFF"/>
          </a:solidFill>
          <a:ln w="50800">
            <a:solidFill>
              <a:srgbClr val="0078D4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5367528" y="3319272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Public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5138928" y="3657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0D7DE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367528" y="361188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963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7178040" y="4160520"/>
            <a:ext cx="1280160" cy="274320"/>
          </a:xfrm>
          <a:prstGeom prst="rect">
            <a:avLst/>
          </a:prstGeom>
          <a:solidFill>
            <a:srgbClr val="1F883D"/>
          </a:solidFill>
          <a:ln w="12700">
            <a:solidFill>
              <a:srgbClr val="1F883D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7178040" y="41605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 repository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01  ·  手順 2  ·  守る（1 / 2）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main を守るルールを作る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3716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380744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リポジトリの「Settings」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1645920"/>
            <a:ext cx="3767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上に並ぶタブのいちばん右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57200" y="201168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20116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896112" y="2020824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左の「Rules」→「Rulesets」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57200" y="265176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7200" y="26517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896112" y="2660904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「New ruleset」→「New branch ruleset」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57200" y="329184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57200" y="32918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896112" y="3300984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名前と有効化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896112" y="3566160"/>
            <a:ext cx="3767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Ruleset Name に main、Enforcement status は Active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57200" y="393192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57200" y="39319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896112" y="3941064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対象のブランチ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896112" y="4206240"/>
            <a:ext cx="3767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Target branches の「Add target」→「Include default branch」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4892040" y="1371600"/>
            <a:ext cx="379476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892040" y="1371600"/>
            <a:ext cx="3794760" cy="274320"/>
          </a:xfrm>
          <a:prstGeom prst="rect">
            <a:avLst/>
          </a:prstGeom>
          <a:solidFill>
            <a:srgbClr val="E3E7EB"/>
          </a:solidFill>
          <a:ln w="12700">
            <a:solidFill>
              <a:srgbClr val="E3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020056" y="1463040"/>
            <a:ext cx="91440" cy="91440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184648" y="1463040"/>
            <a:ext cx="91440" cy="91440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349240" y="1463040"/>
            <a:ext cx="91440" cy="91440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577840" y="1371600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Settings › Rules › Rulesets › New branch ruleset</a:t>
            </a:r>
            <a:endParaRPr lang="en-US" sz="900" dirty="0"/>
          </a:p>
        </p:txBody>
      </p:sp>
      <p:sp>
        <p:nvSpPr>
          <p:cNvPr id="28" name="Text 26"/>
          <p:cNvSpPr txBox="1"/>
          <p:nvPr/>
        </p:nvSpPr>
        <p:spPr>
          <a:xfrm>
            <a:off x="5120640" y="1828800"/>
            <a:ext cx="3337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Ruleset Name *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5120640" y="2048256"/>
            <a:ext cx="333756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7DE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5193792" y="2048256"/>
            <a:ext cx="31912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</a:t>
            </a:r>
            <a:endParaRPr lang="en-US" sz="900" dirty="0"/>
          </a:p>
        </p:txBody>
      </p:sp>
      <p:sp>
        <p:nvSpPr>
          <p:cNvPr id="31" name="Text 29"/>
          <p:cNvSpPr txBox="1"/>
          <p:nvPr/>
        </p:nvSpPr>
        <p:spPr>
          <a:xfrm>
            <a:off x="5120640" y="2423160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Enforcement status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5120640" y="2642616"/>
            <a:ext cx="164592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7DE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193792" y="2642616"/>
            <a:ext cx="14996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Active  ▾</a:t>
            </a:r>
            <a:endParaRPr lang="en-US" sz="900" dirty="0"/>
          </a:p>
        </p:txBody>
      </p:sp>
      <p:sp>
        <p:nvSpPr>
          <p:cNvPr id="34" name="Text 32"/>
          <p:cNvSpPr txBox="1"/>
          <p:nvPr/>
        </p:nvSpPr>
        <p:spPr>
          <a:xfrm>
            <a:off x="5120640" y="306324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branches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5120640" y="3291840"/>
            <a:ext cx="1143000" cy="256032"/>
          </a:xfrm>
          <a:prstGeom prst="rect">
            <a:avLst/>
          </a:prstGeom>
          <a:solidFill>
            <a:srgbClr val="F6F8FA"/>
          </a:solidFill>
          <a:ln w="12700">
            <a:solidFill>
              <a:srgbClr val="D0D7DE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5120640" y="3291840"/>
            <a:ext cx="1143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 target  ▾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5120640" y="3657600"/>
            <a:ext cx="333756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D0D7DE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5212080" y="3657600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Include default branch</a:t>
            </a:r>
            <a:endParaRPr lang="en-US" sz="900" dirty="0"/>
          </a:p>
        </p:txBody>
      </p:sp>
      <p:sp>
        <p:nvSpPr>
          <p:cNvPr id="39" name="Text 37"/>
          <p:cNvSpPr txBox="1"/>
          <p:nvPr/>
        </p:nvSpPr>
        <p:spPr>
          <a:xfrm>
            <a:off x="6995160" y="365760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9636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~DEFAULT_BRANCH</a:t>
            </a:r>
            <a:endParaRPr lang="en-US" sz="800" dirty="0"/>
          </a:p>
        </p:txBody>
      </p:sp>
      <p:sp>
        <p:nvSpPr>
          <p:cNvPr id="40" name="Text 38"/>
          <p:cNvSpPr txBox="1"/>
          <p:nvPr/>
        </p:nvSpPr>
        <p:spPr>
          <a:xfrm>
            <a:off x="5120640" y="4160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A4A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続きは次のページ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01  ·  手順 2  ·  守る（2 / 2）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ルールの中身にチェックを入れる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3716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380744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削除と force push を禁止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1645920"/>
            <a:ext cx="37673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Restrict deletions と Block force pushes は最初からオン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57200" y="210312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21031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896112" y="2112264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プルリクエストを必須に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896112" y="2377440"/>
            <a:ext cx="37673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Require a pull request… をオン。Required approvals は 1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57200" y="283464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28346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896112" y="2843784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テストの成功を必須に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896112" y="3108960"/>
            <a:ext cx="37673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Require status checks… →「Add checks」で test を選ぶ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" y="356616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35661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896112" y="3575304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いちばん下の「Create」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4892040" y="1371600"/>
            <a:ext cx="3794760" cy="2971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892040" y="1371600"/>
            <a:ext cx="3794760" cy="274320"/>
          </a:xfrm>
          <a:prstGeom prst="rect">
            <a:avLst/>
          </a:prstGeom>
          <a:solidFill>
            <a:srgbClr val="E3E7EB"/>
          </a:solidFill>
          <a:ln w="12700">
            <a:solidFill>
              <a:srgbClr val="E3E7E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020056" y="1463040"/>
            <a:ext cx="91440" cy="91440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184648" y="1463040"/>
            <a:ext cx="91440" cy="91440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349240" y="1463040"/>
            <a:ext cx="91440" cy="91440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577840" y="1371600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Branch rules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5120640" y="1847088"/>
            <a:ext cx="155448" cy="155448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pic>
        <p:nvPicPr>
          <p:cNvPr id="2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48072" y="1874520"/>
            <a:ext cx="100584" cy="100584"/>
          </a:xfrm>
          <a:prstGeom prst="rect">
            <a:avLst/>
          </a:prstGeom>
        </p:spPr>
      </p:pic>
      <p:sp>
        <p:nvSpPr>
          <p:cNvPr id="27" name="Text 24"/>
          <p:cNvSpPr txBox="1"/>
          <p:nvPr/>
        </p:nvSpPr>
        <p:spPr>
          <a:xfrm>
            <a:off x="5367528" y="1828800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Restrict deletions</a:t>
            </a:r>
            <a:endParaRPr lang="en-US" sz="950" dirty="0"/>
          </a:p>
        </p:txBody>
      </p:sp>
      <p:sp>
        <p:nvSpPr>
          <p:cNvPr id="28" name="Shape 25"/>
          <p:cNvSpPr/>
          <p:nvPr/>
        </p:nvSpPr>
        <p:spPr>
          <a:xfrm>
            <a:off x="5120640" y="2167128"/>
            <a:ext cx="155448" cy="15544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7DE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5367528" y="2148840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5963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Require linear history</a:t>
            </a:r>
            <a:endParaRPr lang="en-US" sz="950" dirty="0"/>
          </a:p>
        </p:txBody>
      </p:sp>
      <p:sp>
        <p:nvSpPr>
          <p:cNvPr id="30" name="Shape 27"/>
          <p:cNvSpPr/>
          <p:nvPr/>
        </p:nvSpPr>
        <p:spPr>
          <a:xfrm>
            <a:off x="5120640" y="2487168"/>
            <a:ext cx="155448" cy="155448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pic>
        <p:nvPicPr>
          <p:cNvPr id="3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8072" y="2514600"/>
            <a:ext cx="100584" cy="100584"/>
          </a:xfrm>
          <a:prstGeom prst="rect">
            <a:avLst/>
          </a:prstGeom>
        </p:spPr>
      </p:pic>
      <p:sp>
        <p:nvSpPr>
          <p:cNvPr id="32" name="Text 28"/>
          <p:cNvSpPr txBox="1"/>
          <p:nvPr/>
        </p:nvSpPr>
        <p:spPr>
          <a:xfrm>
            <a:off x="5367528" y="2468880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Require a pull request before merging</a:t>
            </a:r>
            <a:endParaRPr lang="en-US" sz="950" dirty="0"/>
          </a:p>
        </p:txBody>
      </p:sp>
      <p:sp>
        <p:nvSpPr>
          <p:cNvPr id="33" name="Text 29"/>
          <p:cNvSpPr txBox="1"/>
          <p:nvPr/>
        </p:nvSpPr>
        <p:spPr>
          <a:xfrm>
            <a:off x="5367528" y="2670048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963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Required approvals:  1</a:t>
            </a:r>
            <a:endParaRPr lang="en-US" sz="850" dirty="0"/>
          </a:p>
        </p:txBody>
      </p:sp>
      <p:sp>
        <p:nvSpPr>
          <p:cNvPr id="34" name="Shape 30"/>
          <p:cNvSpPr/>
          <p:nvPr/>
        </p:nvSpPr>
        <p:spPr>
          <a:xfrm>
            <a:off x="5120640" y="3035808"/>
            <a:ext cx="155448" cy="155448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pic>
        <p:nvPicPr>
          <p:cNvPr id="3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48072" y="3063240"/>
            <a:ext cx="100584" cy="100584"/>
          </a:xfrm>
          <a:prstGeom prst="rect">
            <a:avLst/>
          </a:prstGeom>
        </p:spPr>
      </p:pic>
      <p:sp>
        <p:nvSpPr>
          <p:cNvPr id="36" name="Text 31"/>
          <p:cNvSpPr txBox="1"/>
          <p:nvPr/>
        </p:nvSpPr>
        <p:spPr>
          <a:xfrm>
            <a:off x="5367528" y="3017520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Require status checks to pass</a:t>
            </a:r>
            <a:endParaRPr lang="en-US" sz="950" dirty="0"/>
          </a:p>
        </p:txBody>
      </p:sp>
      <p:sp>
        <p:nvSpPr>
          <p:cNvPr id="37" name="Text 32"/>
          <p:cNvSpPr txBox="1"/>
          <p:nvPr/>
        </p:nvSpPr>
        <p:spPr>
          <a:xfrm>
            <a:off x="5367528" y="3218688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963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Status checks:  test</a:t>
            </a:r>
            <a:endParaRPr lang="en-US" sz="850" dirty="0"/>
          </a:p>
        </p:txBody>
      </p:sp>
      <p:sp>
        <p:nvSpPr>
          <p:cNvPr id="38" name="Shape 33"/>
          <p:cNvSpPr/>
          <p:nvPr/>
        </p:nvSpPr>
        <p:spPr>
          <a:xfrm>
            <a:off x="5120640" y="3584448"/>
            <a:ext cx="155448" cy="155448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pic>
        <p:nvPicPr>
          <p:cNvPr id="3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48072" y="3611880"/>
            <a:ext cx="100584" cy="100584"/>
          </a:xfrm>
          <a:prstGeom prst="rect">
            <a:avLst/>
          </a:prstGeom>
        </p:spPr>
      </p:pic>
      <p:sp>
        <p:nvSpPr>
          <p:cNvPr id="40" name="Text 34"/>
          <p:cNvSpPr txBox="1"/>
          <p:nvPr/>
        </p:nvSpPr>
        <p:spPr>
          <a:xfrm>
            <a:off x="5367528" y="3566160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 force pushes</a:t>
            </a:r>
            <a:endParaRPr lang="en-US" sz="950" dirty="0"/>
          </a:p>
        </p:txBody>
      </p:sp>
      <p:sp>
        <p:nvSpPr>
          <p:cNvPr id="41" name="Shape 35"/>
          <p:cNvSpPr/>
          <p:nvPr/>
        </p:nvSpPr>
        <p:spPr>
          <a:xfrm>
            <a:off x="7680960" y="3886200"/>
            <a:ext cx="777240" cy="274320"/>
          </a:xfrm>
          <a:prstGeom prst="rect">
            <a:avLst/>
          </a:prstGeom>
          <a:solidFill>
            <a:srgbClr val="1F883D"/>
          </a:solidFill>
          <a:ln w="12700">
            <a:solidFill>
              <a:srgbClr val="1F883D"/>
            </a:solidFill>
            <a:prstDash val="solid"/>
          </a:ln>
        </p:spPr>
      </p:sp>
      <p:sp>
        <p:nvSpPr>
          <p:cNvPr id="42" name="Text 36"/>
          <p:cNvSpPr txBox="1"/>
          <p:nvPr/>
        </p:nvSpPr>
        <p:spPr>
          <a:xfrm>
            <a:off x="7680960" y="388620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</a:t>
            </a:r>
            <a:endParaRPr lang="en-US" sz="900" dirty="0"/>
          </a:p>
        </p:txBody>
      </p:sp>
      <p:sp>
        <p:nvSpPr>
          <p:cNvPr id="43" name="Text 37"/>
          <p:cNvSpPr txBox="1"/>
          <p:nvPr/>
        </p:nvSpPr>
        <p:spPr>
          <a:xfrm>
            <a:off x="457200" y="44805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test が候補に出ないときは、Actions タブ →「Test」→「Run workflow」で一度流す。メンバーが 1 人の WG は承認を 0 にする（自分の PR は承認できない）。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01  ·  手順 3  ·  チーム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のチームを作って権限を付ける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3716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380744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メンバーを org に招待する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1645920"/>
            <a:ext cx="3767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org の「People」→「Invite member」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57200" y="201168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20116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896112" y="2020824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チームを作る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896112" y="2286000"/>
            <a:ext cx="3767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org の「Teams」→「New team」。名前は wg-&lt;名前&gt;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57200" y="265176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26517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896112" y="2660904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メンバーをチームに入れる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896112" y="2926080"/>
            <a:ext cx="3767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チームの「Members」→「Add a member」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" y="329184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32918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896112" y="3300984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リポジトリにチームを付ける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896112" y="3566160"/>
            <a:ext cx="3767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Settings →「Collaborators and teams」→「Add teams」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57200" y="393192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57200" y="39319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96112" y="3941064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役割は「Write」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896112" y="4206240"/>
            <a:ext cx="3767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チームを選び、Write で追加する（右の画面）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892040" y="1371600"/>
            <a:ext cx="3794760" cy="2971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892040" y="1371600"/>
            <a:ext cx="3794760" cy="274320"/>
          </a:xfrm>
          <a:prstGeom prst="rect">
            <a:avLst/>
          </a:prstGeom>
          <a:solidFill>
            <a:srgbClr val="E3E7EB"/>
          </a:solidFill>
          <a:ln w="12700">
            <a:solidFill>
              <a:srgbClr val="E3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020056" y="1463040"/>
            <a:ext cx="91440" cy="91440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184648" y="1463040"/>
            <a:ext cx="91440" cy="91440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349240" y="1463040"/>
            <a:ext cx="91440" cy="91440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577840" y="1371600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Settings › Collaborators and teams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5120640" y="1783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 access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6903720" y="1783080"/>
            <a:ext cx="749808" cy="256032"/>
          </a:xfrm>
          <a:prstGeom prst="rect">
            <a:avLst/>
          </a:prstGeom>
          <a:solidFill>
            <a:srgbClr val="F6F8FA"/>
          </a:solidFill>
          <a:ln w="12700">
            <a:solidFill>
              <a:srgbClr val="D0D7DE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6903720" y="1783080"/>
            <a:ext cx="749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 people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7726680" y="1783080"/>
            <a:ext cx="749808" cy="256032"/>
          </a:xfrm>
          <a:prstGeom prst="rect">
            <a:avLst/>
          </a:prstGeom>
          <a:solidFill>
            <a:srgbClr val="1F883D"/>
          </a:solidFill>
          <a:ln w="12700">
            <a:solidFill>
              <a:srgbClr val="1F883D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7726680" y="1783080"/>
            <a:ext cx="749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 teams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5120640" y="2240280"/>
            <a:ext cx="3337560" cy="658368"/>
          </a:xfrm>
          <a:prstGeom prst="rect">
            <a:avLst/>
          </a:prstGeom>
          <a:solidFill>
            <a:srgbClr val="DDF4FF"/>
          </a:solidFill>
          <a:ln w="12700">
            <a:solidFill>
              <a:srgbClr val="54AEFF"/>
            </a:solidFill>
            <a:prstDash val="solid"/>
          </a:ln>
        </p:spPr>
      </p:sp>
      <p:pic>
        <p:nvPicPr>
          <p:cNvPr id="3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39512" y="2404872"/>
            <a:ext cx="274320" cy="274320"/>
          </a:xfrm>
          <a:prstGeom prst="rect">
            <a:avLst/>
          </a:prstGeom>
        </p:spPr>
      </p:pic>
      <p:sp>
        <p:nvSpPr>
          <p:cNvPr id="37" name="Text 34"/>
          <p:cNvSpPr txBox="1"/>
          <p:nvPr/>
        </p:nvSpPr>
        <p:spPr>
          <a:xfrm>
            <a:off x="5623560" y="230428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wg-countdown</a:t>
            </a:r>
            <a:endParaRPr lang="en-US" sz="1000" dirty="0"/>
          </a:p>
        </p:txBody>
      </p:sp>
      <p:sp>
        <p:nvSpPr>
          <p:cNvPr id="38" name="Text 35"/>
          <p:cNvSpPr txBox="1"/>
          <p:nvPr/>
        </p:nvSpPr>
        <p:spPr>
          <a:xfrm>
            <a:off x="5623560" y="2560320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963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· 3 members</a:t>
            </a:r>
            <a:endParaRPr lang="en-US" sz="850" dirty="0"/>
          </a:p>
        </p:txBody>
      </p:sp>
      <p:sp>
        <p:nvSpPr>
          <p:cNvPr id="39" name="Shape 36"/>
          <p:cNvSpPr/>
          <p:nvPr/>
        </p:nvSpPr>
        <p:spPr>
          <a:xfrm>
            <a:off x="7452360" y="2432304"/>
            <a:ext cx="91440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7DE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7452360" y="243230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Role: Write  ▾</a:t>
            </a:r>
            <a:endParaRPr lang="en-US" sz="850" dirty="0"/>
          </a:p>
        </p:txBody>
      </p:sp>
      <p:sp>
        <p:nvSpPr>
          <p:cNvPr id="41" name="Text 38"/>
          <p:cNvSpPr txBox="1"/>
          <p:nvPr/>
        </p:nvSpPr>
        <p:spPr>
          <a:xfrm>
            <a:off x="5120640" y="3063240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A4A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人ごとではなく、チームに 1 回だけ付ける</a:t>
            </a:r>
            <a:endParaRPr lang="en-US" sz="1000" dirty="0"/>
          </a:p>
        </p:txBody>
      </p:sp>
      <p:sp>
        <p:nvSpPr>
          <p:cNvPr id="42" name="Text 39"/>
          <p:cNvSpPr txBox="1"/>
          <p:nvPr/>
        </p:nvSpPr>
        <p:spPr>
          <a:xfrm>
            <a:off x="5120640" y="3383280"/>
            <a:ext cx="3337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メンバーの出入りはチームの「Members」で増減するだけ。リポジトリの設定は触らない。</a:t>
            </a:r>
            <a:endParaRPr lang="en-US" sz="950" dirty="0"/>
          </a:p>
        </p:txBody>
      </p:sp>
      <p:sp>
        <p:nvSpPr>
          <p:cNvPr id="43" name="Text 40"/>
          <p:cNvSpPr txBox="1"/>
          <p:nvPr/>
        </p:nvSpPr>
        <p:spPr>
          <a:xfrm>
            <a:off x="457200" y="44805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卒業・退部したら org から外す。すべてのチームからも外れる（手順 5）。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01  ·  手順 4  ·  載せる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サイトの WG 一覧に載せる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3716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380744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funitclub.org/edit/ にログイン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1645920"/>
            <a:ext cx="3767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編集画面は公開サイトからリンクしていない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57200" y="201168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20116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896112" y="2020824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「WG紹介」→「WGを追加」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57200" y="265176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7200" y="26517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896112" y="2660904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右のように入れる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896112" y="2926080"/>
            <a:ext cx="3767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最初の状態は「準備中」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57200" y="329184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57200" y="32918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896112" y="3300984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「追加する」を押す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896112" y="3566160"/>
            <a:ext cx="3767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一覧に「準備中」のカードが出る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57200" y="393192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57200" y="39319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896112" y="3941064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アプリができたら直す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896112" y="4206240"/>
            <a:ext cx="3767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状態を「活動中」、Webアプリの URL を入れる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4892040" y="1371600"/>
            <a:ext cx="379476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4892040" y="1371600"/>
            <a:ext cx="3794760" cy="274320"/>
          </a:xfrm>
          <a:prstGeom prst="rect">
            <a:avLst/>
          </a:prstGeom>
          <a:solidFill>
            <a:srgbClr val="E3E7EB"/>
          </a:solidFill>
          <a:ln w="12700">
            <a:solidFill>
              <a:srgbClr val="E3E7E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020056" y="1463040"/>
            <a:ext cx="91440" cy="91440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184648" y="1463040"/>
            <a:ext cx="91440" cy="91440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349240" y="1463040"/>
            <a:ext cx="91440" cy="91440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577840" y="1371600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funitclub.org/edit/wg/add/</a:t>
            </a:r>
            <a:endParaRPr lang="en-US" sz="900" dirty="0"/>
          </a:p>
        </p:txBody>
      </p:sp>
      <p:sp>
        <p:nvSpPr>
          <p:cNvPr id="29" name="Text 27"/>
          <p:cNvSpPr txBox="1"/>
          <p:nvPr/>
        </p:nvSpPr>
        <p:spPr>
          <a:xfrm>
            <a:off x="5120640" y="1783080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識別子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6355080" y="1801368"/>
            <a:ext cx="2103120" cy="24688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419088" y="1801368"/>
            <a:ext cx="19659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WG-04</a:t>
            </a:r>
            <a:endParaRPr lang="en-US" sz="850" dirty="0"/>
          </a:p>
        </p:txBody>
      </p:sp>
      <p:sp>
        <p:nvSpPr>
          <p:cNvPr id="32" name="Text 30"/>
          <p:cNvSpPr txBox="1"/>
          <p:nvPr/>
        </p:nvSpPr>
        <p:spPr>
          <a:xfrm>
            <a:off x="5120640" y="2112264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名前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6355080" y="2130552"/>
            <a:ext cx="2103120" cy="24688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419088" y="2130552"/>
            <a:ext cx="19659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カウントダウン</a:t>
            </a:r>
            <a:endParaRPr lang="en-US" sz="850" dirty="0"/>
          </a:p>
        </p:txBody>
      </p:sp>
      <p:sp>
        <p:nvSpPr>
          <p:cNvPr id="35" name="Text 33"/>
          <p:cNvSpPr txBox="1"/>
          <p:nvPr/>
        </p:nvSpPr>
        <p:spPr>
          <a:xfrm>
            <a:off x="5120640" y="2441448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説明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6355080" y="2459736"/>
            <a:ext cx="2103120" cy="24688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419088" y="2459736"/>
            <a:ext cx="19659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2〜3 行で、何を作る WG か</a:t>
            </a:r>
            <a:endParaRPr lang="en-US" sz="850" dirty="0"/>
          </a:p>
        </p:txBody>
      </p:sp>
      <p:sp>
        <p:nvSpPr>
          <p:cNvPr id="38" name="Text 36"/>
          <p:cNvSpPr txBox="1"/>
          <p:nvPr/>
        </p:nvSpPr>
        <p:spPr>
          <a:xfrm>
            <a:off x="5120640" y="2770632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状態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6355080" y="2788920"/>
            <a:ext cx="2103120" cy="24688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6419088" y="2788920"/>
            <a:ext cx="19659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準備中  ▾</a:t>
            </a:r>
            <a:endParaRPr lang="en-US" sz="850" dirty="0"/>
          </a:p>
        </p:txBody>
      </p:sp>
      <p:sp>
        <p:nvSpPr>
          <p:cNvPr id="41" name="Text 39"/>
          <p:cNvSpPr txBox="1"/>
          <p:nvPr/>
        </p:nvSpPr>
        <p:spPr>
          <a:xfrm>
            <a:off x="5120640" y="3099816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Webアプリの URL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6355080" y="3118104"/>
            <a:ext cx="2103120" cy="24688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6419088" y="3118104"/>
            <a:ext cx="19659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（空欄のまま）</a:t>
            </a:r>
            <a:endParaRPr lang="en-US" sz="850" dirty="0"/>
          </a:p>
        </p:txBody>
      </p:sp>
      <p:sp>
        <p:nvSpPr>
          <p:cNvPr id="44" name="Text 42"/>
          <p:cNvSpPr txBox="1"/>
          <p:nvPr/>
        </p:nvSpPr>
        <p:spPr>
          <a:xfrm>
            <a:off x="5120640" y="3429000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追加リンクの名前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6355080" y="3447288"/>
            <a:ext cx="2103120" cy="24688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6419088" y="3447288"/>
            <a:ext cx="19659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GitHub</a:t>
            </a:r>
            <a:endParaRPr lang="en-US" sz="850" dirty="0"/>
          </a:p>
        </p:txBody>
      </p:sp>
      <p:sp>
        <p:nvSpPr>
          <p:cNvPr id="47" name="Text 45"/>
          <p:cNvSpPr txBox="1"/>
          <p:nvPr/>
        </p:nvSpPr>
        <p:spPr>
          <a:xfrm>
            <a:off x="5120640" y="3758184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追加リンクの URL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6355080" y="3776472"/>
            <a:ext cx="2103120" cy="24688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6419088" y="3776472"/>
            <a:ext cx="19659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B2B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https://github.com/funITclub/wg-…</a:t>
            </a:r>
            <a:endParaRPr lang="en-US" sz="850" dirty="0"/>
          </a:p>
        </p:txBody>
      </p:sp>
      <p:sp>
        <p:nvSpPr>
          <p:cNvPr id="50" name="Shape 48"/>
          <p:cNvSpPr/>
          <p:nvPr/>
        </p:nvSpPr>
        <p:spPr>
          <a:xfrm>
            <a:off x="5120640" y="4133088"/>
            <a:ext cx="155448" cy="155448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pic>
        <p:nvPicPr>
          <p:cNvPr id="5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48072" y="4160520"/>
            <a:ext cx="100584" cy="100584"/>
          </a:xfrm>
          <a:prstGeom prst="rect">
            <a:avLst/>
          </a:prstGeom>
        </p:spPr>
      </p:pic>
      <p:sp>
        <p:nvSpPr>
          <p:cNvPr id="52" name="Text 49"/>
          <p:cNvSpPr txBox="1"/>
          <p:nvPr/>
        </p:nvSpPr>
        <p:spPr>
          <a:xfrm>
            <a:off x="5367528" y="4114800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公開する</a:t>
            </a:r>
            <a:endParaRPr lang="en-US" sz="950" dirty="0"/>
          </a:p>
        </p:txBody>
      </p:sp>
      <p:sp>
        <p:nvSpPr>
          <p:cNvPr id="53" name="Shape 50"/>
          <p:cNvSpPr/>
          <p:nvPr/>
        </p:nvSpPr>
        <p:spPr>
          <a:xfrm>
            <a:off x="7589520" y="4187952"/>
            <a:ext cx="868680" cy="292608"/>
          </a:xfrm>
          <a:prstGeom prst="rect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7589520" y="4187952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追加する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01  ·  手順 5  ·  見守る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メンバーの交代と、WG の終了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4023360" cy="31546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85800" y="1618488"/>
            <a:ext cx="457200" cy="45720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737360"/>
            <a:ext cx="219456" cy="21945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280160" y="161848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メンバーが抜けたら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685800" y="228600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85800" y="22860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1124712" y="2295144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を抜けるだけなら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1124712" y="2560320"/>
            <a:ext cx="31729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チームの「Members」から外す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685800" y="3090672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85800" y="30906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1124712" y="3099816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卒業・退部なら org から外す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1124712" y="3364992"/>
            <a:ext cx="31729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org の「People」→ その人 →「Remove from organization」。チームからも外れる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685800" y="3895344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85800" y="389534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124712" y="3904488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リーダーが替わるとき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1124712" y="4169664"/>
            <a:ext cx="31729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README のメンバー欄を直す PR を出してもらう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4663440" y="1417320"/>
            <a:ext cx="4023360" cy="31546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4892040" y="1618488"/>
            <a:ext cx="457200" cy="457200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10912" y="1737360"/>
            <a:ext cx="219456" cy="219456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5486400" y="161848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が終わったら</a:t>
            </a:r>
            <a:endParaRPr lang="en-US" sz="1400" dirty="0"/>
          </a:p>
        </p:txBody>
      </p:sp>
      <p:sp>
        <p:nvSpPr>
          <p:cNvPr id="24" name="Shape 20"/>
          <p:cNvSpPr/>
          <p:nvPr/>
        </p:nvSpPr>
        <p:spPr>
          <a:xfrm>
            <a:off x="4892040" y="228600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4892040" y="22860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26" name="Text 22"/>
          <p:cNvSpPr txBox="1"/>
          <p:nvPr/>
        </p:nvSpPr>
        <p:spPr>
          <a:xfrm>
            <a:off x="5330952" y="2295144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サイトの WG 紹介を直す</a:t>
            </a:r>
            <a:endParaRPr lang="en-US" sz="1200" dirty="0"/>
          </a:p>
        </p:txBody>
      </p:sp>
      <p:sp>
        <p:nvSpPr>
          <p:cNvPr id="27" name="Text 23"/>
          <p:cNvSpPr txBox="1"/>
          <p:nvPr/>
        </p:nvSpPr>
        <p:spPr>
          <a:xfrm>
            <a:off x="5330952" y="2560320"/>
            <a:ext cx="31729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記録として残すか、「公開する」を外すか決める</a:t>
            </a:r>
            <a:endParaRPr lang="en-US" sz="1000" dirty="0"/>
          </a:p>
        </p:txBody>
      </p:sp>
      <p:sp>
        <p:nvSpPr>
          <p:cNvPr id="28" name="Shape 24"/>
          <p:cNvSpPr/>
          <p:nvPr/>
        </p:nvSpPr>
        <p:spPr>
          <a:xfrm>
            <a:off x="4892040" y="3090672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4892040" y="30906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30" name="Text 26"/>
          <p:cNvSpPr txBox="1"/>
          <p:nvPr/>
        </p:nvSpPr>
        <p:spPr>
          <a:xfrm>
            <a:off x="5330952" y="3099816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リポジトリをアーカイブ</a:t>
            </a:r>
            <a:endParaRPr lang="en-US" sz="1200" dirty="0"/>
          </a:p>
        </p:txBody>
      </p:sp>
      <p:sp>
        <p:nvSpPr>
          <p:cNvPr id="31" name="Text 27"/>
          <p:cNvSpPr txBox="1"/>
          <p:nvPr/>
        </p:nvSpPr>
        <p:spPr>
          <a:xfrm>
            <a:off x="5330952" y="3364992"/>
            <a:ext cx="31729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Settings のいちばん下 →「Archive this repository」。チームは消してよい</a:t>
            </a:r>
            <a:endParaRPr lang="en-US" sz="1000" dirty="0"/>
          </a:p>
        </p:txBody>
      </p:sp>
      <p:sp>
        <p:nvSpPr>
          <p:cNvPr id="32" name="Shape 28"/>
          <p:cNvSpPr/>
          <p:nvPr/>
        </p:nvSpPr>
        <p:spPr>
          <a:xfrm>
            <a:off x="4892040" y="3895344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4892040" y="389534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34" name="Text 30"/>
          <p:cNvSpPr txBox="1"/>
          <p:nvPr/>
        </p:nvSpPr>
        <p:spPr>
          <a:xfrm>
            <a:off x="5330952" y="3904488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アプリを止める</a:t>
            </a:r>
            <a:endParaRPr lang="en-US" sz="1200" dirty="0"/>
          </a:p>
        </p:txBody>
      </p:sp>
      <p:sp>
        <p:nvSpPr>
          <p:cNvPr id="35" name="Text 31"/>
          <p:cNvSpPr txBox="1"/>
          <p:nvPr/>
        </p:nvSpPr>
        <p:spPr>
          <a:xfrm>
            <a:off x="5330952" y="4169664"/>
            <a:ext cx="31729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動かす場所ができてから。RG ごと削除する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01  ·  公開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アプリを動かす場所（構成案）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863840" y="777240"/>
            <a:ext cx="822960" cy="237744"/>
          </a:xfrm>
          <a:prstGeom prst="roundRect">
            <a:avLst>
              <a:gd name="adj" fmla="val 50000"/>
            </a:avLst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863840" y="777240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準備中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57200" y="1417320"/>
            <a:ext cx="256032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618488"/>
            <a:ext cx="292608" cy="292608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078992" y="1600200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GitHub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685800" y="2148840"/>
            <a:ext cx="2103120" cy="603504"/>
          </a:xfrm>
          <a:prstGeom prst="rect">
            <a:avLst/>
          </a:prstGeom>
          <a:solidFill>
            <a:srgbClr val="F2F5F8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22960" y="2221992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wg-&lt;名前&gt;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822960" y="2468880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のリポジトリ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1737360" y="2770632"/>
            <a:ext cx="0" cy="237744"/>
          </a:xfrm>
          <a:prstGeom prst="line">
            <a:avLst/>
          </a:prstGeom>
          <a:noFill/>
          <a:ln w="15875">
            <a:solidFill>
              <a:srgbClr val="1A4A70"/>
            </a:solidFill>
            <a:prstDash val="solid"/>
            <a:tailEnd type="triangle"/>
          </a:ln>
        </p:spPr>
      </p:sp>
      <p:sp>
        <p:nvSpPr>
          <p:cNvPr id="13" name="Shape 10"/>
          <p:cNvSpPr/>
          <p:nvPr/>
        </p:nvSpPr>
        <p:spPr>
          <a:xfrm>
            <a:off x="685800" y="3017520"/>
            <a:ext cx="2103120" cy="603504"/>
          </a:xfrm>
          <a:prstGeom prst="rect">
            <a:avLst/>
          </a:prstGeom>
          <a:solidFill>
            <a:srgbClr val="F2F5F8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22960" y="3090672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 Actions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822960" y="3337560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テスト・イメージを作る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1737360" y="3639312"/>
            <a:ext cx="0" cy="237744"/>
          </a:xfrm>
          <a:prstGeom prst="line">
            <a:avLst/>
          </a:prstGeom>
          <a:noFill/>
          <a:ln w="15875">
            <a:solidFill>
              <a:srgbClr val="1A4A70"/>
            </a:solidFill>
            <a:prstDash val="solid"/>
            <a:tailEnd type="triangle"/>
          </a:ln>
        </p:spPr>
      </p:sp>
      <p:sp>
        <p:nvSpPr>
          <p:cNvPr id="17" name="Shape 14"/>
          <p:cNvSpPr/>
          <p:nvPr/>
        </p:nvSpPr>
        <p:spPr>
          <a:xfrm>
            <a:off x="685800" y="3886200"/>
            <a:ext cx="2103120" cy="603504"/>
          </a:xfrm>
          <a:prstGeom prst="rect">
            <a:avLst/>
          </a:prstGeom>
          <a:solidFill>
            <a:srgbClr val="F2F5F8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22960" y="3959352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ghcr.io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822960" y="4206240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コンテナイメージ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3703320" y="1417320"/>
            <a:ext cx="498348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B9CAD9"/>
            </a:solidFill>
            <a:prstDash val="dash"/>
          </a:ln>
        </p:spPr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31920" y="1618488"/>
            <a:ext cx="310896" cy="310896"/>
          </a:xfrm>
          <a:prstGeom prst="rect">
            <a:avLst/>
          </a:prstGeom>
        </p:spPr>
      </p:pic>
      <p:sp>
        <p:nvSpPr>
          <p:cNvPr id="22" name="Text 18"/>
          <p:cNvSpPr txBox="1"/>
          <p:nvPr/>
        </p:nvSpPr>
        <p:spPr>
          <a:xfrm>
            <a:off x="4343400" y="16002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Azure</a:t>
            </a:r>
            <a:endParaRPr lang="en-US" sz="1500" dirty="0"/>
          </a:p>
        </p:txBody>
      </p:sp>
      <p:sp>
        <p:nvSpPr>
          <p:cNvPr id="23" name="Shape 19"/>
          <p:cNvSpPr/>
          <p:nvPr/>
        </p:nvSpPr>
        <p:spPr>
          <a:xfrm>
            <a:off x="4078224" y="2002536"/>
            <a:ext cx="2331720" cy="2286000"/>
          </a:xfrm>
          <a:prstGeom prst="rect">
            <a:avLst/>
          </a:prstGeom>
          <a:solidFill>
            <a:srgbClr val="CFE8FC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4005072" y="2075688"/>
            <a:ext cx="2331720" cy="2286000"/>
          </a:xfrm>
          <a:prstGeom prst="rect">
            <a:avLst/>
          </a:prstGeom>
          <a:solidFill>
            <a:srgbClr val="CFE8FC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3931920" y="2148840"/>
            <a:ext cx="2331720" cy="2286000"/>
          </a:xfrm>
          <a:prstGeom prst="rect">
            <a:avLst/>
          </a:prstGeom>
          <a:solidFill>
            <a:srgbClr val="E4F2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4096512" y="2286000"/>
            <a:ext cx="2057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RG: funitclub-wg-&lt;名前&gt;</a:t>
            </a:r>
            <a:endParaRPr lang="en-US" sz="1000" dirty="0"/>
          </a:p>
        </p:txBody>
      </p:sp>
      <p:sp>
        <p:nvSpPr>
          <p:cNvPr id="27" name="Shape 23"/>
          <p:cNvSpPr/>
          <p:nvPr/>
        </p:nvSpPr>
        <p:spPr>
          <a:xfrm>
            <a:off x="4096512" y="2651760"/>
            <a:ext cx="2002536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4206240" y="274320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Container App</a:t>
            </a:r>
            <a:endParaRPr lang="en-US" sz="1300" dirty="0"/>
          </a:p>
        </p:txBody>
      </p:sp>
      <p:sp>
        <p:nvSpPr>
          <p:cNvPr id="29" name="Text 25"/>
          <p:cNvSpPr txBox="1"/>
          <p:nvPr/>
        </p:nvSpPr>
        <p:spPr>
          <a:xfrm>
            <a:off x="4206240" y="3044952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使われないときは 0 台まで縮む</a:t>
            </a:r>
            <a:endParaRPr lang="en-US" sz="950" dirty="0"/>
          </a:p>
        </p:txBody>
      </p:sp>
      <p:sp>
        <p:nvSpPr>
          <p:cNvPr id="30" name="Text 26"/>
          <p:cNvSpPr txBox="1"/>
          <p:nvPr/>
        </p:nvSpPr>
        <p:spPr>
          <a:xfrm>
            <a:off x="4096512" y="365760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A4A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ごとに 1 つ作る</a:t>
            </a:r>
            <a:endParaRPr lang="en-US" sz="1100" dirty="0"/>
          </a:p>
        </p:txBody>
      </p:sp>
      <p:sp>
        <p:nvSpPr>
          <p:cNvPr id="31" name="Text 27"/>
          <p:cNvSpPr txBox="1"/>
          <p:nvPr/>
        </p:nvSpPr>
        <p:spPr>
          <a:xfrm>
            <a:off x="4096512" y="393192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デプロイの権限はこの RG の中だけ</a:t>
            </a:r>
            <a:endParaRPr lang="en-US" sz="950" dirty="0"/>
          </a:p>
        </p:txBody>
      </p:sp>
      <p:sp>
        <p:nvSpPr>
          <p:cNvPr id="32" name="Shape 28"/>
          <p:cNvSpPr/>
          <p:nvPr/>
        </p:nvSpPr>
        <p:spPr>
          <a:xfrm>
            <a:off x="6537960" y="2148840"/>
            <a:ext cx="1920240" cy="2286000"/>
          </a:xfrm>
          <a:prstGeom prst="rect">
            <a:avLst/>
          </a:prstGeom>
          <a:solidFill>
            <a:srgbClr val="F2F5F8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6702552" y="2286000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5A6B7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RG: hirahira</a:t>
            </a:r>
            <a:endParaRPr lang="en-US" sz="1000" dirty="0"/>
          </a:p>
        </p:txBody>
      </p:sp>
      <p:sp>
        <p:nvSpPr>
          <p:cNvPr id="34" name="Text 30"/>
          <p:cNvSpPr txBox="1"/>
          <p:nvPr/>
        </p:nvSpPr>
        <p:spPr>
          <a:xfrm>
            <a:off x="6702552" y="2651760"/>
            <a:ext cx="1645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homepage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PostgreSQL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Key Vault</a:t>
            </a:r>
            <a:endParaRPr lang="en-US" sz="1100" dirty="0"/>
          </a:p>
        </p:txBody>
      </p:sp>
      <p:pic>
        <p:nvPicPr>
          <p:cNvPr id="3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02552" y="3721608"/>
            <a:ext cx="182880" cy="182880"/>
          </a:xfrm>
          <a:prstGeom prst="rect">
            <a:avLst/>
          </a:prstGeom>
        </p:spPr>
      </p:pic>
      <p:sp>
        <p:nvSpPr>
          <p:cNvPr id="36" name="Text 31"/>
          <p:cNvSpPr txBox="1"/>
          <p:nvPr/>
        </p:nvSpPr>
        <p:spPr>
          <a:xfrm>
            <a:off x="6949440" y="3685032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からは触らない</a:t>
            </a:r>
            <a:endParaRPr lang="en-US" sz="1000" dirty="0"/>
          </a:p>
        </p:txBody>
      </p:sp>
      <p:sp>
        <p:nvSpPr>
          <p:cNvPr id="37" name="Shape 32"/>
          <p:cNvSpPr/>
          <p:nvPr/>
        </p:nvSpPr>
        <p:spPr>
          <a:xfrm>
            <a:off x="3035808" y="4187952"/>
            <a:ext cx="877824" cy="0"/>
          </a:xfrm>
          <a:prstGeom prst="line">
            <a:avLst/>
          </a:prstGeom>
          <a:noFill/>
          <a:ln w="19050">
            <a:solidFill>
              <a:srgbClr val="1A4A70"/>
            </a:solidFill>
            <a:prstDash val="solid"/>
            <a:tailEnd type="triangle"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01  ·  公開  ·  なぜ分けるか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リソースグループは WG ごとに分ける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2624328" cy="25146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737360"/>
            <a:ext cx="658368" cy="658368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2696" y="1908536"/>
            <a:ext cx="316017" cy="31601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31520" y="2560320"/>
            <a:ext cx="2075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権限を閉じる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2999232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のデプロイは自分の RG の中だけに届く。homepage・DB・Key Vault には触れない。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3259836" y="1463040"/>
            <a:ext cx="2624328" cy="25146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534156" y="1737360"/>
            <a:ext cx="658368" cy="658368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05332" y="1908536"/>
            <a:ext cx="316017" cy="316017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3534156" y="2560320"/>
            <a:ext cx="2075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費用が見える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3534156" y="2999232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料金を RG ごとに集計できる。どの WG にいくらかかったか分かる。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6062472" y="1463040"/>
            <a:ext cx="2624328" cy="25146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6336792" y="1737360"/>
            <a:ext cx="658368" cy="658368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7968" y="1908536"/>
            <a:ext cx="316017" cy="316017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6336792" y="2560320"/>
            <a:ext cx="2075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片付けが簡単</a:t>
            </a:r>
            <a:endParaRPr lang="en-US" sz="1700" dirty="0"/>
          </a:p>
        </p:txBody>
      </p:sp>
      <p:sp>
        <p:nvSpPr>
          <p:cNvPr id="18" name="Text 13"/>
          <p:cNvSpPr txBox="1"/>
          <p:nvPr/>
        </p:nvSpPr>
        <p:spPr>
          <a:xfrm>
            <a:off x="6336792" y="2999232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が終わったら RG ごと削除する。消し忘れのリソースが残らない。</a:t>
            </a:r>
            <a:endParaRPr lang="en-US" sz="1100" dirty="0"/>
          </a:p>
        </p:txBody>
      </p:sp>
      <p:sp>
        <p:nvSpPr>
          <p:cNvPr id="19" name="Text 14"/>
          <p:cNvSpPr txBox="1"/>
          <p:nvPr/>
        </p:nvSpPr>
        <p:spPr>
          <a:xfrm>
            <a:off x="457200" y="42062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homepage は今の RG（hirahira）のまま。hirahira_room や DB と同じ場所にあるため、WG のリソースは入れない。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WG 立ち上げガイド 01 リポジトリの作り方と運用</dc:title>
  <dc:subject>PptxGenJS Presentation</dc:subject>
  <dc:creator>PptxGenJS</dc:creator>
  <cp:lastModifiedBy>PptxGenJS</cp:lastModifiedBy>
  <cp:revision>1</cp:revision>
  <dcterms:created xsi:type="dcterms:W3CDTF">2026-09-19T02:44:12Z</dcterms:created>
  <dcterms:modified xsi:type="dcterms:W3CDTF">2026-09-19T02:44:12Z</dcterms:modified>
</cp:coreProperties>
</file>