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メンバー全員が一度だけやる準備です。つまずいたら、画面のスクリーンショットと「手順の何番で止まったか」を添えて運営に聞いてください。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途中で止めても、次は続きの手順から始められます。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Python や Django はパソコンに入れません。VS Code がリポジトリの設定を読んで、Docker の中に作業部屋を作り、必要なものを自動で入れます。全員が同じ環境になり、壊れても作り直せば戻ります。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WG への参加は、公開サイトから自分でできます。運営に頼む必要はありません。GitHub アカウントがない人は、4 の GitHub のログイン画面で作れます。サイトはメールアドレスや GitHub のユーザー名を保存しません。「メンバーとして確認できませんでした」というメールが届いたら、Classroom に登録しているアドレスか確かめ、それでも駄目なら運営に聞いてください。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大学のメールアドレスは学籍番号そのものです。公開リポジトリのコミット履歴に残ると消せないので、GitHub の設定で非公開にし、代わりに noreply のアドレスを使います。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VS Code はコードを書くためのエディタです。このあとの操作はすべて VS Code から行います。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Git は変更の記録と GitHub とのやりとりに使います。名前とメールアドレスはコミットに記録され、公開されます。大学のアドレスは使わないでください。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Docker Desktop は作業部屋を動かすためのアプリで、起動しておくだけで直接は触りません。個人・教育目的なら無料です。「仮想化が無効」と出たら、パソコンの設定の変更が要るので運営に相談してください。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似た名前の拡張機能があるので、提供元が Microsoft で青いチェックマークが付いたものを選んでください。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クローンは、GitHub にあるリポジトリを自分の作業部屋に写してくることです。チェックアウトとも言います。写したものを直して、コミットして GitHub に送り返します（資料 03）。一度クローンすれば、次からは VS Code の「最近使用した項目」から開けます。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コマンド パレットは英語で入力しても日本語の項目が出てきます。ソースはパソコンのフォルダーではなく Docker の中に置かれるので、エクスプローラーや Finder には出てきません。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ここまでで準備は終わりです。毎日の始め方と変更の届け方は、資料 03 にあります。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詳しい対処は homepage の docs/development.md の「困ったとき」にあります。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1E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fun IT club — WG 立ち上げガイド  02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4754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パソコンの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5BB8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準備をする。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78892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DDDD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サイトから WG に参加し、VS Code・Git・Docker Desktop を入れて、WG のサイトを起動するまで。8 つの手順を順番に。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3840480"/>
            <a:ext cx="1463040" cy="274320"/>
          </a:xfrm>
          <a:prstGeom prst="roundRect">
            <a:avLst>
              <a:gd name="adj" fmla="val 50000"/>
            </a:avLst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384048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メンバー全員・初回だけ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44348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2026-09  ·  fun IT club 運営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394960" y="1051560"/>
            <a:ext cx="3291840" cy="3017520"/>
          </a:xfrm>
          <a:prstGeom prst="rect">
            <a:avLst/>
          </a:prstGeom>
          <a:solidFill>
            <a:srgbClr val="1A4A70"/>
          </a:solidFill>
          <a:ln w="12700">
            <a:solidFill>
              <a:srgbClr val="1A4A7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623560" y="120700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資料は 4 本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5623560" y="1600200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035040" y="1600200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概要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6035040" y="1847088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5623560" y="2203704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035040" y="2203704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リポジトリの作り方と運用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6035040" y="2450592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運営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486400" y="2752344"/>
            <a:ext cx="3108960" cy="548640"/>
          </a:xfrm>
          <a:prstGeom prst="rect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623560" y="2807208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035040" y="2807208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パソコンの準備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6035040" y="3054096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B8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全員・初回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5623560" y="341071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035040" y="3410712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開発の進め方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6035040" y="3657600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全員・毎日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02  ·  この資料の流れ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 つの手順を順番に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402336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640080" y="141732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5087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に参加する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234440" y="1764792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サイトから。GitHub アカウントもここで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457200" y="2194560"/>
            <a:ext cx="402336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640080" y="219456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22860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 のメールを非公開に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234440" y="2542032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大学のアドレスを出さない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57200" y="2971800"/>
            <a:ext cx="402336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40080" y="297180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1234440" y="30632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VS Code を入れる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1234440" y="3319272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コードを書くエディタ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57200" y="3749040"/>
            <a:ext cx="402336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640080" y="374904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1234440" y="38404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 を入れる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1234440" y="4096512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名前とメールを登録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663440" y="1417320"/>
            <a:ext cx="402336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4846320" y="141732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5440680" y="150876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Docker Desktop を入れる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5440680" y="1764792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作業部屋を動かす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4663440" y="2194560"/>
            <a:ext cx="402336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4846320" y="219456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1800" dirty="0"/>
          </a:p>
        </p:txBody>
      </p:sp>
      <p:sp>
        <p:nvSpPr>
          <p:cNvPr id="26" name="Text 24"/>
          <p:cNvSpPr txBox="1"/>
          <p:nvPr/>
        </p:nvSpPr>
        <p:spPr>
          <a:xfrm>
            <a:off x="5440680" y="22860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Dev Containers を入れる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5440680" y="2542032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VS Code の拡張機能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663440" y="2971800"/>
            <a:ext cx="402336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4846320" y="297180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1800" dirty="0"/>
          </a:p>
        </p:txBody>
      </p:sp>
      <p:sp>
        <p:nvSpPr>
          <p:cNvPr id="30" name="Text 28"/>
          <p:cNvSpPr txBox="1"/>
          <p:nvPr/>
        </p:nvSpPr>
        <p:spPr>
          <a:xfrm>
            <a:off x="5440680" y="30632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リポジトリをクローンする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5440680" y="3319272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 から作業部屋に写す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4663440" y="3749040"/>
            <a:ext cx="402336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3" name="Text 31"/>
          <p:cNvSpPr txBox="1"/>
          <p:nvPr/>
        </p:nvSpPr>
        <p:spPr>
          <a:xfrm>
            <a:off x="4846320" y="374904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</a:t>
            </a:r>
            <a:endParaRPr lang="en-US" sz="1800" dirty="0"/>
          </a:p>
        </p:txBody>
      </p:sp>
      <p:sp>
        <p:nvSpPr>
          <p:cNvPr id="34" name="Text 32"/>
          <p:cNvSpPr txBox="1"/>
          <p:nvPr/>
        </p:nvSpPr>
        <p:spPr>
          <a:xfrm>
            <a:off x="5440680" y="384048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サイトを起動する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5440680" y="4096512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F5 を押してブラウザで確かめる</a:t>
            </a:r>
            <a:endParaRPr lang="en-US" sz="950" dirty="0"/>
          </a:p>
        </p:txBody>
      </p:sp>
      <p:sp>
        <p:nvSpPr>
          <p:cNvPr id="36" name="Text 34"/>
          <p:cNvSpPr txBox="1"/>
          <p:nvPr/>
        </p:nvSpPr>
        <p:spPr>
          <a:xfrm>
            <a:off x="457200" y="45720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 は WG ごとに一度、2〜8 は最初に一度だけ。かかる時間の目安は 1〜2 時間（ダウンロードを含む）。できれば自宅の回線で。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02  ·  しくみ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パソコンに入れるのは 3 つだけ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512064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536192"/>
            <a:ext cx="292608" cy="29260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78992" y="1517904"/>
            <a:ext cx="2743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あなたのパソコン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685800" y="1993392"/>
            <a:ext cx="1463040" cy="1051560"/>
          </a:xfrm>
          <a:prstGeom prst="rect">
            <a:avLst/>
          </a:prstGeom>
          <a:solidFill>
            <a:srgbClr val="F2F5F8"/>
          </a:solidFill>
          <a:ln w="12700">
            <a:solidFill>
              <a:srgbClr val="DDDDDD"/>
            </a:solidFill>
            <a:prstDash val="solid"/>
          </a:ln>
        </p:spPr>
      </p:sp>
      <p:pic>
        <p:nvPicPr>
          <p:cNvPr id="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130552"/>
            <a:ext cx="274320" cy="2743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822960" y="2450592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VS Code</a:t>
            </a:r>
            <a:endParaRPr lang="en-US" sz="1150" dirty="0"/>
          </a:p>
        </p:txBody>
      </p:sp>
      <p:sp>
        <p:nvSpPr>
          <p:cNvPr id="10" name="Text 6"/>
          <p:cNvSpPr txBox="1"/>
          <p:nvPr/>
        </p:nvSpPr>
        <p:spPr>
          <a:xfrm>
            <a:off x="822960" y="2724912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書く・操作する</a:t>
            </a:r>
            <a:endParaRPr lang="en-US" sz="950" dirty="0"/>
          </a:p>
        </p:txBody>
      </p:sp>
      <p:sp>
        <p:nvSpPr>
          <p:cNvPr id="11" name="Shape 7"/>
          <p:cNvSpPr/>
          <p:nvPr/>
        </p:nvSpPr>
        <p:spPr>
          <a:xfrm>
            <a:off x="2286000" y="1993392"/>
            <a:ext cx="1463040" cy="1051560"/>
          </a:xfrm>
          <a:prstGeom prst="rect">
            <a:avLst/>
          </a:prstGeom>
          <a:solidFill>
            <a:srgbClr val="F2F5F8"/>
          </a:solidFill>
          <a:ln w="12700">
            <a:solidFill>
              <a:srgbClr val="DDDDDD"/>
            </a:solidFill>
            <a:prstDash val="solid"/>
          </a:ln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3160" y="2130552"/>
            <a:ext cx="274320" cy="274320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2423160" y="2450592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</a:t>
            </a:r>
            <a:endParaRPr lang="en-US" sz="1150" dirty="0"/>
          </a:p>
        </p:txBody>
      </p:sp>
      <p:sp>
        <p:nvSpPr>
          <p:cNvPr id="14" name="Text 9"/>
          <p:cNvSpPr txBox="1"/>
          <p:nvPr/>
        </p:nvSpPr>
        <p:spPr>
          <a:xfrm>
            <a:off x="2423160" y="2724912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変更を記録する</a:t>
            </a:r>
            <a:endParaRPr lang="en-US" sz="950" dirty="0"/>
          </a:p>
        </p:txBody>
      </p:sp>
      <p:sp>
        <p:nvSpPr>
          <p:cNvPr id="15" name="Shape 10"/>
          <p:cNvSpPr/>
          <p:nvPr/>
        </p:nvSpPr>
        <p:spPr>
          <a:xfrm>
            <a:off x="3886200" y="1993392"/>
            <a:ext cx="1463040" cy="1051560"/>
          </a:xfrm>
          <a:prstGeom prst="rect">
            <a:avLst/>
          </a:prstGeom>
          <a:solidFill>
            <a:srgbClr val="F2F5F8"/>
          </a:solidFill>
          <a:ln w="12700">
            <a:solidFill>
              <a:srgbClr val="DDDDDD"/>
            </a:solidFill>
            <a:prstDash val="solid"/>
          </a:ln>
        </p:spPr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23360" y="2130552"/>
            <a:ext cx="274320" cy="27432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4023360" y="2450592"/>
            <a:ext cx="1234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Docker Desktop</a:t>
            </a:r>
            <a:endParaRPr lang="en-US" sz="1150" dirty="0"/>
          </a:p>
        </p:txBody>
      </p:sp>
      <p:sp>
        <p:nvSpPr>
          <p:cNvPr id="18" name="Text 12"/>
          <p:cNvSpPr txBox="1"/>
          <p:nvPr/>
        </p:nvSpPr>
        <p:spPr>
          <a:xfrm>
            <a:off x="4023360" y="2724912"/>
            <a:ext cx="1234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作業部屋を動かす</a:t>
            </a:r>
            <a:endParaRPr lang="en-US" sz="950" dirty="0"/>
          </a:p>
        </p:txBody>
      </p:sp>
      <p:sp>
        <p:nvSpPr>
          <p:cNvPr id="19" name="Shape 13"/>
          <p:cNvSpPr/>
          <p:nvPr/>
        </p:nvSpPr>
        <p:spPr>
          <a:xfrm>
            <a:off x="685800" y="3310128"/>
            <a:ext cx="4663440" cy="1097280"/>
          </a:xfrm>
          <a:prstGeom prst="rect">
            <a:avLst/>
          </a:prstGeom>
          <a:solidFill>
            <a:srgbClr val="E4F2FF"/>
          </a:solidFill>
          <a:ln w="12700">
            <a:solidFill>
              <a:srgbClr val="5BB8FF"/>
            </a:solidFill>
            <a:prstDash val="dash"/>
          </a:ln>
        </p:spPr>
      </p:sp>
      <p:sp>
        <p:nvSpPr>
          <p:cNvPr id="20" name="Shape 14"/>
          <p:cNvSpPr/>
          <p:nvPr/>
        </p:nvSpPr>
        <p:spPr>
          <a:xfrm>
            <a:off x="4617720" y="3044952"/>
            <a:ext cx="0" cy="265176"/>
          </a:xfrm>
          <a:prstGeom prst="line">
            <a:avLst/>
          </a:prstGeom>
          <a:noFill/>
          <a:ln w="15875">
            <a:solidFill>
              <a:srgbClr val="1A4A70"/>
            </a:solidFill>
            <a:prstDash val="solid"/>
            <a:tailEnd type="triangle"/>
          </a:ln>
        </p:spPr>
      </p:sp>
      <p:sp>
        <p:nvSpPr>
          <p:cNvPr id="21" name="Text 15"/>
          <p:cNvSpPr txBox="1"/>
          <p:nvPr/>
        </p:nvSpPr>
        <p:spPr>
          <a:xfrm>
            <a:off x="868680" y="3438144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A4A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作業部屋（コンテナ）… 自動で用意される</a:t>
            </a:r>
            <a:endParaRPr lang="en-US" sz="1100" dirty="0"/>
          </a:p>
        </p:txBody>
      </p:sp>
      <p:sp>
        <p:nvSpPr>
          <p:cNvPr id="22" name="Shape 16"/>
          <p:cNvSpPr/>
          <p:nvPr/>
        </p:nvSpPr>
        <p:spPr>
          <a:xfrm>
            <a:off x="868680" y="3877056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17"/>
          <p:cNvSpPr txBox="1"/>
          <p:nvPr/>
        </p:nvSpPr>
        <p:spPr>
          <a:xfrm>
            <a:off x="868680" y="3877056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Python 3.11</a:t>
            </a:r>
            <a:endParaRPr lang="en-US" sz="900" dirty="0"/>
          </a:p>
        </p:txBody>
      </p:sp>
      <p:sp>
        <p:nvSpPr>
          <p:cNvPr id="24" name="Shape 18"/>
          <p:cNvSpPr/>
          <p:nvPr/>
        </p:nvSpPr>
        <p:spPr>
          <a:xfrm>
            <a:off x="2011680" y="3877056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19"/>
          <p:cNvSpPr txBox="1"/>
          <p:nvPr/>
        </p:nvSpPr>
        <p:spPr>
          <a:xfrm>
            <a:off x="2011680" y="3877056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Django 5.2</a:t>
            </a:r>
            <a:endParaRPr lang="en-US" sz="900" dirty="0"/>
          </a:p>
        </p:txBody>
      </p:sp>
      <p:sp>
        <p:nvSpPr>
          <p:cNvPr id="26" name="Shape 20"/>
          <p:cNvSpPr/>
          <p:nvPr/>
        </p:nvSpPr>
        <p:spPr>
          <a:xfrm>
            <a:off x="3154680" y="3877056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3154680" y="3877056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拡張機能</a:t>
            </a:r>
            <a:endParaRPr lang="en-US" sz="900" dirty="0"/>
          </a:p>
        </p:txBody>
      </p:sp>
      <p:sp>
        <p:nvSpPr>
          <p:cNvPr id="28" name="Shape 22"/>
          <p:cNvSpPr/>
          <p:nvPr/>
        </p:nvSpPr>
        <p:spPr>
          <a:xfrm>
            <a:off x="4297680" y="3877056"/>
            <a:ext cx="1005840" cy="2743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3"/>
          <p:cNvSpPr txBox="1"/>
          <p:nvPr/>
        </p:nvSpPr>
        <p:spPr>
          <a:xfrm>
            <a:off x="4297680" y="3877056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テスト</a:t>
            </a:r>
            <a:endParaRPr lang="en-US" sz="900" dirty="0"/>
          </a:p>
        </p:txBody>
      </p:sp>
      <p:sp>
        <p:nvSpPr>
          <p:cNvPr id="30" name="Shape 24"/>
          <p:cNvSpPr/>
          <p:nvPr/>
        </p:nvSpPr>
        <p:spPr>
          <a:xfrm>
            <a:off x="5852160" y="1371600"/>
            <a:ext cx="283464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1" name="Text 25"/>
          <p:cNvSpPr txBox="1"/>
          <p:nvPr/>
        </p:nvSpPr>
        <p:spPr>
          <a:xfrm>
            <a:off x="6080760" y="1554480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準備するもの</a:t>
            </a:r>
            <a:endParaRPr lang="en-US" sz="1300" dirty="0"/>
          </a:p>
        </p:txBody>
      </p:sp>
      <p:sp>
        <p:nvSpPr>
          <p:cNvPr id="32" name="Shape 26"/>
          <p:cNvSpPr/>
          <p:nvPr/>
        </p:nvSpPr>
        <p:spPr>
          <a:xfrm>
            <a:off x="6080760" y="1947672"/>
            <a:ext cx="2377440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33" name="Text 27"/>
          <p:cNvSpPr txBox="1"/>
          <p:nvPr/>
        </p:nvSpPr>
        <p:spPr>
          <a:xfrm>
            <a:off x="6080760" y="2011680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OS</a:t>
            </a:r>
            <a:endParaRPr lang="en-US" sz="950" dirty="0"/>
          </a:p>
        </p:txBody>
      </p:sp>
      <p:sp>
        <p:nvSpPr>
          <p:cNvPr id="34" name="Text 28"/>
          <p:cNvSpPr txBox="1"/>
          <p:nvPr/>
        </p:nvSpPr>
        <p:spPr>
          <a:xfrm>
            <a:off x="6080760" y="2231136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Windows 10 / 11 か macOS</a:t>
            </a:r>
            <a:endParaRPr lang="en-US" sz="1100" dirty="0"/>
          </a:p>
        </p:txBody>
      </p:sp>
      <p:sp>
        <p:nvSpPr>
          <p:cNvPr id="35" name="Shape 29"/>
          <p:cNvSpPr/>
          <p:nvPr/>
        </p:nvSpPr>
        <p:spPr>
          <a:xfrm>
            <a:off x="6080760" y="2569464"/>
            <a:ext cx="2377440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36" name="Text 30"/>
          <p:cNvSpPr txBox="1"/>
          <p:nvPr/>
        </p:nvSpPr>
        <p:spPr>
          <a:xfrm>
            <a:off x="6080760" y="2633472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メモリ</a:t>
            </a:r>
            <a:endParaRPr lang="en-US" sz="950" dirty="0"/>
          </a:p>
        </p:txBody>
      </p:sp>
      <p:sp>
        <p:nvSpPr>
          <p:cNvPr id="37" name="Text 31"/>
          <p:cNvSpPr txBox="1"/>
          <p:nvPr/>
        </p:nvSpPr>
        <p:spPr>
          <a:xfrm>
            <a:off x="6080760" y="2852928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8GB 以上</a:t>
            </a:r>
            <a:endParaRPr lang="en-US" sz="1100" dirty="0"/>
          </a:p>
        </p:txBody>
      </p:sp>
      <p:sp>
        <p:nvSpPr>
          <p:cNvPr id="38" name="Shape 32"/>
          <p:cNvSpPr/>
          <p:nvPr/>
        </p:nvSpPr>
        <p:spPr>
          <a:xfrm>
            <a:off x="6080760" y="3191256"/>
            <a:ext cx="2377440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39" name="Text 33"/>
          <p:cNvSpPr txBox="1"/>
          <p:nvPr/>
        </p:nvSpPr>
        <p:spPr>
          <a:xfrm>
            <a:off x="6080760" y="3255264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空き容量</a:t>
            </a:r>
            <a:endParaRPr lang="en-US" sz="950" dirty="0"/>
          </a:p>
        </p:txBody>
      </p:sp>
      <p:sp>
        <p:nvSpPr>
          <p:cNvPr id="40" name="Text 34"/>
          <p:cNvSpPr txBox="1"/>
          <p:nvPr/>
        </p:nvSpPr>
        <p:spPr>
          <a:xfrm>
            <a:off x="6080760" y="3474720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20GB 以上</a:t>
            </a:r>
            <a:endParaRPr lang="en-US" sz="1100" dirty="0"/>
          </a:p>
        </p:txBody>
      </p:sp>
      <p:sp>
        <p:nvSpPr>
          <p:cNvPr id="41" name="Shape 35"/>
          <p:cNvSpPr/>
          <p:nvPr/>
        </p:nvSpPr>
        <p:spPr>
          <a:xfrm>
            <a:off x="6080760" y="3813048"/>
            <a:ext cx="2377440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42" name="Text 36"/>
          <p:cNvSpPr txBox="1"/>
          <p:nvPr/>
        </p:nvSpPr>
        <p:spPr>
          <a:xfrm>
            <a:off x="6080760" y="3877056"/>
            <a:ext cx="2377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ネット</a:t>
            </a:r>
            <a:endParaRPr lang="en-US" sz="950" dirty="0"/>
          </a:p>
        </p:txBody>
      </p:sp>
      <p:sp>
        <p:nvSpPr>
          <p:cNvPr id="43" name="Text 37"/>
          <p:cNvSpPr txBox="1"/>
          <p:nvPr/>
        </p:nvSpPr>
        <p:spPr>
          <a:xfrm>
            <a:off x="6080760" y="4096512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初回は 1〜2GB をダウンロード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02  ·  手順 1 / 8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サイトから WG に参加する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3258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335024"/>
            <a:ext cx="3904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WG一覧の「WG に参加」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600200"/>
            <a:ext cx="3904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funitclub.org/wg/ で参加したい WG を選ぶ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57200" y="187452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18745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1883664"/>
            <a:ext cx="3904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大学のメールアドレスを入れる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2148840"/>
            <a:ext cx="3904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Classroom に登録しているアドレス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200" y="242316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4231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2432304"/>
            <a:ext cx="3904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届いたメールのリンクを開く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896112" y="2697480"/>
            <a:ext cx="3904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 時間以内に開く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7200" y="297180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29718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896112" y="2980944"/>
            <a:ext cx="3904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 でログイン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896112" y="3246120"/>
            <a:ext cx="3904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なければ Create an account（大学のアドレスで）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7200" y="352044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57200" y="3520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96112" y="3529584"/>
            <a:ext cx="3904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招待が出たら Join を押す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896112" y="3794760"/>
            <a:ext cx="3904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 から届く「Join @funITclub」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57200" y="406908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57200" y="40690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896112" y="4078224"/>
            <a:ext cx="3904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の Chat に入る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896112" y="4343400"/>
            <a:ext cx="39044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Classroom の授業の WG にあるリンクから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983480" y="1325880"/>
            <a:ext cx="3703320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4983480" y="1325880"/>
            <a:ext cx="3703320" cy="274320"/>
          </a:xfrm>
          <a:prstGeom prst="rect">
            <a:avLst/>
          </a:prstGeom>
          <a:solidFill>
            <a:srgbClr val="E3E7EB"/>
          </a:solidFill>
          <a:ln w="12700">
            <a:solidFill>
              <a:srgbClr val="E3E7E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111496" y="1417320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276088" y="1417320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440680" y="1417320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669280" y="132588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funitclub.org/wg/1/join/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5166360" y="1737360"/>
            <a:ext cx="3337560" cy="2651760"/>
          </a:xfrm>
          <a:prstGeom prst="rect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349240" y="1892808"/>
            <a:ext cx="2971800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349240" y="2011680"/>
            <a:ext cx="2971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WG-01 に参加</a:t>
            </a:r>
            <a:endParaRPr lang="en-US" sz="900" dirty="0"/>
          </a:p>
        </p:txBody>
      </p:sp>
      <p:sp>
        <p:nvSpPr>
          <p:cNvPr id="37" name="Text 35"/>
          <p:cNvSpPr txBox="1"/>
          <p:nvPr/>
        </p:nvSpPr>
        <p:spPr>
          <a:xfrm>
            <a:off x="5349240" y="2240280"/>
            <a:ext cx="2971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生成AIによるタンパク質設計</a:t>
            </a:r>
            <a:endParaRPr lang="en-US" sz="1250" dirty="0"/>
          </a:p>
        </p:txBody>
      </p:sp>
      <p:sp>
        <p:nvSpPr>
          <p:cNvPr id="38" name="Text 36"/>
          <p:cNvSpPr txBox="1"/>
          <p:nvPr/>
        </p:nvSpPr>
        <p:spPr>
          <a:xfrm>
            <a:off x="5577840" y="2697480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大学のメールアドレス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577840" y="2944368"/>
            <a:ext cx="2514600" cy="310896"/>
          </a:xfrm>
          <a:prstGeom prst="rect">
            <a:avLst/>
          </a:prstGeom>
          <a:solidFill>
            <a:srgbClr val="FFFFFF"/>
          </a:solidFill>
          <a:ln w="12700">
            <a:solidFill>
              <a:srgbClr val="B9CAD9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5669280" y="2944368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bu0000000000@bukkyo-u.ac.jp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577840" y="3429000"/>
            <a:ext cx="2514600" cy="365760"/>
          </a:xfrm>
          <a:prstGeom prst="rect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5577840" y="3429000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確認のメールを送る</a:t>
            </a:r>
            <a:endParaRPr lang="en-US" sz="1000" dirty="0"/>
          </a:p>
        </p:txBody>
      </p:sp>
      <p:sp>
        <p:nvSpPr>
          <p:cNvPr id="43" name="Text 41"/>
          <p:cNvSpPr txBox="1"/>
          <p:nvPr/>
        </p:nvSpPr>
        <p:spPr>
          <a:xfrm>
            <a:off x="5532120" y="3904488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クラブのメンバー（Classroom のクラブのクラスにいる人）だけが先に進める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02  ·  手順 2 / 8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 のメールアドレスを非公開にする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417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42646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右上の自分のアイコン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691640"/>
            <a:ext cx="385876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 にログインした状態で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219456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1945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220370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「Settings」→ 左の「Emails」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57200" y="297180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29718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896112" y="298094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Keep my email addresses private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3246120"/>
            <a:ext cx="385876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にチェックを入れる（右の画面）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57200" y="374904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7200" y="37490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896112" y="375818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noreply のアドレスをコピー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896112" y="4023360"/>
            <a:ext cx="3858768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手順 4 の Git の設定で使う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983480" y="1417320"/>
            <a:ext cx="37033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983480" y="1417320"/>
            <a:ext cx="3703320" cy="274320"/>
          </a:xfrm>
          <a:prstGeom prst="rect">
            <a:avLst/>
          </a:prstGeom>
          <a:solidFill>
            <a:srgbClr val="E3E7EB"/>
          </a:solidFill>
          <a:ln w="12700">
            <a:solidFill>
              <a:srgbClr val="E3E7E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111496" y="1508760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276088" y="1508760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40680" y="1508760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669280" y="141732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github.com/settings/emails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5212080" y="182880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Emails</a:t>
            </a:r>
            <a:endParaRPr lang="en-US" sz="1500" dirty="0"/>
          </a:p>
        </p:txBody>
      </p:sp>
      <p:sp>
        <p:nvSpPr>
          <p:cNvPr id="26" name="Shape 24"/>
          <p:cNvSpPr/>
          <p:nvPr/>
        </p:nvSpPr>
        <p:spPr>
          <a:xfrm>
            <a:off x="5212080" y="2331720"/>
            <a:ext cx="182880" cy="18288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pic>
        <p:nvPicPr>
          <p:cNvPr id="2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39512" y="2359152"/>
            <a:ext cx="128016" cy="128016"/>
          </a:xfrm>
          <a:prstGeom prst="rect">
            <a:avLst/>
          </a:prstGeom>
        </p:spPr>
      </p:pic>
      <p:sp>
        <p:nvSpPr>
          <p:cNvPr id="28" name="Text 25"/>
          <p:cNvSpPr txBox="1"/>
          <p:nvPr/>
        </p:nvSpPr>
        <p:spPr>
          <a:xfrm>
            <a:off x="5486400" y="2304288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B2B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 my email addresses private</a:t>
            </a:r>
            <a:endParaRPr lang="en-US" sz="1150" dirty="0"/>
          </a:p>
        </p:txBody>
      </p:sp>
      <p:sp>
        <p:nvSpPr>
          <p:cNvPr id="29" name="Text 26"/>
          <p:cNvSpPr txBox="1"/>
          <p:nvPr/>
        </p:nvSpPr>
        <p:spPr>
          <a:xfrm>
            <a:off x="5486400" y="2651760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コミットには次のアドレスが使われる：</a:t>
            </a:r>
            <a:endParaRPr lang="en-US" sz="950" dirty="0"/>
          </a:p>
        </p:txBody>
      </p:sp>
      <p:sp>
        <p:nvSpPr>
          <p:cNvPr id="30" name="Shape 27"/>
          <p:cNvSpPr/>
          <p:nvPr/>
        </p:nvSpPr>
        <p:spPr>
          <a:xfrm>
            <a:off x="5486400" y="2971800"/>
            <a:ext cx="2971800" cy="365760"/>
          </a:xfrm>
          <a:prstGeom prst="rect">
            <a:avLst/>
          </a:prstGeom>
          <a:solidFill>
            <a:srgbClr val="FFF4C2"/>
          </a:solidFill>
          <a:ln w="12700">
            <a:solidFill>
              <a:srgbClr val="E3C75A"/>
            </a:solidFill>
            <a:prstDash val="solid"/>
          </a:ln>
        </p:spPr>
      </p:sp>
      <p:sp>
        <p:nvSpPr>
          <p:cNvPr id="31" name="Text 28"/>
          <p:cNvSpPr txBox="1"/>
          <p:nvPr/>
        </p:nvSpPr>
        <p:spPr>
          <a:xfrm>
            <a:off x="5550408" y="2971800"/>
            <a:ext cx="2880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B2B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12345678+name@users.noreply.github.com</a:t>
            </a:r>
            <a:endParaRPr lang="en-US" sz="950" dirty="0"/>
          </a:p>
        </p:txBody>
      </p:sp>
      <p:sp>
        <p:nvSpPr>
          <p:cNvPr id="32" name="Text 29"/>
          <p:cNvSpPr txBox="1"/>
          <p:nvPr/>
        </p:nvSpPr>
        <p:spPr>
          <a:xfrm>
            <a:off x="5486400" y="3429000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A4A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↑ このアドレスをコピーしておく（手順 4 で使う）</a:t>
            </a:r>
            <a:endParaRPr lang="en-US" sz="1000" dirty="0"/>
          </a:p>
        </p:txBody>
      </p:sp>
      <p:sp>
        <p:nvSpPr>
          <p:cNvPr id="33" name="Text 30"/>
          <p:cNvSpPr txBox="1"/>
          <p:nvPr/>
        </p:nvSpPr>
        <p:spPr>
          <a:xfrm>
            <a:off x="5486400" y="3749040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大学のアドレス（学籍番号）を公開しないため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02  ·  手順 3 / 8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VS Code を入れる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402336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55448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51560" y="1536192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Windows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685800" y="201168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011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1124712" y="202082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code.visualstudio.com を開く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1124712" y="2286000"/>
            <a:ext cx="3172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「Download for Windows」を押す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685800" y="2487168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85800" y="24871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1124712" y="2496312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VSCodeUserSetup をダブルクリック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1124712" y="2761488"/>
            <a:ext cx="3172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「同意する」→「次へ」を続ける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685800" y="2962656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85800" y="29626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124712" y="2971800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「インストール」→「完了」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1124712" y="3236976"/>
            <a:ext cx="3172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「PATH への追加」はチェックのまま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4663440" y="1371600"/>
            <a:ext cx="4023360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2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554480"/>
            <a:ext cx="274320" cy="274320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5257800" y="1536192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Mac</a:t>
            </a:r>
            <a:endParaRPr lang="en-US" sz="1500" dirty="0"/>
          </a:p>
        </p:txBody>
      </p:sp>
      <p:sp>
        <p:nvSpPr>
          <p:cNvPr id="22" name="Shape 18"/>
          <p:cNvSpPr/>
          <p:nvPr/>
        </p:nvSpPr>
        <p:spPr>
          <a:xfrm>
            <a:off x="4892040" y="201168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4892040" y="2011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24" name="Text 20"/>
          <p:cNvSpPr txBox="1"/>
          <p:nvPr/>
        </p:nvSpPr>
        <p:spPr>
          <a:xfrm>
            <a:off x="5330952" y="202082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code.visualstudio.com を開く</a:t>
            </a:r>
            <a:endParaRPr lang="en-US" sz="1150" dirty="0"/>
          </a:p>
        </p:txBody>
      </p:sp>
      <p:sp>
        <p:nvSpPr>
          <p:cNvPr id="25" name="Text 21"/>
          <p:cNvSpPr txBox="1"/>
          <p:nvPr/>
        </p:nvSpPr>
        <p:spPr>
          <a:xfrm>
            <a:off x="5330952" y="2286000"/>
            <a:ext cx="3172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「Download for Mac」を押す</a:t>
            </a:r>
            <a:endParaRPr lang="en-US" sz="1000" dirty="0"/>
          </a:p>
        </p:txBody>
      </p:sp>
      <p:sp>
        <p:nvSpPr>
          <p:cNvPr id="26" name="Shape 22"/>
          <p:cNvSpPr/>
          <p:nvPr/>
        </p:nvSpPr>
        <p:spPr>
          <a:xfrm>
            <a:off x="4892040" y="2487168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4892040" y="24871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28" name="Text 24"/>
          <p:cNvSpPr txBox="1"/>
          <p:nvPr/>
        </p:nvSpPr>
        <p:spPr>
          <a:xfrm>
            <a:off x="5330952" y="2496312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zip を開き、アプリケーションへ</a:t>
            </a:r>
            <a:endParaRPr lang="en-US" sz="1150" dirty="0"/>
          </a:p>
        </p:txBody>
      </p:sp>
      <p:sp>
        <p:nvSpPr>
          <p:cNvPr id="29" name="Text 25"/>
          <p:cNvSpPr txBox="1"/>
          <p:nvPr/>
        </p:nvSpPr>
        <p:spPr>
          <a:xfrm>
            <a:off x="5330952" y="2761488"/>
            <a:ext cx="3172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Visual Studio Code をドラッグする</a:t>
            </a:r>
            <a:endParaRPr lang="en-US" sz="1000" dirty="0"/>
          </a:p>
        </p:txBody>
      </p:sp>
      <p:sp>
        <p:nvSpPr>
          <p:cNvPr id="30" name="Shape 26"/>
          <p:cNvSpPr/>
          <p:nvPr/>
        </p:nvSpPr>
        <p:spPr>
          <a:xfrm>
            <a:off x="4892040" y="2962656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4892040" y="29626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32" name="Text 28"/>
          <p:cNvSpPr txBox="1"/>
          <p:nvPr/>
        </p:nvSpPr>
        <p:spPr>
          <a:xfrm>
            <a:off x="5330952" y="2971800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アプリケーションから開く</a:t>
            </a:r>
            <a:endParaRPr lang="en-US" sz="1150" dirty="0"/>
          </a:p>
        </p:txBody>
      </p:sp>
      <p:sp>
        <p:nvSpPr>
          <p:cNvPr id="33" name="Text 29"/>
          <p:cNvSpPr txBox="1"/>
          <p:nvPr/>
        </p:nvSpPr>
        <p:spPr>
          <a:xfrm>
            <a:off x="5330952" y="3236976"/>
            <a:ext cx="31729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確認が出たら「開く」</a:t>
            </a:r>
            <a:endParaRPr lang="en-US" sz="1000" dirty="0"/>
          </a:p>
        </p:txBody>
      </p:sp>
      <p:sp>
        <p:nvSpPr>
          <p:cNvPr id="34" name="Shape 30"/>
          <p:cNvSpPr/>
          <p:nvPr/>
        </p:nvSpPr>
        <p:spPr>
          <a:xfrm>
            <a:off x="457200" y="3657600"/>
            <a:ext cx="822960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5" name="Text 31"/>
          <p:cNvSpPr txBox="1"/>
          <p:nvPr/>
        </p:nvSpPr>
        <p:spPr>
          <a:xfrm>
            <a:off x="685800" y="3767328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日本語にする（共通）</a:t>
            </a:r>
            <a:endParaRPr lang="en-US" sz="1200" dirty="0"/>
          </a:p>
        </p:txBody>
      </p:sp>
      <p:sp>
        <p:nvSpPr>
          <p:cNvPr id="36" name="Shape 32"/>
          <p:cNvSpPr/>
          <p:nvPr/>
        </p:nvSpPr>
        <p:spPr>
          <a:xfrm>
            <a:off x="685800" y="4114800"/>
            <a:ext cx="274320" cy="27432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685800" y="4114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1E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38" name="Text 34"/>
          <p:cNvSpPr txBox="1"/>
          <p:nvPr/>
        </p:nvSpPr>
        <p:spPr>
          <a:xfrm>
            <a:off x="1051560" y="4087368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左端の「拡張機能」</a:t>
            </a:r>
            <a:endParaRPr lang="en-US" sz="1050" dirty="0"/>
          </a:p>
        </p:txBody>
      </p:sp>
      <p:sp>
        <p:nvSpPr>
          <p:cNvPr id="39" name="Text 35"/>
          <p:cNvSpPr txBox="1"/>
          <p:nvPr/>
        </p:nvSpPr>
        <p:spPr>
          <a:xfrm>
            <a:off x="1051560" y="4315968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四角が 4 つのアイコン</a:t>
            </a:r>
            <a:endParaRPr lang="en-US" sz="950" dirty="0"/>
          </a:p>
        </p:txBody>
      </p:sp>
      <p:sp>
        <p:nvSpPr>
          <p:cNvPr id="40" name="Shape 36"/>
          <p:cNvSpPr/>
          <p:nvPr/>
        </p:nvSpPr>
        <p:spPr>
          <a:xfrm>
            <a:off x="3383280" y="4114800"/>
            <a:ext cx="274320" cy="27432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3383280" y="4114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1E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42" name="Text 38"/>
          <p:cNvSpPr txBox="1"/>
          <p:nvPr/>
        </p:nvSpPr>
        <p:spPr>
          <a:xfrm>
            <a:off x="3749040" y="4087368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「Japanese」で検索</a:t>
            </a:r>
            <a:endParaRPr lang="en-US" sz="1050" dirty="0"/>
          </a:p>
        </p:txBody>
      </p:sp>
      <p:sp>
        <p:nvSpPr>
          <p:cNvPr id="43" name="Text 39"/>
          <p:cNvSpPr txBox="1"/>
          <p:nvPr/>
        </p:nvSpPr>
        <p:spPr>
          <a:xfrm>
            <a:off x="3749040" y="4315968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Language Pack の Install</a:t>
            </a:r>
            <a:endParaRPr lang="en-US" sz="950" dirty="0"/>
          </a:p>
        </p:txBody>
      </p:sp>
      <p:sp>
        <p:nvSpPr>
          <p:cNvPr id="44" name="Shape 40"/>
          <p:cNvSpPr/>
          <p:nvPr/>
        </p:nvSpPr>
        <p:spPr>
          <a:xfrm>
            <a:off x="6080760" y="4114800"/>
            <a:ext cx="274320" cy="27432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6080760" y="4114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1E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46" name="Text 42"/>
          <p:cNvSpPr txBox="1"/>
          <p:nvPr/>
        </p:nvSpPr>
        <p:spPr>
          <a:xfrm>
            <a:off x="6446520" y="4087368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Change Language and Restart</a:t>
            </a:r>
            <a:endParaRPr lang="en-US" sz="1050" dirty="0"/>
          </a:p>
        </p:txBody>
      </p:sp>
      <p:sp>
        <p:nvSpPr>
          <p:cNvPr id="47" name="Text 43"/>
          <p:cNvSpPr txBox="1"/>
          <p:nvPr/>
        </p:nvSpPr>
        <p:spPr>
          <a:xfrm>
            <a:off x="6446520" y="4315968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再起動で日本語になる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02  ·  手順 4 / 8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 を入れて、名前を登録する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93192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55448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51560" y="153619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Windows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685800" y="201168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011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1124712" y="2020824"/>
            <a:ext cx="3081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git-scm.com →「Download for Windows」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1124712" y="2286000"/>
            <a:ext cx="30815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「Click here to download」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685800" y="246888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85800" y="24688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1124712" y="2478024"/>
            <a:ext cx="3081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Git-….exe をダブルクリック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1124712" y="2743200"/>
            <a:ext cx="30815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何も変えずに「Next」→「Install」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457200" y="3063240"/>
            <a:ext cx="3931920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3246120"/>
            <a:ext cx="274320" cy="274320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1051560" y="32278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Mac</a:t>
            </a:r>
            <a:endParaRPr lang="en-US" sz="1500" dirty="0"/>
          </a:p>
        </p:txBody>
      </p:sp>
      <p:sp>
        <p:nvSpPr>
          <p:cNvPr id="18" name="Shape 14"/>
          <p:cNvSpPr/>
          <p:nvPr/>
        </p:nvSpPr>
        <p:spPr>
          <a:xfrm>
            <a:off x="685800" y="370332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85800" y="3703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20" name="Text 16"/>
          <p:cNvSpPr txBox="1"/>
          <p:nvPr/>
        </p:nvSpPr>
        <p:spPr>
          <a:xfrm>
            <a:off x="1124712" y="3712464"/>
            <a:ext cx="3081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ターミナルで git --version</a:t>
            </a:r>
            <a:endParaRPr lang="en-US" sz="1150" dirty="0"/>
          </a:p>
        </p:txBody>
      </p:sp>
      <p:sp>
        <p:nvSpPr>
          <p:cNvPr id="21" name="Text 17"/>
          <p:cNvSpPr txBox="1"/>
          <p:nvPr/>
        </p:nvSpPr>
        <p:spPr>
          <a:xfrm>
            <a:off x="1124712" y="3977640"/>
            <a:ext cx="30815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アプリケーション → ユーティリティ</a:t>
            </a:r>
            <a:endParaRPr lang="en-US" sz="1000" dirty="0"/>
          </a:p>
        </p:txBody>
      </p:sp>
      <p:sp>
        <p:nvSpPr>
          <p:cNvPr id="22" name="Shape 18"/>
          <p:cNvSpPr/>
          <p:nvPr/>
        </p:nvSpPr>
        <p:spPr>
          <a:xfrm>
            <a:off x="685800" y="416052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685800" y="41605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Text 20"/>
          <p:cNvSpPr txBox="1"/>
          <p:nvPr/>
        </p:nvSpPr>
        <p:spPr>
          <a:xfrm>
            <a:off x="1124712" y="4169664"/>
            <a:ext cx="30815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「インストール」を押す</a:t>
            </a:r>
            <a:endParaRPr lang="en-US" sz="1150" dirty="0"/>
          </a:p>
        </p:txBody>
      </p:sp>
      <p:sp>
        <p:nvSpPr>
          <p:cNvPr id="25" name="Text 21"/>
          <p:cNvSpPr txBox="1"/>
          <p:nvPr/>
        </p:nvSpPr>
        <p:spPr>
          <a:xfrm>
            <a:off x="1124712" y="4434840"/>
            <a:ext cx="30815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番号が出たら、もう入っている</a:t>
            </a:r>
            <a:endParaRPr lang="en-US" sz="1000" dirty="0"/>
          </a:p>
        </p:txBody>
      </p:sp>
      <p:sp>
        <p:nvSpPr>
          <p:cNvPr id="26" name="Text 22"/>
          <p:cNvSpPr txBox="1"/>
          <p:nvPr/>
        </p:nvSpPr>
        <p:spPr>
          <a:xfrm>
            <a:off x="4663440" y="137160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名前を登録する（共通）</a:t>
            </a:r>
            <a:endParaRPr lang="en-US" sz="1300" dirty="0"/>
          </a:p>
        </p:txBody>
      </p:sp>
      <p:sp>
        <p:nvSpPr>
          <p:cNvPr id="27" name="Text 23"/>
          <p:cNvSpPr txBox="1"/>
          <p:nvPr/>
        </p:nvSpPr>
        <p:spPr>
          <a:xfrm>
            <a:off x="4663440" y="169164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VS Code を開き直す →「ターミナル」→「新しいターミナル」。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 行を 1 行ずつ入力して Enter。何も出なければ成功。</a:t>
            </a:r>
            <a:endParaRPr lang="en-US" sz="1050" dirty="0"/>
          </a:p>
        </p:txBody>
      </p:sp>
      <p:sp>
        <p:nvSpPr>
          <p:cNvPr id="28" name="Shape 24"/>
          <p:cNvSpPr/>
          <p:nvPr/>
        </p:nvSpPr>
        <p:spPr>
          <a:xfrm>
            <a:off x="4663440" y="2377440"/>
            <a:ext cx="4023360" cy="2240280"/>
          </a:xfrm>
          <a:prstGeom prst="rect">
            <a:avLst/>
          </a:prstGeom>
          <a:solidFill>
            <a:srgbClr val="1F1F1F"/>
          </a:solidFill>
          <a:ln w="12700">
            <a:solidFill>
              <a:srgbClr val="3C3C3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9" name="Shape 25"/>
          <p:cNvSpPr/>
          <p:nvPr/>
        </p:nvSpPr>
        <p:spPr>
          <a:xfrm>
            <a:off x="4663440" y="2377440"/>
            <a:ext cx="4023360" cy="274320"/>
          </a:xfrm>
          <a:prstGeom prst="rect">
            <a:avLst/>
          </a:prstGeom>
          <a:solidFill>
            <a:srgbClr val="3C3C3C"/>
          </a:solidFill>
          <a:ln w="12700">
            <a:solidFill>
              <a:srgbClr val="3C3C3C"/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>
            <a:off x="4791456" y="2468880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31" name="Shape 27"/>
          <p:cNvSpPr/>
          <p:nvPr/>
        </p:nvSpPr>
        <p:spPr>
          <a:xfrm>
            <a:off x="4956048" y="2468880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5120640" y="2468880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5349240" y="23774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ターミナル</a:t>
            </a:r>
            <a:endParaRPr lang="en-US" sz="900" dirty="0"/>
          </a:p>
        </p:txBody>
      </p:sp>
      <p:sp>
        <p:nvSpPr>
          <p:cNvPr id="34" name="Text 30"/>
          <p:cNvSpPr txBox="1"/>
          <p:nvPr/>
        </p:nvSpPr>
        <p:spPr>
          <a:xfrm>
            <a:off x="4846320" y="278892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git config --global user.name </a:t>
            </a:r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"name"</a:t>
            </a:r>
            <a:endParaRPr lang="en-US" sz="9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00000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9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CCCC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git config --global user.email </a:t>
            </a:r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"12345678+name@users.noreply.github.com"</a:t>
            </a:r>
            <a:endParaRPr lang="en-US" sz="950" dirty="0"/>
          </a:p>
        </p:txBody>
      </p:sp>
      <p:sp>
        <p:nvSpPr>
          <p:cNvPr id="35" name="Text 31"/>
          <p:cNvSpPr txBox="1"/>
          <p:nvPr/>
        </p:nvSpPr>
        <p:spPr>
          <a:xfrm>
            <a:off x="4846320" y="402336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"…" の中は自分の GitHub ユーザー名と、手順 2 でコピーした noreply のアドレス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02  ·  手順 5 / 8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Docker Desktop を入れる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4023360" cy="26974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1554480"/>
            <a:ext cx="274320" cy="2743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51560" y="1536192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Windows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685800" y="201168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011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1124712" y="202082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docker.com からダウンロード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1124712" y="2286000"/>
            <a:ext cx="31729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「Download for Windows - AMD64」</a:t>
            </a:r>
            <a:endParaRPr lang="en-US" sz="1000" dirty="0"/>
          </a:p>
        </p:txBody>
      </p:sp>
      <p:sp>
        <p:nvSpPr>
          <p:cNvPr id="11" name="Shape 8"/>
          <p:cNvSpPr/>
          <p:nvPr/>
        </p:nvSpPr>
        <p:spPr>
          <a:xfrm>
            <a:off x="685800" y="2496312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85800" y="24963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1124712" y="2505456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Installer.exe をダブルクリック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1124712" y="2770632"/>
            <a:ext cx="31729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「Use WSL 2」はチェックのまま OK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685800" y="2980944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685800" y="29809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1124712" y="2990088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「Close and restart」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1124712" y="3255264"/>
            <a:ext cx="31729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パソコンが再起動する</a:t>
            </a:r>
            <a:endParaRPr lang="en-US" sz="1000" dirty="0"/>
          </a:p>
        </p:txBody>
      </p:sp>
      <p:sp>
        <p:nvSpPr>
          <p:cNvPr id="19" name="Shape 16"/>
          <p:cNvSpPr/>
          <p:nvPr/>
        </p:nvSpPr>
        <p:spPr>
          <a:xfrm>
            <a:off x="685800" y="3465576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85800" y="346557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21" name="Text 18"/>
          <p:cNvSpPr txBox="1"/>
          <p:nvPr/>
        </p:nvSpPr>
        <p:spPr>
          <a:xfrm>
            <a:off x="1124712" y="3474720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利用規約は Accept</a:t>
            </a:r>
            <a:endParaRPr lang="en-US" sz="1150" dirty="0"/>
          </a:p>
        </p:txBody>
      </p:sp>
      <p:sp>
        <p:nvSpPr>
          <p:cNvPr id="22" name="Text 19"/>
          <p:cNvSpPr txBox="1"/>
          <p:nvPr/>
        </p:nvSpPr>
        <p:spPr>
          <a:xfrm>
            <a:off x="1124712" y="3739896"/>
            <a:ext cx="31729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サインインとアンケートは Skip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4663440" y="1371600"/>
            <a:ext cx="4023360" cy="26974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554480"/>
            <a:ext cx="274320" cy="274320"/>
          </a:xfrm>
          <a:prstGeom prst="rect">
            <a:avLst/>
          </a:prstGeom>
        </p:spPr>
      </p:pic>
      <p:sp>
        <p:nvSpPr>
          <p:cNvPr id="25" name="Text 21"/>
          <p:cNvSpPr txBox="1"/>
          <p:nvPr/>
        </p:nvSpPr>
        <p:spPr>
          <a:xfrm>
            <a:off x="5257800" y="1536192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Mac</a:t>
            </a:r>
            <a:endParaRPr lang="en-US" sz="1500" dirty="0"/>
          </a:p>
        </p:txBody>
      </p:sp>
      <p:sp>
        <p:nvSpPr>
          <p:cNvPr id="26" name="Shape 22"/>
          <p:cNvSpPr/>
          <p:nvPr/>
        </p:nvSpPr>
        <p:spPr>
          <a:xfrm>
            <a:off x="4892040" y="201168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4892040" y="2011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28" name="Text 24"/>
          <p:cNvSpPr txBox="1"/>
          <p:nvPr/>
        </p:nvSpPr>
        <p:spPr>
          <a:xfrm>
            <a:off x="5330952" y="2020824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チップを確かめる</a:t>
            </a:r>
            <a:endParaRPr lang="en-US" sz="1150" dirty="0"/>
          </a:p>
        </p:txBody>
      </p:sp>
      <p:sp>
        <p:nvSpPr>
          <p:cNvPr id="29" name="Text 25"/>
          <p:cNvSpPr txBox="1"/>
          <p:nvPr/>
        </p:nvSpPr>
        <p:spPr>
          <a:xfrm>
            <a:off x="5330952" y="2286000"/>
            <a:ext cx="31729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Apple メニュー →「この Mac について」</a:t>
            </a:r>
            <a:endParaRPr lang="en-US" sz="1000" dirty="0"/>
          </a:p>
        </p:txBody>
      </p:sp>
      <p:sp>
        <p:nvSpPr>
          <p:cNvPr id="30" name="Shape 26"/>
          <p:cNvSpPr/>
          <p:nvPr/>
        </p:nvSpPr>
        <p:spPr>
          <a:xfrm>
            <a:off x="4892040" y="2496312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4892040" y="24963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32" name="Text 28"/>
          <p:cNvSpPr txBox="1"/>
          <p:nvPr/>
        </p:nvSpPr>
        <p:spPr>
          <a:xfrm>
            <a:off x="5330952" y="2505456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合うものをダウンロード</a:t>
            </a:r>
            <a:endParaRPr lang="en-US" sz="1150" dirty="0"/>
          </a:p>
        </p:txBody>
      </p:sp>
      <p:sp>
        <p:nvSpPr>
          <p:cNvPr id="33" name="Text 29"/>
          <p:cNvSpPr txBox="1"/>
          <p:nvPr/>
        </p:nvSpPr>
        <p:spPr>
          <a:xfrm>
            <a:off x="5330952" y="2770632"/>
            <a:ext cx="31729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Apple Silicon（M1 以降）か Intel Chip</a:t>
            </a:r>
            <a:endParaRPr lang="en-US" sz="1000" dirty="0"/>
          </a:p>
        </p:txBody>
      </p:sp>
      <p:sp>
        <p:nvSpPr>
          <p:cNvPr id="34" name="Shape 30"/>
          <p:cNvSpPr/>
          <p:nvPr/>
        </p:nvSpPr>
        <p:spPr>
          <a:xfrm>
            <a:off x="4892040" y="2980944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4892040" y="29809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36" name="Text 32"/>
          <p:cNvSpPr txBox="1"/>
          <p:nvPr/>
        </p:nvSpPr>
        <p:spPr>
          <a:xfrm>
            <a:off x="5330952" y="2990088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Docker.dmg を開く</a:t>
            </a:r>
            <a:endParaRPr lang="en-US" sz="1150" dirty="0"/>
          </a:p>
        </p:txBody>
      </p:sp>
      <p:sp>
        <p:nvSpPr>
          <p:cNvPr id="37" name="Text 33"/>
          <p:cNvSpPr txBox="1"/>
          <p:nvPr/>
        </p:nvSpPr>
        <p:spPr>
          <a:xfrm>
            <a:off x="5330952" y="3255264"/>
            <a:ext cx="31729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クジラを Applications へドラッグ</a:t>
            </a:r>
            <a:endParaRPr lang="en-US" sz="1000" dirty="0"/>
          </a:p>
        </p:txBody>
      </p:sp>
      <p:sp>
        <p:nvSpPr>
          <p:cNvPr id="38" name="Shape 34"/>
          <p:cNvSpPr/>
          <p:nvPr/>
        </p:nvSpPr>
        <p:spPr>
          <a:xfrm>
            <a:off x="4892040" y="3465576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4892040" y="346557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40" name="Text 36"/>
          <p:cNvSpPr txBox="1"/>
          <p:nvPr/>
        </p:nvSpPr>
        <p:spPr>
          <a:xfrm>
            <a:off x="5330952" y="3474720"/>
            <a:ext cx="3172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開いて Accept</a:t>
            </a:r>
            <a:endParaRPr lang="en-US" sz="1150" dirty="0"/>
          </a:p>
        </p:txBody>
      </p:sp>
      <p:sp>
        <p:nvSpPr>
          <p:cNvPr id="41" name="Text 37"/>
          <p:cNvSpPr txBox="1"/>
          <p:nvPr/>
        </p:nvSpPr>
        <p:spPr>
          <a:xfrm>
            <a:off x="5330952" y="3739896"/>
            <a:ext cx="3172968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おすすめ設定のまま。サインインは Skip</a:t>
            </a:r>
            <a:endParaRPr lang="en-US" sz="1000" dirty="0"/>
          </a:p>
        </p:txBody>
      </p:sp>
      <p:sp>
        <p:nvSpPr>
          <p:cNvPr id="42" name="Shape 38"/>
          <p:cNvSpPr/>
          <p:nvPr/>
        </p:nvSpPr>
        <p:spPr>
          <a:xfrm>
            <a:off x="457200" y="4206240"/>
            <a:ext cx="2057400" cy="365760"/>
          </a:xfrm>
          <a:prstGeom prst="rect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>
            <a:off x="594360" y="4325112"/>
            <a:ext cx="128016" cy="128016"/>
          </a:xfrm>
          <a:prstGeom prst="ellipse">
            <a:avLst/>
          </a:prstGeom>
          <a:solidFill>
            <a:srgbClr val="2EA043"/>
          </a:solidFill>
          <a:ln w="12700">
            <a:solidFill>
              <a:srgbClr val="2EA043"/>
            </a:solidFill>
            <a:prstDash val="solid"/>
          </a:ln>
        </p:spPr>
      </p:sp>
      <p:sp>
        <p:nvSpPr>
          <p:cNvPr id="44" name="Text 40"/>
          <p:cNvSpPr txBox="1"/>
          <p:nvPr/>
        </p:nvSpPr>
        <p:spPr>
          <a:xfrm>
            <a:off x="822960" y="420624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Engine running</a:t>
            </a:r>
            <a:endParaRPr lang="en-US" sz="1100" dirty="0"/>
          </a:p>
        </p:txBody>
      </p:sp>
      <p:sp>
        <p:nvSpPr>
          <p:cNvPr id="45" name="Text 41"/>
          <p:cNvSpPr txBox="1"/>
          <p:nvPr/>
        </p:nvSpPr>
        <p:spPr>
          <a:xfrm>
            <a:off x="2697480" y="4187952"/>
            <a:ext cx="5989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左下がこの表示（緑）になれば完了。Windows で「WSL の更新が必要」と出たら、管理者の PowerShell で wsl --update。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02  ·  手順 6 / 8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VS Code に Dev Containers を入れる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417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42646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左端の「拡張機能」を押す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691640"/>
            <a:ext cx="3767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四角が 4 つのアイコン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2167128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1671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2176272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「Dev Containers」で検索する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57200" y="2916936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57200" y="29169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896112" y="2926080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Microsoft のものをインストール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3191256"/>
            <a:ext cx="3767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青いチェックマーク付き（右の画面）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457200" y="3666744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7200" y="36667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896112" y="3675888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左下に青いマークが出れば完了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896112" y="3941064"/>
            <a:ext cx="3767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VS Code から Docker を使えるようになる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937760" y="1417320"/>
            <a:ext cx="3749040" cy="3017520"/>
          </a:xfrm>
          <a:prstGeom prst="rect">
            <a:avLst/>
          </a:prstGeom>
          <a:solidFill>
            <a:srgbClr val="1F1F1F"/>
          </a:solidFill>
          <a:ln w="12700">
            <a:solidFill>
              <a:srgbClr val="3C3C3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937760" y="1417320"/>
            <a:ext cx="3749040" cy="274320"/>
          </a:xfrm>
          <a:prstGeom prst="rect">
            <a:avLst/>
          </a:prstGeom>
          <a:solidFill>
            <a:srgbClr val="3C3C3C"/>
          </a:solidFill>
          <a:ln w="12700">
            <a:solidFill>
              <a:srgbClr val="3C3C3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065776" y="1508760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230368" y="1508760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394960" y="1508760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5623560" y="141732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拡張機能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120640" y="1828800"/>
            <a:ext cx="3383280" cy="310896"/>
          </a:xfrm>
          <a:prstGeom prst="rect">
            <a:avLst/>
          </a:prstGeom>
          <a:solidFill>
            <a:srgbClr val="3C3C3C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212080" y="182880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 Containers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5120640" y="2286000"/>
            <a:ext cx="3383280" cy="1188720"/>
          </a:xfrm>
          <a:prstGeom prst="rect">
            <a:avLst/>
          </a:prstGeom>
          <a:solidFill>
            <a:srgbClr val="04395E"/>
          </a:solidFill>
          <a:ln w="12700">
            <a:solidFill>
              <a:srgbClr val="04395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257800" y="2423160"/>
            <a:ext cx="502920" cy="50292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pic>
        <p:nvPicPr>
          <p:cNvPr id="2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67528" y="2532888"/>
            <a:ext cx="283464" cy="283464"/>
          </a:xfrm>
          <a:prstGeom prst="rect">
            <a:avLst/>
          </a:prstGeom>
        </p:spPr>
      </p:pic>
      <p:sp>
        <p:nvSpPr>
          <p:cNvPr id="30" name="Text 27"/>
          <p:cNvSpPr txBox="1"/>
          <p:nvPr/>
        </p:nvSpPr>
        <p:spPr>
          <a:xfrm>
            <a:off x="5897880" y="2395728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 Containers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5897880" y="267919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Microsoft</a:t>
            </a:r>
            <a:endParaRPr lang="en-US" sz="950" dirty="0"/>
          </a:p>
        </p:txBody>
      </p:sp>
      <p:pic>
        <p:nvPicPr>
          <p:cNvPr id="3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10528" y="2715768"/>
            <a:ext cx="146304" cy="146304"/>
          </a:xfrm>
          <a:prstGeom prst="rect">
            <a:avLst/>
          </a:prstGeom>
        </p:spPr>
      </p:pic>
      <p:sp>
        <p:nvSpPr>
          <p:cNvPr id="33" name="Shape 29"/>
          <p:cNvSpPr/>
          <p:nvPr/>
        </p:nvSpPr>
        <p:spPr>
          <a:xfrm>
            <a:off x="7543800" y="3063240"/>
            <a:ext cx="868680" cy="27432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34" name="Text 30"/>
          <p:cNvSpPr txBox="1"/>
          <p:nvPr/>
        </p:nvSpPr>
        <p:spPr>
          <a:xfrm>
            <a:off x="7543800" y="306324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インストール</a:t>
            </a:r>
            <a:endParaRPr lang="en-US" sz="900" dirty="0"/>
          </a:p>
        </p:txBody>
      </p:sp>
      <p:sp>
        <p:nvSpPr>
          <p:cNvPr id="35" name="Shape 31"/>
          <p:cNvSpPr/>
          <p:nvPr/>
        </p:nvSpPr>
        <p:spPr>
          <a:xfrm>
            <a:off x="4937760" y="4160520"/>
            <a:ext cx="3749040" cy="274320"/>
          </a:xfrm>
          <a:prstGeom prst="rect">
            <a:avLst/>
          </a:prstGeom>
          <a:solidFill>
            <a:srgbClr val="181818"/>
          </a:solidFill>
          <a:ln w="12700">
            <a:solidFill>
              <a:srgbClr val="181818"/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4937760" y="4160520"/>
            <a:ext cx="411480" cy="27432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4937760" y="4160520"/>
            <a:ext cx="411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&gt;&lt;</a:t>
            </a:r>
            <a:endParaRPr lang="en-US" sz="1000" dirty="0"/>
          </a:p>
        </p:txBody>
      </p:sp>
      <p:sp>
        <p:nvSpPr>
          <p:cNvPr id="38" name="Text 34"/>
          <p:cNvSpPr txBox="1"/>
          <p:nvPr/>
        </p:nvSpPr>
        <p:spPr>
          <a:xfrm>
            <a:off x="5440680" y="4160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B8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← このマーク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02  ·  手順 7 / 8（1 / 2）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リポジトリの URL をコピーする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4343400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640080" y="141732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クローン（チェックアウト）とは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719072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 にある WG のコード一式（リポジトリ）を、自分の作業部屋に写してくること。写したもので作業し、GitHub に送り返す（資料 03）。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640080" y="2212848"/>
            <a:ext cx="841248" cy="219456"/>
          </a:xfrm>
          <a:prstGeom prst="roundRect">
            <a:avLst>
              <a:gd name="adj" fmla="val 50000"/>
            </a:avLst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0080" y="2212848"/>
            <a:ext cx="84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1499616" y="2322576"/>
            <a:ext cx="146304" cy="0"/>
          </a:xfrm>
          <a:prstGeom prst="line">
            <a:avLst/>
          </a:prstGeom>
          <a:noFill/>
          <a:ln w="12700">
            <a:solidFill>
              <a:srgbClr val="1A4A70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1664208" y="2212848"/>
            <a:ext cx="841248" cy="219456"/>
          </a:xfrm>
          <a:prstGeom prst="roundRect">
            <a:avLst>
              <a:gd name="adj" fmla="val 50000"/>
            </a:avLst>
          </a:prstGeom>
          <a:solidFill>
            <a:srgbClr val="E4F2FF"/>
          </a:solidFill>
          <a:ln w="12700">
            <a:solidFill>
              <a:srgbClr val="E4F2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664208" y="2212848"/>
            <a:ext cx="84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4A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クローン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2523744" y="2322576"/>
            <a:ext cx="146304" cy="0"/>
          </a:xfrm>
          <a:prstGeom prst="line">
            <a:avLst/>
          </a:prstGeom>
          <a:noFill/>
          <a:ln w="12700">
            <a:solidFill>
              <a:srgbClr val="1A4A70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2688336" y="2212848"/>
            <a:ext cx="841248" cy="219456"/>
          </a:xfrm>
          <a:prstGeom prst="roundRect">
            <a:avLst>
              <a:gd name="adj" fmla="val 50000"/>
            </a:avLst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688336" y="2212848"/>
            <a:ext cx="84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作業部屋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547872" y="2322576"/>
            <a:ext cx="146304" cy="0"/>
          </a:xfrm>
          <a:prstGeom prst="line">
            <a:avLst/>
          </a:prstGeom>
          <a:noFill/>
          <a:ln w="12700">
            <a:solidFill>
              <a:srgbClr val="1A4A70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3712464" y="2212848"/>
            <a:ext cx="841248" cy="219456"/>
          </a:xfrm>
          <a:prstGeom prst="roundRect">
            <a:avLst>
              <a:gd name="adj" fmla="val 50000"/>
            </a:avLst>
          </a:prstGeom>
          <a:solidFill>
            <a:srgbClr val="E4F2FF"/>
          </a:solidFill>
          <a:ln w="12700">
            <a:solidFill>
              <a:srgbClr val="E4F2F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712464" y="2212848"/>
            <a:ext cx="8412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4A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送り返す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57200" y="269748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57200" y="26974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896112" y="2706624"/>
            <a:ext cx="3904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のリポジトリを開く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896112" y="2971800"/>
            <a:ext cx="3904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github.com/funITclub/wg-&lt;名前&gt;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457200" y="3172968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57200" y="31729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896112" y="3182112"/>
            <a:ext cx="3904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緑の「Code」を押す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896112" y="3447288"/>
            <a:ext cx="3904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リポジトリの画面の右上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457200" y="3648456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57200" y="364845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896112" y="3657600"/>
            <a:ext cx="3904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「Local」→「HTTPS」を選ぶ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457200" y="4123944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457200" y="41239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896112" y="4133088"/>
            <a:ext cx="3904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URL をコピーする</a:t>
            </a:r>
            <a:endParaRPr lang="en-US" sz="1250" dirty="0"/>
          </a:p>
        </p:txBody>
      </p:sp>
      <p:sp>
        <p:nvSpPr>
          <p:cNvPr id="32" name="Text 30"/>
          <p:cNvSpPr txBox="1"/>
          <p:nvPr/>
        </p:nvSpPr>
        <p:spPr>
          <a:xfrm>
            <a:off x="896112" y="4398264"/>
            <a:ext cx="3904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URL の右のコピーのボタン（右の画面）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4983480" y="1325880"/>
            <a:ext cx="370332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983480" y="1325880"/>
            <a:ext cx="3703320" cy="274320"/>
          </a:xfrm>
          <a:prstGeom prst="rect">
            <a:avLst/>
          </a:prstGeom>
          <a:solidFill>
            <a:srgbClr val="E3E7EB"/>
          </a:solidFill>
          <a:ln w="12700">
            <a:solidFill>
              <a:srgbClr val="E3E7E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111496" y="1417320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276088" y="1417320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440680" y="1417320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5669280" y="132588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github.com/funITclub/wg-protein</a:t>
            </a:r>
            <a:endParaRPr lang="en-US" sz="900" dirty="0"/>
          </a:p>
        </p:txBody>
      </p:sp>
      <p:pic>
        <p:nvPicPr>
          <p:cNvPr id="3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184648" y="1783080"/>
            <a:ext cx="182880" cy="182880"/>
          </a:xfrm>
          <a:prstGeom prst="rect">
            <a:avLst/>
          </a:prstGeom>
        </p:spPr>
      </p:pic>
      <p:sp>
        <p:nvSpPr>
          <p:cNvPr id="40" name="Text 37"/>
          <p:cNvSpPr txBox="1"/>
          <p:nvPr/>
        </p:nvSpPr>
        <p:spPr>
          <a:xfrm>
            <a:off x="5440680" y="173736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0078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funITclub / </a:t>
            </a:r>
            <a:pPr indent="0" marL="0">
              <a:buNone/>
            </a:pPr>
            <a:r>
              <a:rPr lang="en-US" sz="1050" b="1" dirty="0">
                <a:solidFill>
                  <a:srgbClr val="0078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wg-protein</a:t>
            </a:r>
            <a:endParaRPr lang="en-US" sz="1050" dirty="0"/>
          </a:p>
        </p:txBody>
      </p:sp>
      <p:sp>
        <p:nvSpPr>
          <p:cNvPr id="41" name="Shape 38"/>
          <p:cNvSpPr/>
          <p:nvPr/>
        </p:nvSpPr>
        <p:spPr>
          <a:xfrm>
            <a:off x="7772400" y="1755648"/>
            <a:ext cx="713232" cy="256032"/>
          </a:xfrm>
          <a:prstGeom prst="rect">
            <a:avLst/>
          </a:prstGeom>
          <a:solidFill>
            <a:srgbClr val="1F883D"/>
          </a:solidFill>
          <a:ln w="12700">
            <a:solidFill>
              <a:srgbClr val="1F883D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7772400" y="1755648"/>
            <a:ext cx="7132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&lt;&gt; Code  ▾</a:t>
            </a:r>
            <a:endParaRPr lang="en-US" sz="850" dirty="0"/>
          </a:p>
        </p:txBody>
      </p:sp>
      <p:sp>
        <p:nvSpPr>
          <p:cNvPr id="43" name="Shape 40"/>
          <p:cNvSpPr/>
          <p:nvPr/>
        </p:nvSpPr>
        <p:spPr>
          <a:xfrm>
            <a:off x="5486400" y="2148840"/>
            <a:ext cx="3017520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7DE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44" name="Text 41"/>
          <p:cNvSpPr txBox="1"/>
          <p:nvPr/>
        </p:nvSpPr>
        <p:spPr>
          <a:xfrm>
            <a:off x="5623560" y="2221992"/>
            <a:ext cx="731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</a:t>
            </a:r>
            <a:endParaRPr lang="en-US" sz="900" dirty="0"/>
          </a:p>
        </p:txBody>
      </p:sp>
      <p:sp>
        <p:nvSpPr>
          <p:cNvPr id="45" name="Shape 42"/>
          <p:cNvSpPr/>
          <p:nvPr/>
        </p:nvSpPr>
        <p:spPr>
          <a:xfrm>
            <a:off x="5669280" y="2478024"/>
            <a:ext cx="640080" cy="0"/>
          </a:xfrm>
          <a:prstGeom prst="line">
            <a:avLst/>
          </a:prstGeom>
          <a:noFill/>
          <a:ln w="25400">
            <a:solidFill>
              <a:srgbClr val="FD8C73"/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6400800" y="222199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963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Codespaces</a:t>
            </a:r>
            <a:endParaRPr lang="en-US" sz="900" dirty="0"/>
          </a:p>
        </p:txBody>
      </p:sp>
      <p:sp>
        <p:nvSpPr>
          <p:cNvPr id="47" name="Shape 44"/>
          <p:cNvSpPr/>
          <p:nvPr/>
        </p:nvSpPr>
        <p:spPr>
          <a:xfrm>
            <a:off x="5486400" y="2514600"/>
            <a:ext cx="3017520" cy="0"/>
          </a:xfrm>
          <a:prstGeom prst="line">
            <a:avLst/>
          </a:prstGeom>
          <a:noFill/>
          <a:ln w="9525">
            <a:solidFill>
              <a:srgbClr val="D0D7DE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5623560" y="260604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Clone</a:t>
            </a:r>
            <a:endParaRPr lang="en-US" sz="950" dirty="0"/>
          </a:p>
        </p:txBody>
      </p:sp>
      <p:sp>
        <p:nvSpPr>
          <p:cNvPr id="49" name="Text 46"/>
          <p:cNvSpPr txBox="1"/>
          <p:nvPr/>
        </p:nvSpPr>
        <p:spPr>
          <a:xfrm>
            <a:off x="5623560" y="2898648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F23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</a:t>
            </a:r>
            <a:endParaRPr lang="en-US" sz="850" dirty="0"/>
          </a:p>
        </p:txBody>
      </p:sp>
      <p:sp>
        <p:nvSpPr>
          <p:cNvPr id="50" name="Text 47"/>
          <p:cNvSpPr txBox="1"/>
          <p:nvPr/>
        </p:nvSpPr>
        <p:spPr>
          <a:xfrm>
            <a:off x="6309360" y="2898648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963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SSH</a:t>
            </a:r>
            <a:endParaRPr lang="en-US" sz="850" dirty="0"/>
          </a:p>
        </p:txBody>
      </p:sp>
      <p:sp>
        <p:nvSpPr>
          <p:cNvPr id="51" name="Text 48"/>
          <p:cNvSpPr txBox="1"/>
          <p:nvPr/>
        </p:nvSpPr>
        <p:spPr>
          <a:xfrm>
            <a:off x="6995160" y="2898648"/>
            <a:ext cx="685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963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CLI</a:t>
            </a:r>
            <a:endParaRPr lang="en-US" sz="850" dirty="0"/>
          </a:p>
        </p:txBody>
      </p:sp>
      <p:sp>
        <p:nvSpPr>
          <p:cNvPr id="52" name="Shape 49"/>
          <p:cNvSpPr/>
          <p:nvPr/>
        </p:nvSpPr>
        <p:spPr>
          <a:xfrm>
            <a:off x="5669280" y="3136392"/>
            <a:ext cx="594360" cy="0"/>
          </a:xfrm>
          <a:prstGeom prst="line">
            <a:avLst/>
          </a:prstGeom>
          <a:noFill/>
          <a:ln w="25400">
            <a:solidFill>
              <a:srgbClr val="FD8C73"/>
            </a:solidFill>
            <a:prstDash val="solid"/>
          </a:ln>
        </p:spPr>
      </p:sp>
      <p:sp>
        <p:nvSpPr>
          <p:cNvPr id="53" name="Shape 50"/>
          <p:cNvSpPr/>
          <p:nvPr/>
        </p:nvSpPr>
        <p:spPr>
          <a:xfrm>
            <a:off x="5623560" y="3291840"/>
            <a:ext cx="2423160" cy="310896"/>
          </a:xfrm>
          <a:prstGeom prst="rect">
            <a:avLst/>
          </a:prstGeom>
          <a:solidFill>
            <a:srgbClr val="F6F8FA"/>
          </a:solidFill>
          <a:ln w="12700">
            <a:solidFill>
              <a:srgbClr val="D0D7DE"/>
            </a:solidFill>
            <a:prstDash val="solid"/>
          </a:ln>
        </p:spPr>
      </p:sp>
      <p:sp>
        <p:nvSpPr>
          <p:cNvPr id="54" name="Text 51"/>
          <p:cNvSpPr txBox="1"/>
          <p:nvPr/>
        </p:nvSpPr>
        <p:spPr>
          <a:xfrm>
            <a:off x="5687568" y="3291840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F232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https://github.com/funITclub/wg-protein.git</a:t>
            </a:r>
            <a:endParaRPr lang="en-US" sz="750" dirty="0"/>
          </a:p>
        </p:txBody>
      </p:sp>
      <p:sp>
        <p:nvSpPr>
          <p:cNvPr id="55" name="Shape 52"/>
          <p:cNvSpPr/>
          <p:nvPr/>
        </p:nvSpPr>
        <p:spPr>
          <a:xfrm>
            <a:off x="8092440" y="3291840"/>
            <a:ext cx="292608" cy="310896"/>
          </a:xfrm>
          <a:prstGeom prst="rect">
            <a:avLst/>
          </a:prstGeom>
          <a:solidFill>
            <a:srgbClr val="F6F8FA"/>
          </a:solidFill>
          <a:ln w="12700">
            <a:solidFill>
              <a:srgbClr val="D0D7DE"/>
            </a:solidFill>
            <a:prstDash val="solid"/>
          </a:ln>
        </p:spPr>
      </p:sp>
      <p:pic>
        <p:nvPicPr>
          <p:cNvPr id="5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65592" y="3364992"/>
            <a:ext cx="146304" cy="164592"/>
          </a:xfrm>
          <a:prstGeom prst="rect">
            <a:avLst/>
          </a:prstGeom>
        </p:spPr>
      </p:pic>
      <p:sp>
        <p:nvSpPr>
          <p:cNvPr id="57" name="Text 53"/>
          <p:cNvSpPr txBox="1"/>
          <p:nvPr/>
        </p:nvSpPr>
        <p:spPr>
          <a:xfrm>
            <a:off x="5623560" y="370332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A4A70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← ここを押すとコピーされる</a:t>
            </a:r>
            <a:endParaRPr lang="en-US" sz="850" dirty="0"/>
          </a:p>
        </p:txBody>
      </p:sp>
      <p:sp>
        <p:nvSpPr>
          <p:cNvPr id="58" name="Text 54"/>
          <p:cNvSpPr txBox="1"/>
          <p:nvPr/>
        </p:nvSpPr>
        <p:spPr>
          <a:xfrm>
            <a:off x="457200" y="46634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リポジトリの名前は WG のチームと同じ（例：wg-protein）。分からなければ WG の仲間か運営に聞く。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02  ·  手順 7 / 8（2 / 2）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VS Code でクローンして開く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37160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38074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Docker Desktop を起動しておく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645920"/>
            <a:ext cx="3858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左下が緑の Engine running になるまで待つ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201168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0116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202082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「表示」→「コマンド パレット」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2286000"/>
            <a:ext cx="3858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Ctrl + Shift + P（Mac は Cmd + Shift + P）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265176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6517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266090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Clone Repository in Container Volume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896112" y="2926080"/>
            <a:ext cx="3858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と入力し、出てきた項目を選ぶ（右の画面）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329184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2918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896112" y="330098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コピーした URL を貼って Enter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896112" y="3566160"/>
            <a:ext cx="3858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警告が出たら funITclub の URL か確かめて進む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57200" y="393192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457200" y="39319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896112" y="3941064"/>
            <a:ext cx="38587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5〜10 分待つ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896112" y="4206240"/>
            <a:ext cx="38587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「準備ができました。」と出たら完了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983480" y="1371600"/>
            <a:ext cx="3703320" cy="3246120"/>
          </a:xfrm>
          <a:prstGeom prst="rect">
            <a:avLst/>
          </a:prstGeom>
          <a:solidFill>
            <a:srgbClr val="1F1F1F"/>
          </a:solidFill>
          <a:ln w="12700">
            <a:solidFill>
              <a:srgbClr val="3C3C3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983480" y="1371600"/>
            <a:ext cx="3703320" cy="274320"/>
          </a:xfrm>
          <a:prstGeom prst="rect">
            <a:avLst/>
          </a:prstGeom>
          <a:solidFill>
            <a:srgbClr val="3C3C3C"/>
          </a:solidFill>
          <a:ln w="12700">
            <a:solidFill>
              <a:srgbClr val="3C3C3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111496" y="1463040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276088" y="1463040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440680" y="1463040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669280" y="1371600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コマンド パレット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166360" y="1783080"/>
            <a:ext cx="3337560" cy="310896"/>
          </a:xfrm>
          <a:prstGeom prst="rect">
            <a:avLst/>
          </a:prstGeom>
          <a:solidFill>
            <a:srgbClr val="3C3C3C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257800" y="1783080"/>
            <a:ext cx="3246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&gt;Clone Repository in Container Volume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5166360" y="2148840"/>
            <a:ext cx="3337560" cy="502920"/>
          </a:xfrm>
          <a:prstGeom prst="rect">
            <a:avLst/>
          </a:prstGeom>
          <a:solidFill>
            <a:srgbClr val="04395E"/>
          </a:solidFill>
          <a:ln w="12700">
            <a:solidFill>
              <a:srgbClr val="04395E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5257800" y="2176272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開発コンテナー: コンテナー ボリュームにリポジトリを複製...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5257800" y="2404872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 Containers: Clone Repository in Container Volume...</a:t>
            </a:r>
            <a:endParaRPr lang="en-US" sz="750" dirty="0"/>
          </a:p>
        </p:txBody>
      </p:sp>
      <p:sp>
        <p:nvSpPr>
          <p:cNvPr id="35" name="Text 33"/>
          <p:cNvSpPr txBox="1"/>
          <p:nvPr/>
        </p:nvSpPr>
        <p:spPr>
          <a:xfrm>
            <a:off x="5212080" y="2880360"/>
            <a:ext cx="1828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5BB8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URL の例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5166360" y="3154680"/>
            <a:ext cx="3337560" cy="310896"/>
          </a:xfrm>
          <a:prstGeom prst="rect">
            <a:avLst/>
          </a:prstGeom>
          <a:solidFill>
            <a:srgbClr val="3C3C3C"/>
          </a:solidFill>
          <a:ln w="12700">
            <a:solidFill>
              <a:srgbClr val="555555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5257800" y="3154680"/>
            <a:ext cx="3246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https://github.com/funITclub/wg-&lt;名前&gt;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5166360" y="3657600"/>
            <a:ext cx="3337560" cy="731520"/>
          </a:xfrm>
          <a:prstGeom prst="rect">
            <a:avLst/>
          </a:prstGeom>
          <a:solidFill>
            <a:srgbClr val="0A2A4A"/>
          </a:solidFill>
          <a:ln w="12700">
            <a:solidFill>
              <a:srgbClr val="0A2A4A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5303520" y="3730752"/>
            <a:ext cx="3063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準備ができました。</a:t>
            </a:r>
            <a:endParaRPr lang="en-US" sz="1050" dirty="0"/>
          </a:p>
          <a:p>
            <a:pPr indent="0" marL="0">
              <a:buNone/>
            </a:pPr>
            <a:r>
              <a:rPr lang="en-US" sz="105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F5 でサイトを起動できます。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02  ·  手順 8 / 8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サイトを起動して確かめる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4173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96112" y="1426464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左下を確かめる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1691640"/>
            <a:ext cx="3767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「開発コンテナー: funITclub …」と出ていれば作業部屋の中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57200" y="2167128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" y="21671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2176272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F5 キーを押す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896112" y="2441448"/>
            <a:ext cx="3767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Mac のノートは fn + F5。「実行」→「デバッグの開始」でもよい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57200" y="2916936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29169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96112" y="2926080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「ブラウザーで開く」を押す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896112" y="3191256"/>
            <a:ext cx="3767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出なければブラウザで http://localhost:8000/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" y="3666744"/>
            <a:ext cx="310896" cy="310896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6667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896112" y="3675888"/>
            <a:ext cx="3767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止めるときは ■ ボタン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896112" y="3941064"/>
            <a:ext cx="37673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または Shift + F5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937760" y="1417320"/>
            <a:ext cx="3749040" cy="3017520"/>
          </a:xfrm>
          <a:prstGeom prst="rect">
            <a:avLst/>
          </a:prstGeom>
          <a:solidFill>
            <a:srgbClr val="1F1F1F"/>
          </a:solidFill>
          <a:ln w="12700">
            <a:solidFill>
              <a:srgbClr val="3C3C3C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937760" y="1417320"/>
            <a:ext cx="3749040" cy="274320"/>
          </a:xfrm>
          <a:prstGeom prst="rect">
            <a:avLst/>
          </a:prstGeom>
          <a:solidFill>
            <a:srgbClr val="3C3C3C"/>
          </a:solidFill>
          <a:ln w="12700">
            <a:solidFill>
              <a:srgbClr val="3C3C3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065776" y="1508760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230368" y="1508760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394960" y="1508760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623560" y="141732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VS Code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760720" y="2148840"/>
            <a:ext cx="2743200" cy="1051560"/>
          </a:xfrm>
          <a:prstGeom prst="rect">
            <a:avLst/>
          </a:prstGeom>
          <a:solidFill>
            <a:srgbClr val="252526"/>
          </a:solidFill>
          <a:ln w="12700">
            <a:solidFill>
              <a:srgbClr val="454545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2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97880" y="2286000"/>
            <a:ext cx="164592" cy="164592"/>
          </a:xfrm>
          <a:prstGeom prst="rect">
            <a:avLst/>
          </a:prstGeom>
        </p:spPr>
      </p:pic>
      <p:sp>
        <p:nvSpPr>
          <p:cNvPr id="28" name="Text 25"/>
          <p:cNvSpPr txBox="1"/>
          <p:nvPr/>
        </p:nvSpPr>
        <p:spPr>
          <a:xfrm>
            <a:off x="6144768" y="224028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CCCCC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ポート 8000 で実行されているアプリケーションは使用可能です。</a:t>
            </a:r>
            <a:endParaRPr lang="en-US" sz="900" dirty="0"/>
          </a:p>
        </p:txBody>
      </p:sp>
      <p:sp>
        <p:nvSpPr>
          <p:cNvPr id="29" name="Shape 26"/>
          <p:cNvSpPr/>
          <p:nvPr/>
        </p:nvSpPr>
        <p:spPr>
          <a:xfrm>
            <a:off x="7452360" y="2807208"/>
            <a:ext cx="1005840" cy="27432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452360" y="280720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ブラウザーで開く</a:t>
            </a:r>
            <a:endParaRPr lang="en-US" sz="850" dirty="0"/>
          </a:p>
        </p:txBody>
      </p:sp>
      <p:sp>
        <p:nvSpPr>
          <p:cNvPr id="31" name="Shape 28"/>
          <p:cNvSpPr/>
          <p:nvPr/>
        </p:nvSpPr>
        <p:spPr>
          <a:xfrm>
            <a:off x="5120640" y="3383280"/>
            <a:ext cx="3383280" cy="640080"/>
          </a:xfrm>
          <a:prstGeom prst="rect">
            <a:avLst/>
          </a:prstGeom>
          <a:solidFill>
            <a:srgbClr val="18181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5212080" y="342900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CCC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Starting development server at http://127.0.0.1:8000/</a:t>
            </a:r>
            <a:endParaRPr lang="en-US" sz="850" dirty="0"/>
          </a:p>
        </p:txBody>
      </p:sp>
      <p:sp>
        <p:nvSpPr>
          <p:cNvPr id="33" name="Shape 30"/>
          <p:cNvSpPr/>
          <p:nvPr/>
        </p:nvSpPr>
        <p:spPr>
          <a:xfrm>
            <a:off x="4937760" y="4160520"/>
            <a:ext cx="3749040" cy="274320"/>
          </a:xfrm>
          <a:prstGeom prst="rect">
            <a:avLst/>
          </a:prstGeom>
          <a:solidFill>
            <a:srgbClr val="181818"/>
          </a:solidFill>
          <a:ln w="12700">
            <a:solidFill>
              <a:srgbClr val="181818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4937760" y="4160520"/>
            <a:ext cx="2377440" cy="27432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5029200" y="416052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&gt;&lt; 開発コンテナー: funITclub WG</a:t>
            </a:r>
            <a:endParaRPr lang="en-US" sz="900" dirty="0"/>
          </a:p>
        </p:txBody>
      </p:sp>
      <p:sp>
        <p:nvSpPr>
          <p:cNvPr id="36" name="Text 33"/>
          <p:cNvSpPr txBox="1"/>
          <p:nvPr/>
        </p:nvSpPr>
        <p:spPr>
          <a:xfrm>
            <a:off x="457200" y="45720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サイトが表示されたら準備は終わり。毎日の作業は資料 03「開発の進め方」へ。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02  ·  困ったとき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よくあるつまずき</a:t>
            </a:r>
            <a:endParaRPr lang="en-US" sz="26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822960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493776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こうなったら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E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こうする</a:t>
                      </a:r>
                      <a:endParaRPr lang="en-US" sz="110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1E3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確認のメールが届かない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迷惑メールを見る。なければ「WG に参加」からやり直す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「メンバーとして確認できません」と届いた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Classroom に登録したアドレスで試す。駄目なら運営へ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Docker に接続できない、と出る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Docker Desktop を起動し、緑になってから開き直す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「WSL の更新が必要」と出る（Windows）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管理者の PowerShell で wsl --update。終わったら再起動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「仮想化が無効」と出る（Windows）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パソコンの設定（BIOS）の変更が要る。運営に相談する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左下に「開発コンテナー」が出ていない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左下の青いマーク →「コンテナーで再度開く」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001E3C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ブラウザで開けない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B2B3A"/>
                          </a:solidFill>
                          <a:latin typeface="Meiryo" pitchFamily="34" charset="0"/>
                          <a:ea typeface="Meiryo" pitchFamily="34" charset="-122"/>
                          <a:cs typeface="Meiryo" pitchFamily="34" charset="-120"/>
                        </a:rPr>
                        <a:t>下の「ポート」タブに 8000 があるか確かめる</a:t>
                      </a:r>
                      <a:endParaRPr lang="en-US" sz="1050" dirty="0">
                        <a:latin typeface="Meiryo" charset="0"/>
                        <a:ea typeface="Meiryo" charset="0"/>
                        <a:cs typeface="Meiryo" charset="0"/>
                      </a:endParaRPr>
                    </a:p>
                  </a:txBody>
                  <a:tcPr marL="7315200" marR="7315200" marT="0" marB="0" anchor="ctr">
                    <a:lnL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457200" y="4434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それでも進まないときは、画面のスクリーンショットと「どの資料の、手順の何番で止まったか」を添えて運営へ。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WG 立ち上げガイド 02 パソコンの準備</dc:title>
  <dc:subject>PptxGenJS Presentation</dc:subject>
  <dc:creator>PptxGenJS</dc:creator>
  <cp:lastModifiedBy>PptxGenJS</cp:lastModifiedBy>
  <cp:revision>1</cp:revision>
  <dcterms:created xsi:type="dcterms:W3CDTF">2026-09-19T08:00:56Z</dcterms:created>
  <dcterms:modified xsi:type="dcterms:W3CDTF">2026-09-19T08:00:56Z</dcterms:modified>
</cp:coreProperties>
</file>