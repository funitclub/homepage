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メンバー全員が一度だけやる準備です。つまずいたら、画面のスクリーンショットと「手順の何番で止まったか」を添えて運営に聞いてください。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途中で止めても、次は続きの手順から始められます。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や Django はパソコンに入れません。VS Code がリポジトリの設定を読んで、Docker の中に作業部屋を作り、必要なものを自動で入れます。全員が同じ環境になり、壊れても作り直せば戻ります。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の役目は、開発環境を全員そろえることです。コンテナ（作業部屋）の中に Python や Django が入っていて、本番と同じ版にしてあります。メンバーは Docker Desktop を起動するだけで、コンテナの中を直接触ることはありません。壊れても作り直せば元に戻ります。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への参加は、公開サイトから自分でできます。運営に頼む必要はありません。GitHub アカウントがない人は、4 の GitHub のログイン画面で作れます。サイトはメールアドレスや GitHub のユーザー名を保存しません。「メンバーとして確認できませんでした」というメールが届いたら、Classroom に登録しているアドレスか確かめ、それでも駄目なら運営に聞いてください。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大学のメールアドレスは学籍番号そのものです。公開リポジトリのコミット履歴に残ると消せないので、GitHub の設定で非公開にし、代わりに noreply のアドレスを使います。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VS Code はコードを書くためのエディタです。このあとの操作はすべて VS Code から行います。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は変更の記録と GitHub とのやりとりに使います。名前とメールアドレスはコミットに記録され、公開されます。大学のアドレスは使わないでください。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Desktop は作業部屋を動かすためのアプリで、起動しておくだけで直接は触りません。個人・教育目的なら無料です。「仮想化が無効」と出たら、パソコンの設定の変更が要るので運営に相談してください。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似た名前の拡張機能があるので、提供元が Microsoft で青いチェックマークが付いたものを選んでください。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クローンは、GitHub にあるリポジトリを自分の作業部屋に写してくることです。チェックアウトとも言います。写したものを直して、コミットして GitHub に送り返します（資料 03）。一度クローンすれば、次からは VS Code の「最近使用した項目」から開けます。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 パレットは英語で入力しても日本語の項目が出てきます。ソースはパソコンのフォルダーではなく Docker の中に置かれるので、エクスプローラーや Finder には出てきません。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ここまでで準備は終わりです。作業の始め方と変更の届け方は、資料 03 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準備をする。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に参加し、VS Code・Git・Docker Desktop を入れて、WG のサイトを起動するまで。8 つの手順を順番に。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メンバー全員・初回だけ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0" y="2569464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この資料の流れ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つの手順を順番に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に参加する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サイトから。GitHub アカウントもここで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のメールを非公開に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コードを書くエディタ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名前とメールを登録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4632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4632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Containers を入れる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4068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の拡張機能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84632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リポジトリをクローンする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から作業部屋に写す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484632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544068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サイトを起動する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4068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を押してブラウザで確かめる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は WG ごとに一度、2〜8 は最初に一度だけ。かかる時間の目安は 1〜2 時間（ダウンロードを含む）。できれば自宅の回線で。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パソコンに入れるのは 3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3619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5179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あなたのパソコン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858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30552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書く・操作する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22860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213055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4231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24231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8862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2130552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0233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40233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685800" y="3310128"/>
            <a:ext cx="4663440" cy="109728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dash"/>
          </a:ln>
        </p:spPr>
      </p:sp>
      <p:sp>
        <p:nvSpPr>
          <p:cNvPr id="20" name="Shape 14"/>
          <p:cNvSpPr/>
          <p:nvPr/>
        </p:nvSpPr>
        <p:spPr>
          <a:xfrm>
            <a:off x="4617720" y="3044952"/>
            <a:ext cx="0" cy="265176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1" name="Text 15"/>
          <p:cNvSpPr txBox="1"/>
          <p:nvPr/>
        </p:nvSpPr>
        <p:spPr>
          <a:xfrm>
            <a:off x="868680" y="34381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作業部屋（コンテナ）… 自動で用意される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868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68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3.11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2011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2011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Django 5.2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3154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3154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4297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297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5852160" y="1371600"/>
            <a:ext cx="2834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6080760" y="155448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準備するもの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080760" y="1947672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80760" y="20116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6080760" y="223113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 10 / 11 か macOS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080760" y="2569464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80760" y="2633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</a:t>
            </a:r>
            <a:endParaRPr lang="en-US" sz="950" dirty="0"/>
          </a:p>
        </p:txBody>
      </p:sp>
      <p:sp>
        <p:nvSpPr>
          <p:cNvPr id="37" name="Text 31"/>
          <p:cNvSpPr txBox="1"/>
          <p:nvPr/>
        </p:nvSpPr>
        <p:spPr>
          <a:xfrm>
            <a:off x="608076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8GB 以上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6080760" y="3191256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080760" y="325526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空き容量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080760" y="34747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20GB 以上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6080760" y="3813048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6080760" y="38770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</a:t>
            </a:r>
            <a:endParaRPr lang="en-US" sz="950" dirty="0"/>
          </a:p>
        </p:txBody>
      </p:sp>
      <p:sp>
        <p:nvSpPr>
          <p:cNvPr id="43" name="Text 37"/>
          <p:cNvSpPr txBox="1"/>
          <p:nvPr/>
        </p:nvSpPr>
        <p:spPr>
          <a:xfrm>
            <a:off x="6080760" y="4096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初回は 1〜2GB をダウンロード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 Docker を使うのか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困ること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Docker（作業部屋）がしてくれること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「自分の PC では動くのに」が起きる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全員が同じ中身の作業部屋で動かすので、差が出ない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Windows と Mac で手順やコマンドが違う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作業部屋の中はどちらも Linux。同じコマンドで済む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本番と手元で Python の版がずれる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本番と同じ Python 3.11 にしてある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環境を壊すと戻せない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作り直せば元どおり。パソコン本体には何も残らない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Python を入れる手順が難しい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Desktop を起動するだけ。中身は触らない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749040"/>
            <a:ext cx="8229600" cy="64008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37490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コードを書くのは VS Code、動かすのは作業部屋の中。メンバーがするのは「Docker Desktop を起動する」だけ。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のアプリを本番で動かすときにも Docker を使う案があるが、それは別物（完成品を動かす入れ物）。いまは準備中。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1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350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WG一覧の「WG に参加」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0020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 で参加したい WG を選ぶ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188366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大学のメールアドレスを入れる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14884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に登録しているアドレス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43230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届いたメールのリンクを開く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69748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時間以内に。ボタンで Chat に入る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298094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24612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なければ Create an account（大学のアドレスで）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20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52958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招待が出たら Join を押す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379476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から届く「Join @funITclub」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0690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4069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96112" y="40782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 Chat を開く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434340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最後の画面の「Chat を開く」から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83480" y="1325880"/>
            <a:ext cx="3703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983480" y="132588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11496" y="141732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276088" y="141732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40680" y="141732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0" y="1325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funitclub.org/wg/1/join/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166360" y="1737360"/>
            <a:ext cx="3337560" cy="2651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49240" y="1892808"/>
            <a:ext cx="29718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349240" y="2011680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WG-01 に参加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349240" y="224028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生成AIによるタンパク質設計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577840" y="269748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大学のメールアドレス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2944368"/>
            <a:ext cx="2514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69280" y="29443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bu0000000000@bukkyo-u.ac.jp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3429000"/>
            <a:ext cx="2514600" cy="365760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577840" y="3429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確認のメールを送る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532120" y="390448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クラブのメンバー（Classroom のクラブのクラスにいる人）だけが先に進める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2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のメールアドレスを非公開にする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右上の自分のアイコン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にログインした状態で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2037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「Settings」→ 左の「Emails」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809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Keep my email addresses private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24612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にチェックを入れる（右の画面）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49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7581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noreply のアドレスをコピー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402336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4 の Git の設定で使う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github.com/settings/emails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Emails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212080" y="2331720"/>
            <a:ext cx="182880" cy="182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359152"/>
            <a:ext cx="128016" cy="12801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5486400" y="23042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my email addresses private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48640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コミットには次のアドレスが使われる：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486400" y="2971800"/>
            <a:ext cx="2971800" cy="365760"/>
          </a:xfrm>
          <a:prstGeom prst="rect">
            <a:avLst/>
          </a:prstGeom>
          <a:solidFill>
            <a:srgbClr val="FFF4C2"/>
          </a:solidFill>
          <a:ln w="12700">
            <a:solidFill>
              <a:srgbClr val="E3C75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550408" y="29718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12345678+name@users.noreply.github.com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5486400" y="34290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↑ このアドレスをコピーしておく（手順 4 で使う）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0" y="3749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大学のアドレス（学籍番号）を公開しないため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3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Windows」を押す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VSCodeUserSetup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「同意する」→「次へ」を続ける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「インストール」→「完了」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「PATH への追加」はチェックのまま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533095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Mac」を押す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89204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zip を開き、アプリケーションへ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Visual Studio Code をドラッグする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アプリケーションから開く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確認が出たら「開く」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685800" y="3767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日本語にする（共通）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8580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8580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105156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105156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338328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8328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374904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「Japanese」で検索</a:t>
            </a:r>
            <a:endParaRPr lang="en-US" sz="1050" dirty="0"/>
          </a:p>
        </p:txBody>
      </p:sp>
      <p:sp>
        <p:nvSpPr>
          <p:cNvPr id="43" name="Text 39"/>
          <p:cNvSpPr txBox="1"/>
          <p:nvPr/>
        </p:nvSpPr>
        <p:spPr>
          <a:xfrm>
            <a:off x="374904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Language Pack の Install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608076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08076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644652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Change Language and Restart</a:t>
            </a:r>
            <a:endParaRPr lang="en-US" sz="1050" dirty="0"/>
          </a:p>
        </p:txBody>
      </p:sp>
      <p:sp>
        <p:nvSpPr>
          <p:cNvPr id="47" name="Text 43"/>
          <p:cNvSpPr txBox="1"/>
          <p:nvPr/>
        </p:nvSpPr>
        <p:spPr>
          <a:xfrm>
            <a:off x="644652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再起動で日本語になる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4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を入れて、名前を登録する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git-scm.com →「Download for Windows」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「Click here to download」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68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780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Git-….exe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432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何も変えずに「Next」→「Install」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06324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24612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51560" y="3227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85800" y="3703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124712" y="37124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ターミナルで git --version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1124712" y="39776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 → ユーティリティ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85800" y="4160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124712" y="41696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「インストール」を押す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1124712" y="44348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番号が出たら、もう入っている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66344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名前を登録する（共通）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466344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を開き直す →「ターミナル」→「新しいターミナル」。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行を 1 行ずつ入力して Enter。何も出なければ成功。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663440" y="2377440"/>
            <a:ext cx="4023360" cy="224028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663440" y="2377440"/>
            <a:ext cx="402336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791456" y="246888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956048" y="246888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20640" y="246888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349240" y="2377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4846320" y="2788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user.name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user.email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"12345678+name@users.noreply.github.com"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484632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引用符の中は、自分の GitHub のユーザー名と、手順 2 でコピーした noreply のアドレスに置き換える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5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docker.com からダウンロード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 - AMD64」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Installer.exe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WSL 2」はチェックのまま OK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「Close and restart」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パソコンが再起動する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580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12471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利用規約は Accept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2471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サインインとアンケートは Skip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66344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チップを確かめる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メニュー →「この Mac について」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合うものをダウンロード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Silicon（M1 以降）か Intel Chip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89204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89204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533095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Docker.dmg を開く</a:t>
            </a:r>
            <a:endParaRPr lang="en-US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533095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クジラを Applications へドラッグ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489204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9204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533095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 Accept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533095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おすすめ設定のまま。サインインは Skip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457200" y="4206240"/>
            <a:ext cx="2057400" cy="365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94360" y="4325112"/>
            <a:ext cx="128016" cy="128016"/>
          </a:xfrm>
          <a:prstGeom prst="ellipse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2296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running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2697480" y="418795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左下がこの表示（緑）になれば完了。Windows で「WSL の更新が必要」と出たら、管理者の PowerShell で wsl --update。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6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に Dev Containers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左端の「拡張機能」を押す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「Dev Containers」で検索する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Microsoft のものをインストール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青いチェックマーク付き（右の画面）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左下に青いマークが出れば完了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から Docker を使えるようになる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20640" y="1828800"/>
            <a:ext cx="338328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120640" y="2286000"/>
            <a:ext cx="3383280" cy="11887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57800" y="2423160"/>
            <a:ext cx="502920" cy="5029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2532888"/>
            <a:ext cx="283464" cy="28346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58978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897880" y="2679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95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715768"/>
            <a:ext cx="146304" cy="14630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5440680" y="4160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このマーク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8（1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 URL をコピーする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343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クローン（チェックアウト）とは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190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にある WG のコード一式（リポジトリ）を、自分の作業部屋に写してくること。写したもので作業し、GitHub に送り返す（資料 03）。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499616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664208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64208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クローン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23744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88336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88336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547872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712464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12464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送り返す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6974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27066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のリポジトリを開く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2971800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github.com/funITclub/wg-&lt;名前&gt;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1729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172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96112" y="318211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緑の「Code」を押す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96112" y="3447288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リポジトリの画面の右上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6484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96112" y="3657600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「Local」→「HTTPS」を選ぶ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57200" y="4123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" y="4133088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をコピーする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896112" y="4398264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の右のコピーのボタン（右の画面）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983480" y="1325880"/>
            <a:ext cx="37033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983480" y="132588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11496" y="141732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76088" y="141732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0680" y="141732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669280" y="1325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github.com/funITclub/wg-protein</a:t>
            </a:r>
            <a:endParaRPr lang="en-US" sz="9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4648" y="1783080"/>
            <a:ext cx="182880" cy="182880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5440680" y="1737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/ </a:t>
            </a:r>
            <a:pPr indent="0" marL="0">
              <a:buNone/>
            </a:pPr>
            <a:r>
              <a:rPr lang="en-US" sz="10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wg-protein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7772400" y="1755648"/>
            <a:ext cx="713232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0" y="175564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&lt;&gt; Code  ▾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5486400" y="2148840"/>
            <a:ext cx="30175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5623560" y="22219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669280" y="2478024"/>
            <a:ext cx="640080" cy="0"/>
          </a:xfrm>
          <a:prstGeom prst="line">
            <a:avLst/>
          </a:prstGeom>
          <a:noFill/>
          <a:ln w="25400">
            <a:solidFill>
              <a:srgbClr val="FD8C7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400800" y="22219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Codespaces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486400" y="2514600"/>
            <a:ext cx="3017520" cy="0"/>
          </a:xfrm>
          <a:prstGeom prst="line">
            <a:avLst/>
          </a:prstGeom>
          <a:noFill/>
          <a:ln w="9525">
            <a:solidFill>
              <a:srgbClr val="D0D7D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623560" y="26060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56235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</a:t>
            </a:r>
            <a:endParaRPr lang="en-US" sz="850" dirty="0"/>
          </a:p>
        </p:txBody>
      </p:sp>
      <p:sp>
        <p:nvSpPr>
          <p:cNvPr id="50" name="Text 47"/>
          <p:cNvSpPr txBox="1"/>
          <p:nvPr/>
        </p:nvSpPr>
        <p:spPr>
          <a:xfrm>
            <a:off x="63093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69951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CLI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669280" y="3136392"/>
            <a:ext cx="594360" cy="0"/>
          </a:xfrm>
          <a:prstGeom prst="line">
            <a:avLst/>
          </a:prstGeom>
          <a:noFill/>
          <a:ln w="25400">
            <a:solidFill>
              <a:srgbClr val="FD8C73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23560" y="3291840"/>
            <a:ext cx="2423160" cy="310896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687568" y="329184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https://github.com/funITclub/wg-protein.git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8092440" y="3291840"/>
            <a:ext cx="292608" cy="310896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pic>
        <p:nvPicPr>
          <p:cNvPr id="5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3364992"/>
            <a:ext cx="146304" cy="164592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5623560" y="3703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ここを押すとコピーされる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は「WG に参加」の完了画面と確認のメールにも出ている（名前は WG のチームと同じ。例：wg-protein）。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8（2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でクローンして開く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を起動しておく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左下が緑の Engine running になるまで待つ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「表示」→「コマンド パレット」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+ Shift + P（Mac は Cmd + Shift + P）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Clone Repository in Container Volume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と入力し、出てきた項目を選ぶ（右の画面）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コピーした URL を貼って Enter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警告が出たら funITclub の URL か確かめて進む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5〜10 分待つ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「準備ができました。」と出たら完了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 パレット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166360" y="17830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57800" y="17830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&gt;Clone Repository in Container Volume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166360" y="2148840"/>
            <a:ext cx="3337560" cy="5029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257800" y="217627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開発コンテナー: コンテナー ボリュームにリポジトリを複製...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24048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Containers: Clone Repository in Container Volume...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5212080" y="28803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の例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166360" y="31546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257800" y="3154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https://github.com/funITclub/wg-&lt;名前&gt;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166360" y="3657600"/>
            <a:ext cx="3337560" cy="731520"/>
          </a:xfrm>
          <a:prstGeom prst="rect">
            <a:avLst/>
          </a:prstGeom>
          <a:solidFill>
            <a:srgbClr val="0A2A4A"/>
          </a:solidFill>
          <a:ln w="12700">
            <a:solidFill>
              <a:srgbClr val="0A2A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03520" y="373075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準備ができました。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F5 でサイトを起動できます。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非公開のリポジトリなので、初回は GitHub へのサインインを求められる。「許可」を押し、ブラウザで Authorize を押す。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8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サイトを起動して確かめる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左下を確かめる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「開発コンテナー: funITclub …」と出ていれば作業部屋の中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キーを押す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41448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 のノートは fn + F5。「実行」→「デバッグの開始」でもよい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「ブラウザーで開く」を押す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出なければブラウザで http://localhost:8000/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止めるときは ■ ボタン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または Shift + F5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760720" y="2148840"/>
            <a:ext cx="2743200" cy="1051560"/>
          </a:xfrm>
          <a:prstGeom prst="rect">
            <a:avLst/>
          </a:prstGeom>
          <a:solidFill>
            <a:srgbClr val="252526"/>
          </a:solidFill>
          <a:ln w="12700">
            <a:solidFill>
              <a:srgbClr val="45454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2286000"/>
            <a:ext cx="164592" cy="16459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144768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ポート 8000 で実行されているアプリケーションは使用可能です。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ブラウザーで開く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120640" y="3383280"/>
            <a:ext cx="3383280" cy="640080"/>
          </a:xfrm>
          <a:prstGeom prst="rect">
            <a:avLst/>
          </a:prstGeom>
          <a:solidFill>
            <a:srgbClr val="1818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212080" y="3429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Starting development server at http://127.0.0.1:8000/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937760" y="4160520"/>
            <a:ext cx="23774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0" y="4160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&gt;&lt; 開発コンテナー: funITclub WG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サイトが表示されたら準備は終わり。作業の進め方は資料 03「開発の進め方」へ。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確認のメールが届かない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迷惑メールを見る。なければ「WG に参加」からやり直す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「メンバーとして確認できません」と届いた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Classroom に登録したアドレスで試す。駄目なら運営へ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に接続できない、と出る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Desktop を起動し、緑になってから開き直す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「WSL の更新が必要」と出る（Windows）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管理者の PowerShell で wsl --update。終わったら再起動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「仮想化が無効」と出る（Windows）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パソコンの設定（BIOS）の変更が要る。運営に相談する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左下に「開発コンテナー」が出ていない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左下の青いマーク →「コンテナーで再度開く」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ブラウザで開けない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下の「ポート」タブに 8000 があるか確かめる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02 パソコンの準備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