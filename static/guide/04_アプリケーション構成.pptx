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funITclub のサイトは Django アプリ 1 つです。公開サイトも編集画面も WG への参加も同じアプリの中にあり、外につながるのは Azure のメール・Google Classroom・GitHub・Key Vault の 4 つだけです。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アプリは Azure App Service 1 台で動いています。DB は hirahira_room と同じ PostgreSQL サーバーですが、データベースは funITclub 専用のものを分けています。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モデルを持つのは news・catalog・edit・home の 4 つだけです。編集する項目を増やすときは catalog と同じ作りでモデル・フォーム・画面を足します。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保護は二段構えです。ミドルウェアで既定をログイン必須にしたうえで、編集の各ビューも LoginRequiredMixin を継承しています。編集画面を足したときに書き忘れても素通りにはなりません。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テーブル名を固定しているのは、万一 DB_NAME が hirahira_room の共有 DB を向いても既存テーブルと衝突しないようにするためです。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ビューは views.py に書いてある、ページの中身を作る処理です。ミドルウェアはその手前に並んだ共通の処理で、全リクエストが必ず順に通ります。遮断 IP の判定を先頭に置いているのは、静的ファイルも含めて何も返さないためです。判定に使う IP は X-Forwarded-For の右端（Azure が付けた値）で、左端はクライアントが詐称できるので見ません。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ミドルウェアは印（login_not_required）の有無だけを見ます。編集画面のビューには印を付けていないので 05 で止まります。加えて各編集ビューは EditorMixin（LoginRequiredMixin）も継承していて、ミドルウェアを外しても閉じたままです。admin は Django が自前のログイン URL を持っているので、/edit/login/ ではなく /admin/login/ に回ります。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掲載内容はすべて DB から読んでいます。お知らせの件数は home.views.IndexView.news_limit で決めています。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「WG に参加」が出るのは、環境変数がそろっていて、かつ WG 紹介の「GitHub のチーム」に wg- で始まる名前が入っているときだけです。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参加フォームは DB に残さず、入力内容をメールで送るだけです。自由記述の欄は意図的に持たせていません。復活させないでください。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自分の IP を遮断してしまったときの逃げ道は 2 つあります。IP_BLOCK_ENABLED と IP_BLOCK_EXEMPT で、どちらも App Service のアプリケーション設定から DB を触らずに直せます。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付け忘れると本番設定で動いて PostgreSQL に繋ぎにいき、接続に失敗します。秘密の値はリポジトリに持たず、手元は .env、本番は App Service のアプリケーション設定から読みます。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公開されるのは動いている Web ページだけで、WG のリポジトリは完成後も非公開のままです。成果物アプリを動かす場所（Container Apps と ghcr.io）はまだ構成案なので、2 の自動公開は準備中です。3 の掲載も WG が自分で行います。ホームページから辿れるようにするための作業で、公開そのものではありません。URL を入れるまでは「作成中」ページ（/coming-soon/）に流れます。いま動いているサブアプリの countdown も、ナビにリンクが無いまま /countdown/ で開きます。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この資料は構成の見取り図です。実際の値や手順は README.md と deploy.txt を見てください。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5BB8FF"/>
                </a:solidFill>
                <a:latin typeface="Consolas" pitchFamily="34" charset="0"/>
                <a:ea typeface="Consolas" pitchFamily="34" charset="-122"/>
                <a:cs typeface="Consolas" pitchFamily="34" charset="-120"/>
              </a:rPr>
              <a:t>// fun IT club — WG 立ち上げガイド  04 アプリケーション構成</a:t>
            </a:r>
            <a:endParaRPr lang="en-US" sz="1100" dirty="0"/>
          </a:p>
        </p:txBody>
      </p:sp>
      <p:sp>
        <p:nvSpPr>
          <p:cNvPr id="3" name="Text 1"/>
          <p:cNvSpPr txBox="1"/>
          <p:nvPr/>
        </p:nvSpPr>
        <p:spPr>
          <a:xfrm>
            <a:off x="457200" y="960120"/>
            <a:ext cx="4754880" cy="146304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サイトは</a:t>
            </a:r>
            <a:endParaRPr lang="en-US" sz="4000" dirty="0"/>
          </a:p>
          <a:p>
            <a:pPr indent="0" marL="0">
              <a:buNone/>
            </a:pPr>
            <a:r>
              <a:rPr lang="en-US" sz="4000" b="1" dirty="0">
                <a:solidFill>
                  <a:srgbClr val="5BB8FF"/>
                </a:solidFill>
                <a:latin typeface="Meiryo" pitchFamily="34" charset="0"/>
                <a:ea typeface="Meiryo" pitchFamily="34" charset="-122"/>
                <a:cs typeface="Meiryo" pitchFamily="34" charset="-120"/>
              </a:rPr>
              <a:t>こう出来ている。</a:t>
            </a:r>
            <a:endParaRPr lang="en-US" sz="4000" dirty="0"/>
          </a:p>
        </p:txBody>
      </p:sp>
      <p:sp>
        <p:nvSpPr>
          <p:cNvPr id="4" name="Text 2"/>
          <p:cNvSpPr txBox="1"/>
          <p:nvPr/>
        </p:nvSpPr>
        <p:spPr>
          <a:xfrm>
            <a:off x="457200" y="2788920"/>
            <a:ext cx="4572000" cy="822960"/>
          </a:xfrm>
          <a:prstGeom prst="rect">
            <a:avLst/>
          </a:prstGeom>
          <a:noFill/>
          <a:ln/>
        </p:spPr>
        <p:txBody>
          <a:bodyPr wrap="square" lIns="0" tIns="0" rIns="0" bIns="0" rtlCol="0" anchor="ctr"/>
          <a:lstStyle/>
          <a:p>
            <a:pPr indent="0" marL="0">
              <a:buNone/>
            </a:pPr>
            <a:r>
              <a:rPr lang="en-US" sz="1300" dirty="0">
                <a:solidFill>
                  <a:srgbClr val="DDDDDD"/>
                </a:solidFill>
                <a:latin typeface="Meiryo" pitchFamily="34" charset="0"/>
                <a:ea typeface="Meiryo" pitchFamily="34" charset="-122"/>
                <a:cs typeface="Meiryo" pitchFamily="34" charset="-120"/>
              </a:rPr>
              <a:t>公開サイト・編集画面・WG への参加を、1 つの Django アプリで動かしている。その中身と、外につながる先。</a:t>
            </a:r>
            <a:endParaRPr lang="en-US" sz="1300" dirty="0"/>
          </a:p>
        </p:txBody>
      </p:sp>
      <p:sp>
        <p:nvSpPr>
          <p:cNvPr id="5" name="Shape 3"/>
          <p:cNvSpPr/>
          <p:nvPr/>
        </p:nvSpPr>
        <p:spPr>
          <a:xfrm>
            <a:off x="457200" y="3840480"/>
            <a:ext cx="1188720" cy="237744"/>
          </a:xfrm>
          <a:prstGeom prst="rect">
            <a:avLst/>
          </a:prstGeom>
          <a:solidFill>
            <a:srgbClr val="5BB8FF"/>
          </a:solidFill>
          <a:ln w="12700">
            <a:solidFill>
              <a:srgbClr val="5BB8FF"/>
            </a:solidFill>
            <a:prstDash val="solid"/>
          </a:ln>
        </p:spPr>
      </p:sp>
      <p:sp>
        <p:nvSpPr>
          <p:cNvPr id="6" name="Text 4"/>
          <p:cNvSpPr txBox="1"/>
          <p:nvPr/>
        </p:nvSpPr>
        <p:spPr>
          <a:xfrm>
            <a:off x="457200" y="3840480"/>
            <a:ext cx="1188720" cy="237744"/>
          </a:xfrm>
          <a:prstGeom prst="rect">
            <a:avLst/>
          </a:prstGeom>
          <a:noFill/>
          <a:ln/>
        </p:spPr>
        <p:txBody>
          <a:bodyPr wrap="square" lIns="0" tIns="0" rIns="0" bIns="0" rtlCol="0" anchor="ctr"/>
          <a:lstStyle/>
          <a:p>
            <a:pPr algn="ctr" indent="0" marL="0">
              <a:buNone/>
            </a:pPr>
            <a:r>
              <a:rPr lang="en-US" sz="900" b="1" dirty="0">
                <a:solidFill>
                  <a:srgbClr val="001E3C"/>
                </a:solidFill>
                <a:latin typeface="Meiryo" pitchFamily="34" charset="0"/>
                <a:ea typeface="Meiryo" pitchFamily="34" charset="-122"/>
                <a:cs typeface="Meiryo" pitchFamily="34" charset="-120"/>
              </a:rPr>
              <a:t>メンバー全員</a:t>
            </a:r>
            <a:endParaRPr lang="en-US" sz="900" dirty="0"/>
          </a:p>
        </p:txBody>
      </p:sp>
      <p:sp>
        <p:nvSpPr>
          <p:cNvPr id="7" name="Text 5"/>
          <p:cNvSpPr txBox="1"/>
          <p:nvPr/>
        </p:nvSpPr>
        <p:spPr>
          <a:xfrm>
            <a:off x="457200" y="4434840"/>
            <a:ext cx="4572000" cy="274320"/>
          </a:xfrm>
          <a:prstGeom prst="rect">
            <a:avLst/>
          </a:prstGeom>
          <a:noFill/>
          <a:ln/>
        </p:spPr>
        <p:txBody>
          <a:bodyPr wrap="square" lIns="0" tIns="0" rIns="0" bIns="0" rtlCol="0" anchor="ctr"/>
          <a:lstStyle/>
          <a:p>
            <a:pPr indent="0" marL="0">
              <a:buNone/>
            </a:pPr>
            <a:r>
              <a:rPr lang="en-US" sz="1000" dirty="0">
                <a:solidFill>
                  <a:srgbClr val="B9CAD9"/>
                </a:solidFill>
                <a:latin typeface="Consolas" pitchFamily="34" charset="0"/>
                <a:ea typeface="Consolas" pitchFamily="34" charset="-122"/>
                <a:cs typeface="Consolas" pitchFamily="34" charset="-120"/>
              </a:rPr>
              <a:t>2026-09  ·  fun IT club 運営</a:t>
            </a:r>
            <a:endParaRPr lang="en-US" sz="1000" dirty="0"/>
          </a:p>
        </p:txBody>
      </p:sp>
      <p:sp>
        <p:nvSpPr>
          <p:cNvPr id="8" name="Shape 6"/>
          <p:cNvSpPr/>
          <p:nvPr/>
        </p:nvSpPr>
        <p:spPr>
          <a:xfrm>
            <a:off x="5394960" y="1051560"/>
            <a:ext cx="3291840" cy="3017520"/>
          </a:xfrm>
          <a:prstGeom prst="rect">
            <a:avLst/>
          </a:prstGeom>
          <a:solidFill>
            <a:srgbClr val="1A4A70"/>
          </a:solidFill>
          <a:ln w="12700">
            <a:solidFill>
              <a:srgbClr val="1A4A70"/>
            </a:solidFill>
            <a:prstDash val="solid"/>
          </a:ln>
        </p:spPr>
      </p:sp>
      <p:sp>
        <p:nvSpPr>
          <p:cNvPr id="9" name="Text 7"/>
          <p:cNvSpPr txBox="1"/>
          <p:nvPr/>
        </p:nvSpPr>
        <p:spPr>
          <a:xfrm>
            <a:off x="5623560" y="1234440"/>
            <a:ext cx="2834640" cy="274320"/>
          </a:xfrm>
          <a:prstGeom prst="rect">
            <a:avLst/>
          </a:prstGeom>
          <a:noFill/>
          <a:ln/>
        </p:spPr>
        <p:txBody>
          <a:bodyPr wrap="square" lIns="0" tIns="0" rIns="0" bIns="0" rtlCol="0" anchor="ctr"/>
          <a:lstStyle/>
          <a:p>
            <a:pPr indent="0" marL="0">
              <a:buNone/>
            </a:pPr>
            <a:r>
              <a:rPr lang="en-US" sz="1000" dirty="0">
                <a:solidFill>
                  <a:srgbClr val="5BB8FF"/>
                </a:solidFill>
                <a:latin typeface="Consolas" pitchFamily="34" charset="0"/>
                <a:ea typeface="Consolas" pitchFamily="34" charset="-122"/>
                <a:cs typeface="Consolas" pitchFamily="34" charset="-120"/>
              </a:rPr>
              <a:t>// この資料の中身</a:t>
            </a:r>
            <a:endParaRPr lang="en-US" sz="1000" dirty="0"/>
          </a:p>
        </p:txBody>
      </p:sp>
      <p:sp>
        <p:nvSpPr>
          <p:cNvPr id="10" name="Text 8"/>
          <p:cNvSpPr txBox="1"/>
          <p:nvPr/>
        </p:nvSpPr>
        <p:spPr>
          <a:xfrm>
            <a:off x="5623560" y="1627632"/>
            <a:ext cx="411480" cy="237744"/>
          </a:xfrm>
          <a:prstGeom prst="rect">
            <a:avLst/>
          </a:prstGeom>
          <a:noFill/>
          <a:ln/>
        </p:spPr>
        <p:txBody>
          <a:bodyPr wrap="square" lIns="0" tIns="0" rIns="0" bIns="0" rtlCol="0" anchor="ctr"/>
          <a:lstStyle/>
          <a:p>
            <a:pPr indent="0" marL="0">
              <a:buNone/>
            </a:pPr>
            <a:r>
              <a:rPr lang="en-US" sz="1300" b="1" dirty="0">
                <a:solidFill>
                  <a:srgbClr val="5BB8FF"/>
                </a:solidFill>
                <a:latin typeface="Consolas" pitchFamily="34" charset="0"/>
                <a:ea typeface="Consolas" pitchFamily="34" charset="-122"/>
                <a:cs typeface="Consolas" pitchFamily="34" charset="-120"/>
              </a:rPr>
              <a:t>01</a:t>
            </a:r>
            <a:endParaRPr lang="en-US" sz="1300" dirty="0"/>
          </a:p>
        </p:txBody>
      </p:sp>
      <p:sp>
        <p:nvSpPr>
          <p:cNvPr id="11" name="Text 9"/>
          <p:cNvSpPr txBox="1"/>
          <p:nvPr/>
        </p:nvSpPr>
        <p:spPr>
          <a:xfrm>
            <a:off x="6035040" y="1627632"/>
            <a:ext cx="2514600" cy="237744"/>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全体像と Django アプリ</a:t>
            </a:r>
            <a:endParaRPr lang="en-US" sz="1150" dirty="0"/>
          </a:p>
        </p:txBody>
      </p:sp>
      <p:sp>
        <p:nvSpPr>
          <p:cNvPr id="12" name="Text 10"/>
          <p:cNvSpPr txBox="1"/>
          <p:nvPr/>
        </p:nvSpPr>
        <p:spPr>
          <a:xfrm>
            <a:off x="6035040" y="1874520"/>
            <a:ext cx="2514600" cy="201168"/>
          </a:xfrm>
          <a:prstGeom prst="rect">
            <a:avLst/>
          </a:prstGeom>
          <a:noFill/>
          <a:ln/>
        </p:spPr>
        <p:txBody>
          <a:bodyPr wrap="square" lIns="0" tIns="0" rIns="0" bIns="0" rtlCol="0" anchor="ctr"/>
          <a:lstStyle/>
          <a:p>
            <a:pPr indent="0" marL="0">
              <a:buNone/>
            </a:pPr>
            <a:r>
              <a:rPr lang="en-US" sz="900" dirty="0">
                <a:solidFill>
                  <a:srgbClr val="B9CAD9"/>
                </a:solidFill>
                <a:latin typeface="Meiryo" pitchFamily="34" charset="0"/>
                <a:ea typeface="Meiryo" pitchFamily="34" charset="-122"/>
                <a:cs typeface="Meiryo" pitchFamily="34" charset="-120"/>
              </a:rPr>
              <a:t>何がどこにあるか</a:t>
            </a:r>
            <a:endParaRPr lang="en-US" sz="900" dirty="0"/>
          </a:p>
        </p:txBody>
      </p:sp>
      <p:sp>
        <p:nvSpPr>
          <p:cNvPr id="13" name="Text 11"/>
          <p:cNvSpPr txBox="1"/>
          <p:nvPr/>
        </p:nvSpPr>
        <p:spPr>
          <a:xfrm>
            <a:off x="5623560" y="2231136"/>
            <a:ext cx="411480" cy="237744"/>
          </a:xfrm>
          <a:prstGeom prst="rect">
            <a:avLst/>
          </a:prstGeom>
          <a:noFill/>
          <a:ln/>
        </p:spPr>
        <p:txBody>
          <a:bodyPr wrap="square" lIns="0" tIns="0" rIns="0" bIns="0" rtlCol="0" anchor="ctr"/>
          <a:lstStyle/>
          <a:p>
            <a:pPr indent="0" marL="0">
              <a:buNone/>
            </a:pPr>
            <a:r>
              <a:rPr lang="en-US" sz="1300" b="1" dirty="0">
                <a:solidFill>
                  <a:srgbClr val="5BB8FF"/>
                </a:solidFill>
                <a:latin typeface="Consolas" pitchFamily="34" charset="0"/>
                <a:ea typeface="Consolas" pitchFamily="34" charset="-122"/>
                <a:cs typeface="Consolas" pitchFamily="34" charset="-120"/>
              </a:rPr>
              <a:t>02</a:t>
            </a:r>
            <a:endParaRPr lang="en-US" sz="1300" dirty="0"/>
          </a:p>
        </p:txBody>
      </p:sp>
      <p:sp>
        <p:nvSpPr>
          <p:cNvPr id="14" name="Text 12"/>
          <p:cNvSpPr txBox="1"/>
          <p:nvPr/>
        </p:nvSpPr>
        <p:spPr>
          <a:xfrm>
            <a:off x="6035040" y="2231136"/>
            <a:ext cx="2514600" cy="237744"/>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URL・データ・通り道</a:t>
            </a:r>
            <a:endParaRPr lang="en-US" sz="1150" dirty="0"/>
          </a:p>
        </p:txBody>
      </p:sp>
      <p:sp>
        <p:nvSpPr>
          <p:cNvPr id="15" name="Text 13"/>
          <p:cNvSpPr txBox="1"/>
          <p:nvPr/>
        </p:nvSpPr>
        <p:spPr>
          <a:xfrm>
            <a:off x="6035040" y="2478024"/>
            <a:ext cx="2514600" cy="201168"/>
          </a:xfrm>
          <a:prstGeom prst="rect">
            <a:avLst/>
          </a:prstGeom>
          <a:noFill/>
          <a:ln/>
        </p:spPr>
        <p:txBody>
          <a:bodyPr wrap="square" lIns="0" tIns="0" rIns="0" bIns="0" rtlCol="0" anchor="ctr"/>
          <a:lstStyle/>
          <a:p>
            <a:pPr indent="0" marL="0">
              <a:buNone/>
            </a:pPr>
            <a:r>
              <a:rPr lang="en-US" sz="900" dirty="0">
                <a:solidFill>
                  <a:srgbClr val="B9CAD9"/>
                </a:solidFill>
                <a:latin typeface="Meiryo" pitchFamily="34" charset="0"/>
                <a:ea typeface="Meiryo" pitchFamily="34" charset="-122"/>
                <a:cs typeface="Meiryo" pitchFamily="34" charset="-120"/>
              </a:rPr>
              <a:t>公開範囲とミドルウェア</a:t>
            </a:r>
            <a:endParaRPr lang="en-US" sz="900" dirty="0"/>
          </a:p>
        </p:txBody>
      </p:sp>
      <p:sp>
        <p:nvSpPr>
          <p:cNvPr id="16" name="Text 14"/>
          <p:cNvSpPr txBox="1"/>
          <p:nvPr/>
        </p:nvSpPr>
        <p:spPr>
          <a:xfrm>
            <a:off x="5623560" y="2834640"/>
            <a:ext cx="411480" cy="237744"/>
          </a:xfrm>
          <a:prstGeom prst="rect">
            <a:avLst/>
          </a:prstGeom>
          <a:noFill/>
          <a:ln/>
        </p:spPr>
        <p:txBody>
          <a:bodyPr wrap="square" lIns="0" tIns="0" rIns="0" bIns="0" rtlCol="0" anchor="ctr"/>
          <a:lstStyle/>
          <a:p>
            <a:pPr indent="0" marL="0">
              <a:buNone/>
            </a:pPr>
            <a:r>
              <a:rPr lang="en-US" sz="1300" b="1" dirty="0">
                <a:solidFill>
                  <a:srgbClr val="5BB8FF"/>
                </a:solidFill>
                <a:latin typeface="Consolas" pitchFamily="34" charset="0"/>
                <a:ea typeface="Consolas" pitchFamily="34" charset="-122"/>
                <a:cs typeface="Consolas" pitchFamily="34" charset="-120"/>
              </a:rPr>
              <a:t>03</a:t>
            </a:r>
            <a:endParaRPr lang="en-US" sz="1300" dirty="0"/>
          </a:p>
        </p:txBody>
      </p:sp>
      <p:sp>
        <p:nvSpPr>
          <p:cNvPr id="17" name="Text 15"/>
          <p:cNvSpPr txBox="1"/>
          <p:nvPr/>
        </p:nvSpPr>
        <p:spPr>
          <a:xfrm>
            <a:off x="6035040" y="2834640"/>
            <a:ext cx="2514600" cy="237744"/>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WG への参加とメール</a:t>
            </a:r>
            <a:endParaRPr lang="en-US" sz="1150" dirty="0"/>
          </a:p>
        </p:txBody>
      </p:sp>
      <p:sp>
        <p:nvSpPr>
          <p:cNvPr id="18" name="Text 16"/>
          <p:cNvSpPr txBox="1"/>
          <p:nvPr/>
        </p:nvSpPr>
        <p:spPr>
          <a:xfrm>
            <a:off x="6035040" y="3081528"/>
            <a:ext cx="2514600" cy="201168"/>
          </a:xfrm>
          <a:prstGeom prst="rect">
            <a:avLst/>
          </a:prstGeom>
          <a:noFill/>
          <a:ln/>
        </p:spPr>
        <p:txBody>
          <a:bodyPr wrap="square" lIns="0" tIns="0" rIns="0" bIns="0" rtlCol="0" anchor="ctr"/>
          <a:lstStyle/>
          <a:p>
            <a:pPr indent="0" marL="0">
              <a:buNone/>
            </a:pPr>
            <a:r>
              <a:rPr lang="en-US" sz="900" dirty="0">
                <a:solidFill>
                  <a:srgbClr val="B9CAD9"/>
                </a:solidFill>
                <a:latin typeface="Meiryo" pitchFamily="34" charset="0"/>
                <a:ea typeface="Meiryo" pitchFamily="34" charset="-122"/>
                <a:cs typeface="Meiryo" pitchFamily="34" charset="-120"/>
              </a:rPr>
              <a:t>外とつながるしくみ</a:t>
            </a:r>
            <a:endParaRPr lang="en-US" sz="900" dirty="0"/>
          </a:p>
        </p:txBody>
      </p:sp>
      <p:sp>
        <p:nvSpPr>
          <p:cNvPr id="19" name="Text 17"/>
          <p:cNvSpPr txBox="1"/>
          <p:nvPr/>
        </p:nvSpPr>
        <p:spPr>
          <a:xfrm>
            <a:off x="5623560" y="3438144"/>
            <a:ext cx="411480" cy="237744"/>
          </a:xfrm>
          <a:prstGeom prst="rect">
            <a:avLst/>
          </a:prstGeom>
          <a:noFill/>
          <a:ln/>
        </p:spPr>
        <p:txBody>
          <a:bodyPr wrap="square" lIns="0" tIns="0" rIns="0" bIns="0" rtlCol="0" anchor="ctr"/>
          <a:lstStyle/>
          <a:p>
            <a:pPr indent="0" marL="0">
              <a:buNone/>
            </a:pPr>
            <a:r>
              <a:rPr lang="en-US" sz="1300" b="1" dirty="0">
                <a:solidFill>
                  <a:srgbClr val="5BB8FF"/>
                </a:solidFill>
                <a:latin typeface="Consolas" pitchFamily="34" charset="0"/>
                <a:ea typeface="Consolas" pitchFamily="34" charset="-122"/>
                <a:cs typeface="Consolas" pitchFamily="34" charset="-120"/>
              </a:rPr>
              <a:t>04</a:t>
            </a:r>
            <a:endParaRPr lang="en-US" sz="1300" dirty="0"/>
          </a:p>
        </p:txBody>
      </p:sp>
      <p:sp>
        <p:nvSpPr>
          <p:cNvPr id="20" name="Text 18"/>
          <p:cNvSpPr txBox="1"/>
          <p:nvPr/>
        </p:nvSpPr>
        <p:spPr>
          <a:xfrm>
            <a:off x="6035040" y="3438144"/>
            <a:ext cx="2514600" cy="237744"/>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設定と、成果の公表</a:t>
            </a:r>
            <a:endParaRPr lang="en-US" sz="1150" dirty="0"/>
          </a:p>
        </p:txBody>
      </p:sp>
      <p:sp>
        <p:nvSpPr>
          <p:cNvPr id="21" name="Text 19"/>
          <p:cNvSpPr txBox="1"/>
          <p:nvPr/>
        </p:nvSpPr>
        <p:spPr>
          <a:xfrm>
            <a:off x="6035040" y="3685032"/>
            <a:ext cx="2514600" cy="201168"/>
          </a:xfrm>
          <a:prstGeom prst="rect">
            <a:avLst/>
          </a:prstGeom>
          <a:noFill/>
          <a:ln/>
        </p:spPr>
        <p:txBody>
          <a:bodyPr wrap="square" lIns="0" tIns="0" rIns="0" bIns="0" rtlCol="0" anchor="ctr"/>
          <a:lstStyle/>
          <a:p>
            <a:pPr indent="0" marL="0">
              <a:buNone/>
            </a:pPr>
            <a:r>
              <a:rPr lang="en-US" sz="900" dirty="0">
                <a:solidFill>
                  <a:srgbClr val="B9CAD9"/>
                </a:solidFill>
                <a:latin typeface="Meiryo" pitchFamily="34" charset="0"/>
                <a:ea typeface="Meiryo" pitchFamily="34" charset="-122"/>
                <a:cs typeface="Meiryo" pitchFamily="34" charset="-120"/>
              </a:rPr>
              <a:t>作ったものが世に出るまで</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全体像</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1 つの Django アプリと、外の 4 つ</a:t>
            </a:r>
            <a:endParaRPr lang="en-US" sz="2600" dirty="0"/>
          </a:p>
        </p:txBody>
      </p:sp>
      <p:sp>
        <p:nvSpPr>
          <p:cNvPr id="4" name="Shape 2"/>
          <p:cNvSpPr/>
          <p:nvPr/>
        </p:nvSpPr>
        <p:spPr>
          <a:xfrm>
            <a:off x="457200" y="1371600"/>
            <a:ext cx="2331720"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600200"/>
            <a:ext cx="1920240" cy="27432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利用者のブラウザ</a:t>
            </a:r>
            <a:endParaRPr lang="en-US" sz="1400" dirty="0"/>
          </a:p>
        </p:txBody>
      </p:sp>
      <p:sp>
        <p:nvSpPr>
          <p:cNvPr id="6" name="Text 4"/>
          <p:cNvSpPr txBox="1"/>
          <p:nvPr/>
        </p:nvSpPr>
        <p:spPr>
          <a:xfrm>
            <a:off x="685800" y="1965960"/>
            <a:ext cx="1874520" cy="68580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在学生・受験を考えている人・運営。ログインなしで見られる。</a:t>
            </a:r>
            <a:endParaRPr lang="en-US" sz="1050" dirty="0"/>
          </a:p>
        </p:txBody>
      </p:sp>
      <p:sp>
        <p:nvSpPr>
          <p:cNvPr id="7" name="Text 5"/>
          <p:cNvSpPr txBox="1"/>
          <p:nvPr/>
        </p:nvSpPr>
        <p:spPr>
          <a:xfrm>
            <a:off x="2862072" y="196596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8" name="Shape 6"/>
          <p:cNvSpPr/>
          <p:nvPr/>
        </p:nvSpPr>
        <p:spPr>
          <a:xfrm>
            <a:off x="3200400" y="1371600"/>
            <a:ext cx="2743200" cy="1417320"/>
          </a:xfrm>
          <a:prstGeom prst="rect">
            <a:avLst/>
          </a:prstGeom>
          <a:solidFill>
            <a:srgbClr val="001E3C"/>
          </a:solidFill>
          <a:ln w="12700">
            <a:solidFill>
              <a:srgbClr val="001E3C"/>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29000" y="1572768"/>
            <a:ext cx="2286000" cy="237744"/>
          </a:xfrm>
          <a:prstGeom prst="rect">
            <a:avLst/>
          </a:prstGeom>
          <a:noFill/>
          <a:ln/>
        </p:spPr>
        <p:txBody>
          <a:bodyPr wrap="square" lIns="0" tIns="0" rIns="0" bIns="0" rtlCol="0" anchor="ctr"/>
          <a:lstStyle/>
          <a:p>
            <a:pPr indent="0" marL="0">
              <a:buNone/>
            </a:pPr>
            <a:r>
              <a:rPr lang="en-US" sz="1200" b="1" dirty="0">
                <a:solidFill>
                  <a:srgbClr val="5BB8FF"/>
                </a:solidFill>
                <a:latin typeface="Consolas" pitchFamily="34" charset="0"/>
                <a:ea typeface="Consolas" pitchFamily="34" charset="-122"/>
                <a:cs typeface="Consolas" pitchFamily="34" charset="-120"/>
              </a:rPr>
              <a:t>Azure App Service</a:t>
            </a:r>
            <a:endParaRPr lang="en-US" sz="1200" dirty="0"/>
          </a:p>
        </p:txBody>
      </p:sp>
      <p:sp>
        <p:nvSpPr>
          <p:cNvPr id="10" name="Text 8"/>
          <p:cNvSpPr txBox="1"/>
          <p:nvPr/>
        </p:nvSpPr>
        <p:spPr>
          <a:xfrm>
            <a:off x="3429000" y="1819656"/>
            <a:ext cx="2286000" cy="219456"/>
          </a:xfrm>
          <a:prstGeom prst="rect">
            <a:avLst/>
          </a:prstGeom>
          <a:noFill/>
          <a:ln/>
        </p:spPr>
        <p:txBody>
          <a:bodyPr wrap="square" lIns="0" tIns="0" rIns="0" bIns="0" rtlCol="0" anchor="ctr"/>
          <a:lstStyle/>
          <a:p>
            <a:pPr indent="0" marL="0">
              <a:buNone/>
            </a:pPr>
            <a:r>
              <a:rPr lang="en-US" sz="1000" dirty="0">
                <a:solidFill>
                  <a:srgbClr val="B9CAD9"/>
                </a:solidFill>
                <a:latin typeface="Meiryo" pitchFamily="34" charset="0"/>
                <a:ea typeface="Meiryo" pitchFamily="34" charset="-122"/>
                <a:cs typeface="Meiryo" pitchFamily="34" charset="-120"/>
              </a:rPr>
              <a:t>funITclub</a:t>
            </a:r>
            <a:endParaRPr lang="en-US" sz="1000" dirty="0"/>
          </a:p>
        </p:txBody>
      </p:sp>
      <p:sp>
        <p:nvSpPr>
          <p:cNvPr id="11" name="Text 9"/>
          <p:cNvSpPr txBox="1"/>
          <p:nvPr/>
        </p:nvSpPr>
        <p:spPr>
          <a:xfrm>
            <a:off x="3429000" y="2130552"/>
            <a:ext cx="2286000" cy="548640"/>
          </a:xfrm>
          <a:prstGeom prst="rect">
            <a:avLst/>
          </a:prstGeom>
          <a:noFill/>
          <a:ln/>
        </p:spPr>
        <p:txBody>
          <a:bodyPr wrap="square" lIns="0" tIns="0" rIns="0" bIns="0" rtlCol="0" anchor="ctr"/>
          <a:lstStyle/>
          <a:p>
            <a:pPr indent="0" marL="0">
              <a:buNone/>
            </a:pPr>
            <a:r>
              <a:rPr lang="en-US" sz="1050" dirty="0">
                <a:solidFill>
                  <a:srgbClr val="DDDDDD"/>
                </a:solidFill>
                <a:latin typeface="Meiryo" pitchFamily="34" charset="0"/>
                <a:ea typeface="Meiryo" pitchFamily="34" charset="-122"/>
                <a:cs typeface="Meiryo" pitchFamily="34" charset="-120"/>
              </a:rPr>
              <a:t>gunicorn → Django 5.2</a:t>
            </a:r>
            <a:endParaRPr lang="en-US" sz="1050" dirty="0"/>
          </a:p>
          <a:p>
            <a:pPr indent="0" marL="0">
              <a:buNone/>
            </a:pPr>
            <a:r>
              <a:rPr lang="en-US" sz="1050" dirty="0">
                <a:solidFill>
                  <a:srgbClr val="DDDDDD"/>
                </a:solidFill>
                <a:latin typeface="Meiryo" pitchFamily="34" charset="0"/>
                <a:ea typeface="Meiryo" pitchFamily="34" charset="-122"/>
                <a:cs typeface="Meiryo" pitchFamily="34" charset="-120"/>
              </a:rPr>
              <a:t>静的ファイルは WhiteNoise</a:t>
            </a:r>
            <a:endParaRPr lang="en-US" sz="1050" dirty="0"/>
          </a:p>
        </p:txBody>
      </p:sp>
      <p:sp>
        <p:nvSpPr>
          <p:cNvPr id="12" name="Text 10"/>
          <p:cNvSpPr txBox="1"/>
          <p:nvPr/>
        </p:nvSpPr>
        <p:spPr>
          <a:xfrm>
            <a:off x="6016752" y="196596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13" name="Shape 11"/>
          <p:cNvSpPr/>
          <p:nvPr/>
        </p:nvSpPr>
        <p:spPr>
          <a:xfrm>
            <a:off x="6355080" y="1371600"/>
            <a:ext cx="2331720"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583680" y="1600200"/>
            <a:ext cx="1920240" cy="27432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PostgreSQL</a:t>
            </a:r>
            <a:endParaRPr lang="en-US" sz="1400" dirty="0"/>
          </a:p>
        </p:txBody>
      </p:sp>
      <p:sp>
        <p:nvSpPr>
          <p:cNvPr id="15" name="Text 13"/>
          <p:cNvSpPr txBox="1"/>
          <p:nvPr/>
        </p:nvSpPr>
        <p:spPr>
          <a:xfrm>
            <a:off x="6583680" y="1965960"/>
            <a:ext cx="1874520" cy="68580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funITclub 専用のデータベース。掲載内容と運営の連絡先だけを置く。</a:t>
            </a:r>
            <a:endParaRPr lang="en-US" sz="1050" dirty="0"/>
          </a:p>
        </p:txBody>
      </p:sp>
      <p:sp>
        <p:nvSpPr>
          <p:cNvPr id="16" name="Text 14"/>
          <p:cNvSpPr txBox="1"/>
          <p:nvPr/>
        </p:nvSpPr>
        <p:spPr>
          <a:xfrm>
            <a:off x="457200" y="2971800"/>
            <a:ext cx="8229600" cy="237744"/>
          </a:xfrm>
          <a:prstGeom prst="rect">
            <a:avLst/>
          </a:prstGeom>
          <a:noFill/>
          <a:ln/>
        </p:spPr>
        <p:txBody>
          <a:bodyPr wrap="square" lIns="0" tIns="0" rIns="0" bIns="0" rtlCol="0" anchor="ctr"/>
          <a:lstStyle/>
          <a:p>
            <a:pPr indent="0" marL="0">
              <a:buNone/>
            </a:pPr>
            <a:r>
              <a:rPr lang="en-US" sz="1050" dirty="0">
                <a:solidFill>
                  <a:srgbClr val="1A4A70"/>
                </a:solidFill>
                <a:latin typeface="Consolas" pitchFamily="34" charset="0"/>
                <a:ea typeface="Consolas" pitchFamily="34" charset="-122"/>
                <a:cs typeface="Consolas" pitchFamily="34" charset="-120"/>
              </a:rPr>
              <a:t>// App Service から呼ぶ外部サービス</a:t>
            </a:r>
            <a:endParaRPr lang="en-US" sz="1050" dirty="0"/>
          </a:p>
        </p:txBody>
      </p:sp>
      <p:sp>
        <p:nvSpPr>
          <p:cNvPr id="17" name="Shape 15"/>
          <p:cNvSpPr/>
          <p:nvPr/>
        </p:nvSpPr>
        <p:spPr>
          <a:xfrm>
            <a:off x="457200" y="3291840"/>
            <a:ext cx="198882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640080" y="3438144"/>
            <a:ext cx="402336" cy="402336"/>
          </a:xfrm>
          <a:prstGeom prst="ellipse">
            <a:avLst/>
          </a:prstGeom>
          <a:solidFill>
            <a:srgbClr val="001E3C"/>
          </a:solidFill>
          <a:ln w="12700">
            <a:solidFill>
              <a:srgbClr val="001E3C"/>
            </a:solidFill>
            <a:prstDash val="solid"/>
          </a:ln>
        </p:spPr>
      </p:sp>
      <p:pic>
        <p:nvPicPr>
          <p:cNvPr id="19" name="Image 0" descr="preencoded.png">    </p:cNvPr>
          <p:cNvPicPr>
            <a:picLocks noChangeAspect="1"/>
          </p:cNvPicPr>
          <p:nvPr/>
        </p:nvPicPr>
        <p:blipFill>
          <a:blip r:embed="rId1"/>
          <a:stretch>
            <a:fillRect/>
          </a:stretch>
        </p:blipFill>
        <p:spPr>
          <a:xfrm>
            <a:off x="744687" y="3542751"/>
            <a:ext cx="193121" cy="193121"/>
          </a:xfrm>
          <a:prstGeom prst="rect">
            <a:avLst/>
          </a:prstGeom>
        </p:spPr>
      </p:pic>
      <p:sp>
        <p:nvSpPr>
          <p:cNvPr id="20" name="Text 17"/>
          <p:cNvSpPr txBox="1"/>
          <p:nvPr/>
        </p:nvSpPr>
        <p:spPr>
          <a:xfrm>
            <a:off x="640080" y="3913632"/>
            <a:ext cx="1645920" cy="219456"/>
          </a:xfrm>
          <a:prstGeom prst="rect">
            <a:avLst/>
          </a:prstGeom>
          <a:noFill/>
          <a:ln/>
        </p:spPr>
        <p:txBody>
          <a:bodyPr wrap="square" lIns="0" tIns="0" rIns="0" bIns="0" rtlCol="0" anchor="ctr"/>
          <a:lstStyle/>
          <a:p>
            <a:pPr indent="0" marL="0">
              <a:buNone/>
            </a:pPr>
            <a:r>
              <a:rPr lang="en-US" sz="1050" b="1" dirty="0">
                <a:solidFill>
                  <a:srgbClr val="001E3C"/>
                </a:solidFill>
                <a:latin typeface="Meiryo" pitchFamily="34" charset="0"/>
                <a:ea typeface="Meiryo" pitchFamily="34" charset="-122"/>
                <a:cs typeface="Meiryo" pitchFamily="34" charset="-120"/>
              </a:rPr>
              <a:t>Communication Services</a:t>
            </a:r>
            <a:endParaRPr lang="en-US" sz="1050" dirty="0"/>
          </a:p>
        </p:txBody>
      </p:sp>
      <p:sp>
        <p:nvSpPr>
          <p:cNvPr id="21" name="Text 18"/>
          <p:cNvSpPr txBox="1"/>
          <p:nvPr/>
        </p:nvSpPr>
        <p:spPr>
          <a:xfrm>
            <a:off x="640080" y="4169664"/>
            <a:ext cx="1645920" cy="365760"/>
          </a:xfrm>
          <a:prstGeom prst="rect">
            <a:avLst/>
          </a:prstGeom>
          <a:noFill/>
          <a:ln/>
        </p:spPr>
        <p:txBody>
          <a:bodyPr wrap="square" lIns="0" tIns="0" rIns="0" bIns="0" rtlCol="0" anchor="ctr"/>
          <a:lstStyle/>
          <a:p>
            <a:pPr indent="0" marL="0">
              <a:buNone/>
            </a:pPr>
            <a:r>
              <a:rPr lang="en-US" sz="900" dirty="0">
                <a:solidFill>
                  <a:srgbClr val="5A6B7B"/>
                </a:solidFill>
                <a:latin typeface="Meiryo" pitchFamily="34" charset="0"/>
                <a:ea typeface="Meiryo" pitchFamily="34" charset="-122"/>
                <a:cs typeface="Meiryo" pitchFamily="34" charset="-120"/>
              </a:rPr>
              <a:t>Azure のメール。SMTP リレー</a:t>
            </a:r>
            <a:endParaRPr lang="en-US" sz="900" dirty="0"/>
          </a:p>
        </p:txBody>
      </p:sp>
      <p:sp>
        <p:nvSpPr>
          <p:cNvPr id="22" name="Shape 19"/>
          <p:cNvSpPr/>
          <p:nvPr/>
        </p:nvSpPr>
        <p:spPr>
          <a:xfrm>
            <a:off x="2628900" y="3291840"/>
            <a:ext cx="198882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2811780" y="3438144"/>
            <a:ext cx="402336" cy="402336"/>
          </a:xfrm>
          <a:prstGeom prst="ellipse">
            <a:avLst/>
          </a:prstGeom>
          <a:solidFill>
            <a:srgbClr val="5BB8FF"/>
          </a:solidFill>
          <a:ln w="12700">
            <a:solidFill>
              <a:srgbClr val="5BB8FF"/>
            </a:solidFill>
            <a:prstDash val="solid"/>
          </a:ln>
        </p:spPr>
      </p:sp>
      <p:pic>
        <p:nvPicPr>
          <p:cNvPr id="24" name="Image 1" descr="preencoded.png">    </p:cNvPr>
          <p:cNvPicPr>
            <a:picLocks noChangeAspect="1"/>
          </p:cNvPicPr>
          <p:nvPr/>
        </p:nvPicPr>
        <p:blipFill>
          <a:blip r:embed="rId2"/>
          <a:stretch>
            <a:fillRect/>
          </a:stretch>
        </p:blipFill>
        <p:spPr>
          <a:xfrm>
            <a:off x="2916387" y="3542751"/>
            <a:ext cx="193121" cy="193121"/>
          </a:xfrm>
          <a:prstGeom prst="rect">
            <a:avLst/>
          </a:prstGeom>
        </p:spPr>
      </p:pic>
      <p:sp>
        <p:nvSpPr>
          <p:cNvPr id="25" name="Text 21"/>
          <p:cNvSpPr txBox="1"/>
          <p:nvPr/>
        </p:nvSpPr>
        <p:spPr>
          <a:xfrm>
            <a:off x="2811780" y="3913632"/>
            <a:ext cx="1645920" cy="219456"/>
          </a:xfrm>
          <a:prstGeom prst="rect">
            <a:avLst/>
          </a:prstGeom>
          <a:noFill/>
          <a:ln/>
        </p:spPr>
        <p:txBody>
          <a:bodyPr wrap="square" lIns="0" tIns="0" rIns="0" bIns="0" rtlCol="0" anchor="ctr"/>
          <a:lstStyle/>
          <a:p>
            <a:pPr indent="0" marL="0">
              <a:buNone/>
            </a:pPr>
            <a:r>
              <a:rPr lang="en-US" sz="1050" b="1" dirty="0">
                <a:solidFill>
                  <a:srgbClr val="001E3C"/>
                </a:solidFill>
                <a:latin typeface="Meiryo" pitchFamily="34" charset="0"/>
                <a:ea typeface="Meiryo" pitchFamily="34" charset="-122"/>
                <a:cs typeface="Meiryo" pitchFamily="34" charset="-120"/>
              </a:rPr>
              <a:t>Google Classroom・Chat</a:t>
            </a:r>
            <a:endParaRPr lang="en-US" sz="1050" dirty="0"/>
          </a:p>
        </p:txBody>
      </p:sp>
      <p:sp>
        <p:nvSpPr>
          <p:cNvPr id="26" name="Text 22"/>
          <p:cNvSpPr txBox="1"/>
          <p:nvPr/>
        </p:nvSpPr>
        <p:spPr>
          <a:xfrm>
            <a:off x="2811780" y="4169664"/>
            <a:ext cx="1645920" cy="365760"/>
          </a:xfrm>
          <a:prstGeom prst="rect">
            <a:avLst/>
          </a:prstGeom>
          <a:noFill/>
          <a:ln/>
        </p:spPr>
        <p:txBody>
          <a:bodyPr wrap="square" lIns="0" tIns="0" rIns="0" bIns="0" rtlCol="0" anchor="ctr"/>
          <a:lstStyle/>
          <a:p>
            <a:pPr indent="0" marL="0">
              <a:buNone/>
            </a:pPr>
            <a:r>
              <a:rPr lang="en-US" sz="900" dirty="0">
                <a:solidFill>
                  <a:srgbClr val="5A6B7B"/>
                </a:solidFill>
                <a:latin typeface="Meiryo" pitchFamily="34" charset="0"/>
                <a:ea typeface="Meiryo" pitchFamily="34" charset="-122"/>
                <a:cs typeface="Meiryo" pitchFamily="34" charset="-120"/>
              </a:rPr>
              <a:t>名簿・招待・Chat への追加</a:t>
            </a:r>
            <a:endParaRPr lang="en-US" sz="900" dirty="0"/>
          </a:p>
        </p:txBody>
      </p:sp>
      <p:sp>
        <p:nvSpPr>
          <p:cNvPr id="27" name="Shape 23"/>
          <p:cNvSpPr/>
          <p:nvPr/>
        </p:nvSpPr>
        <p:spPr>
          <a:xfrm>
            <a:off x="4800600" y="3291840"/>
            <a:ext cx="198882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8" name="Shape 24"/>
          <p:cNvSpPr/>
          <p:nvPr/>
        </p:nvSpPr>
        <p:spPr>
          <a:xfrm>
            <a:off x="4983480" y="3438144"/>
            <a:ext cx="402336" cy="402336"/>
          </a:xfrm>
          <a:prstGeom prst="ellipse">
            <a:avLst/>
          </a:prstGeom>
          <a:solidFill>
            <a:srgbClr val="001E3C"/>
          </a:solidFill>
          <a:ln w="12700">
            <a:solidFill>
              <a:srgbClr val="001E3C"/>
            </a:solidFill>
            <a:prstDash val="solid"/>
          </a:ln>
        </p:spPr>
      </p:sp>
      <p:pic>
        <p:nvPicPr>
          <p:cNvPr id="29" name="Image 2" descr="preencoded.png">    </p:cNvPr>
          <p:cNvPicPr>
            <a:picLocks noChangeAspect="1"/>
          </p:cNvPicPr>
          <p:nvPr/>
        </p:nvPicPr>
        <p:blipFill>
          <a:blip r:embed="rId3"/>
          <a:stretch>
            <a:fillRect/>
          </a:stretch>
        </p:blipFill>
        <p:spPr>
          <a:xfrm>
            <a:off x="5088087" y="3542751"/>
            <a:ext cx="193121" cy="193121"/>
          </a:xfrm>
          <a:prstGeom prst="rect">
            <a:avLst/>
          </a:prstGeom>
        </p:spPr>
      </p:pic>
      <p:sp>
        <p:nvSpPr>
          <p:cNvPr id="30" name="Text 25"/>
          <p:cNvSpPr txBox="1"/>
          <p:nvPr/>
        </p:nvSpPr>
        <p:spPr>
          <a:xfrm>
            <a:off x="4983480" y="3913632"/>
            <a:ext cx="1645920" cy="219456"/>
          </a:xfrm>
          <a:prstGeom prst="rect">
            <a:avLst/>
          </a:prstGeom>
          <a:noFill/>
          <a:ln/>
        </p:spPr>
        <p:txBody>
          <a:bodyPr wrap="square" lIns="0" tIns="0" rIns="0" bIns="0" rtlCol="0" anchor="ctr"/>
          <a:lstStyle/>
          <a:p>
            <a:pPr indent="0" marL="0">
              <a:buNone/>
            </a:pPr>
            <a:r>
              <a:rPr lang="en-US" sz="1050" b="1" dirty="0">
                <a:solidFill>
                  <a:srgbClr val="001E3C"/>
                </a:solidFill>
                <a:latin typeface="Meiryo" pitchFamily="34" charset="0"/>
                <a:ea typeface="Meiryo" pitchFamily="34" charset="-122"/>
                <a:cs typeface="Meiryo" pitchFamily="34" charset="-120"/>
              </a:rPr>
              <a:t>GitHub App</a:t>
            </a:r>
            <a:endParaRPr lang="en-US" sz="1050" dirty="0"/>
          </a:p>
        </p:txBody>
      </p:sp>
      <p:sp>
        <p:nvSpPr>
          <p:cNvPr id="31" name="Text 26"/>
          <p:cNvSpPr txBox="1"/>
          <p:nvPr/>
        </p:nvSpPr>
        <p:spPr>
          <a:xfrm>
            <a:off x="4983480" y="4169664"/>
            <a:ext cx="1645920" cy="365760"/>
          </a:xfrm>
          <a:prstGeom prst="rect">
            <a:avLst/>
          </a:prstGeom>
          <a:noFill/>
          <a:ln/>
        </p:spPr>
        <p:txBody>
          <a:bodyPr wrap="square" lIns="0" tIns="0" rIns="0" bIns="0" rtlCol="0" anchor="ctr"/>
          <a:lstStyle/>
          <a:p>
            <a:pPr indent="0" marL="0">
              <a:buNone/>
            </a:pPr>
            <a:r>
              <a:rPr lang="en-US" sz="900" dirty="0">
                <a:solidFill>
                  <a:srgbClr val="5A6B7B"/>
                </a:solidFill>
                <a:latin typeface="Meiryo" pitchFamily="34" charset="0"/>
                <a:ea typeface="Meiryo" pitchFamily="34" charset="-122"/>
                <a:cs typeface="Meiryo" pitchFamily="34" charset="-120"/>
              </a:rPr>
              <a:t>WG のチームに人を追加する</a:t>
            </a:r>
            <a:endParaRPr lang="en-US" sz="900" dirty="0"/>
          </a:p>
        </p:txBody>
      </p:sp>
      <p:sp>
        <p:nvSpPr>
          <p:cNvPr id="32" name="Shape 27"/>
          <p:cNvSpPr/>
          <p:nvPr/>
        </p:nvSpPr>
        <p:spPr>
          <a:xfrm>
            <a:off x="6972300" y="3291840"/>
            <a:ext cx="198882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3" name="Shape 28"/>
          <p:cNvSpPr/>
          <p:nvPr/>
        </p:nvSpPr>
        <p:spPr>
          <a:xfrm>
            <a:off x="7155180" y="3438144"/>
            <a:ext cx="402336" cy="402336"/>
          </a:xfrm>
          <a:prstGeom prst="ellipse">
            <a:avLst/>
          </a:prstGeom>
          <a:solidFill>
            <a:srgbClr val="5BB8FF"/>
          </a:solidFill>
          <a:ln w="12700">
            <a:solidFill>
              <a:srgbClr val="5BB8FF"/>
            </a:solidFill>
            <a:prstDash val="solid"/>
          </a:ln>
        </p:spPr>
      </p:sp>
      <p:pic>
        <p:nvPicPr>
          <p:cNvPr id="34" name="Image 3" descr="preencoded.png">    </p:cNvPr>
          <p:cNvPicPr>
            <a:picLocks noChangeAspect="1"/>
          </p:cNvPicPr>
          <p:nvPr/>
        </p:nvPicPr>
        <p:blipFill>
          <a:blip r:embed="rId4"/>
          <a:stretch>
            <a:fillRect/>
          </a:stretch>
        </p:blipFill>
        <p:spPr>
          <a:xfrm>
            <a:off x="7259787" y="3542751"/>
            <a:ext cx="193121" cy="193121"/>
          </a:xfrm>
          <a:prstGeom prst="rect">
            <a:avLst/>
          </a:prstGeom>
        </p:spPr>
      </p:pic>
      <p:sp>
        <p:nvSpPr>
          <p:cNvPr id="35" name="Text 29"/>
          <p:cNvSpPr txBox="1"/>
          <p:nvPr/>
        </p:nvSpPr>
        <p:spPr>
          <a:xfrm>
            <a:off x="7155180" y="3913632"/>
            <a:ext cx="1645920" cy="219456"/>
          </a:xfrm>
          <a:prstGeom prst="rect">
            <a:avLst/>
          </a:prstGeom>
          <a:noFill/>
          <a:ln/>
        </p:spPr>
        <p:txBody>
          <a:bodyPr wrap="square" lIns="0" tIns="0" rIns="0" bIns="0" rtlCol="0" anchor="ctr"/>
          <a:lstStyle/>
          <a:p>
            <a:pPr indent="0" marL="0">
              <a:buNone/>
            </a:pPr>
            <a:r>
              <a:rPr lang="en-US" sz="1050" b="1" dirty="0">
                <a:solidFill>
                  <a:srgbClr val="001E3C"/>
                </a:solidFill>
                <a:latin typeface="Meiryo" pitchFamily="34" charset="0"/>
                <a:ea typeface="Meiryo" pitchFamily="34" charset="-122"/>
                <a:cs typeface="Meiryo" pitchFamily="34" charset="-120"/>
              </a:rPr>
              <a:t>Azure Key Vault</a:t>
            </a:r>
            <a:endParaRPr lang="en-US" sz="1050" dirty="0"/>
          </a:p>
        </p:txBody>
      </p:sp>
      <p:sp>
        <p:nvSpPr>
          <p:cNvPr id="36" name="Text 30"/>
          <p:cNvSpPr txBox="1"/>
          <p:nvPr/>
        </p:nvSpPr>
        <p:spPr>
          <a:xfrm>
            <a:off x="7155180" y="4169664"/>
            <a:ext cx="1645920" cy="365760"/>
          </a:xfrm>
          <a:prstGeom prst="rect">
            <a:avLst/>
          </a:prstGeom>
          <a:noFill/>
          <a:ln/>
        </p:spPr>
        <p:txBody>
          <a:bodyPr wrap="square" lIns="0" tIns="0" rIns="0" bIns="0" rtlCol="0" anchor="ctr"/>
          <a:lstStyle/>
          <a:p>
            <a:pPr indent="0" marL="0">
              <a:buNone/>
            </a:pPr>
            <a:r>
              <a:rPr lang="en-US" sz="900" dirty="0">
                <a:solidFill>
                  <a:srgbClr val="5A6B7B"/>
                </a:solidFill>
                <a:latin typeface="Meiryo" pitchFamily="34" charset="0"/>
                <a:ea typeface="Meiryo" pitchFamily="34" charset="-122"/>
                <a:cs typeface="Meiryo" pitchFamily="34" charset="-120"/>
              </a:rPr>
              <a:t>シークレットの置き場</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ディレクトリ</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8 つのまとまりで出来ている</a:t>
            </a:r>
            <a:endParaRPr lang="en-US" sz="2600" dirty="0"/>
          </a:p>
        </p:txBody>
      </p:sp>
      <p:sp>
        <p:nvSpPr>
          <p:cNvPr id="4" name="Shape 2"/>
          <p:cNvSpPr/>
          <p:nvPr/>
        </p:nvSpPr>
        <p:spPr>
          <a:xfrm>
            <a:off x="457200" y="132588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13232" y="144475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config/</a:t>
            </a:r>
            <a:endParaRPr lang="en-US" sz="1250" dirty="0"/>
          </a:p>
        </p:txBody>
      </p:sp>
      <p:sp>
        <p:nvSpPr>
          <p:cNvPr id="6" name="Text 4"/>
          <p:cNvSpPr txBox="1"/>
          <p:nvPr/>
        </p:nvSpPr>
        <p:spPr>
          <a:xfrm>
            <a:off x="713232" y="172821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設定（共通・本番・開発）、URL の入口、ミドルウェア</a:t>
            </a:r>
            <a:endParaRPr lang="en-US" sz="1050" dirty="0"/>
          </a:p>
        </p:txBody>
      </p:sp>
      <p:sp>
        <p:nvSpPr>
          <p:cNvPr id="7" name="Shape 5"/>
          <p:cNvSpPr/>
          <p:nvPr/>
        </p:nvSpPr>
        <p:spPr>
          <a:xfrm>
            <a:off x="457200" y="214884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713232" y="226771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home/</a:t>
            </a:r>
            <a:endParaRPr lang="en-US" sz="1250" dirty="0"/>
          </a:p>
        </p:txBody>
      </p:sp>
      <p:sp>
        <p:nvSpPr>
          <p:cNvPr id="9" name="Text 7"/>
          <p:cNvSpPr txBox="1"/>
          <p:nvPr/>
        </p:nvSpPr>
        <p:spPr>
          <a:xfrm>
            <a:off x="713232" y="255117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公開サイトの 6 ページ・参加フォーム・作成中ページ</a:t>
            </a:r>
            <a:endParaRPr lang="en-US" sz="1050" dirty="0"/>
          </a:p>
        </p:txBody>
      </p:sp>
      <p:sp>
        <p:nvSpPr>
          <p:cNvPr id="10" name="Shape 8"/>
          <p:cNvSpPr/>
          <p:nvPr/>
        </p:nvSpPr>
        <p:spPr>
          <a:xfrm>
            <a:off x="457200" y="297180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13232" y="309067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news/</a:t>
            </a:r>
            <a:endParaRPr lang="en-US" sz="1250" dirty="0"/>
          </a:p>
        </p:txBody>
      </p:sp>
      <p:sp>
        <p:nvSpPr>
          <p:cNvPr id="12" name="Text 10"/>
          <p:cNvSpPr txBox="1"/>
          <p:nvPr/>
        </p:nvSpPr>
        <p:spPr>
          <a:xfrm>
            <a:off x="713232" y="337413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お知らせ。モデルと編集画面を持つ</a:t>
            </a:r>
            <a:endParaRPr lang="en-US" sz="1050" dirty="0"/>
          </a:p>
        </p:txBody>
      </p:sp>
      <p:sp>
        <p:nvSpPr>
          <p:cNvPr id="13" name="Shape 11"/>
          <p:cNvSpPr/>
          <p:nvPr/>
        </p:nvSpPr>
        <p:spPr>
          <a:xfrm>
            <a:off x="457200" y="379476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13232" y="391363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catalog/</a:t>
            </a:r>
            <a:endParaRPr lang="en-US" sz="1250" dirty="0"/>
          </a:p>
        </p:txBody>
      </p:sp>
      <p:sp>
        <p:nvSpPr>
          <p:cNvPr id="15" name="Text 13"/>
          <p:cNvSpPr txBox="1"/>
          <p:nvPr/>
        </p:nvSpPr>
        <p:spPr>
          <a:xfrm>
            <a:off x="713232" y="419709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WG 紹介と成果物紹介。モデルと編集画面を持つ</a:t>
            </a:r>
            <a:endParaRPr lang="en-US" sz="1050" dirty="0"/>
          </a:p>
        </p:txBody>
      </p:sp>
      <p:sp>
        <p:nvSpPr>
          <p:cNvPr id="16" name="Shape 14"/>
          <p:cNvSpPr/>
          <p:nvPr/>
        </p:nvSpPr>
        <p:spPr>
          <a:xfrm>
            <a:off x="4663440" y="132588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919472" y="144475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edit/</a:t>
            </a:r>
            <a:endParaRPr lang="en-US" sz="1250" dirty="0"/>
          </a:p>
        </p:txBody>
      </p:sp>
      <p:sp>
        <p:nvSpPr>
          <p:cNvPr id="18" name="Text 16"/>
          <p:cNvSpPr txBox="1"/>
          <p:nvPr/>
        </p:nvSpPr>
        <p:spPr>
          <a:xfrm>
            <a:off x="4919472" y="172821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編集画面の枠、管理者（連絡先）、通知、定期点検</a:t>
            </a:r>
            <a:endParaRPr lang="en-US" sz="1050" dirty="0"/>
          </a:p>
        </p:txBody>
      </p:sp>
      <p:sp>
        <p:nvSpPr>
          <p:cNvPr id="19" name="Shape 17"/>
          <p:cNvSpPr/>
          <p:nvPr/>
        </p:nvSpPr>
        <p:spPr>
          <a:xfrm>
            <a:off x="4663440" y="214884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4919472" y="226771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wgjoin/</a:t>
            </a:r>
            <a:endParaRPr lang="en-US" sz="1250" dirty="0"/>
          </a:p>
        </p:txBody>
      </p:sp>
      <p:sp>
        <p:nvSpPr>
          <p:cNvPr id="21" name="Text 19"/>
          <p:cNvSpPr txBox="1"/>
          <p:nvPr/>
        </p:nvSpPr>
        <p:spPr>
          <a:xfrm>
            <a:off x="4919472" y="255117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WG への参加。Classroom・Chat・GitHub をつなぐ</a:t>
            </a:r>
            <a:endParaRPr lang="en-US" sz="1050" dirty="0"/>
          </a:p>
        </p:txBody>
      </p:sp>
      <p:sp>
        <p:nvSpPr>
          <p:cNvPr id="22" name="Shape 20"/>
          <p:cNvSpPr/>
          <p:nvPr/>
        </p:nvSpPr>
        <p:spPr>
          <a:xfrm>
            <a:off x="4663440" y="297180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4919472" y="309067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works/  wg/</a:t>
            </a:r>
            <a:endParaRPr lang="en-US" sz="1250" dirty="0"/>
          </a:p>
        </p:txBody>
      </p:sp>
      <p:sp>
        <p:nvSpPr>
          <p:cNvPr id="24" name="Text 22"/>
          <p:cNvSpPr txBox="1"/>
          <p:nvPr/>
        </p:nvSpPr>
        <p:spPr>
          <a:xfrm>
            <a:off x="4919472" y="337413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公表した成果物（countdown・fe）と、作っている途中の WG のアプリ</a:t>
            </a:r>
            <a:endParaRPr lang="en-US" sz="1050" dirty="0"/>
          </a:p>
        </p:txBody>
      </p:sp>
      <p:sp>
        <p:nvSpPr>
          <p:cNvPr id="25" name="Shape 23"/>
          <p:cNvSpPr/>
          <p:nvPr/>
        </p:nvSpPr>
        <p:spPr>
          <a:xfrm>
            <a:off x="4663440" y="3794760"/>
            <a:ext cx="40233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4919472" y="3913632"/>
            <a:ext cx="35661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templates/ static/</a:t>
            </a:r>
            <a:endParaRPr lang="en-US" sz="1250" dirty="0"/>
          </a:p>
        </p:txBody>
      </p:sp>
      <p:sp>
        <p:nvSpPr>
          <p:cNvPr id="27" name="Text 25"/>
          <p:cNvSpPr txBox="1"/>
          <p:nvPr/>
        </p:nvSpPr>
        <p:spPr>
          <a:xfrm>
            <a:off x="4919472" y="4197096"/>
            <a:ext cx="3566160" cy="27432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公開サイトの共通レイアウトとデザイン一式</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URL</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認証が要るのは編集画面だけ</a:t>
            </a:r>
            <a:endParaRPr lang="en-US" sz="2600" dirty="0"/>
          </a:p>
        </p:txBody>
      </p:sp>
      <p:sp>
        <p:nvSpPr>
          <p:cNvPr id="4" name="Shape 2"/>
          <p:cNvSpPr/>
          <p:nvPr/>
        </p:nvSpPr>
        <p:spPr>
          <a:xfrm>
            <a:off x="457200" y="1371600"/>
            <a:ext cx="4023360" cy="3108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627632"/>
            <a:ext cx="493776" cy="493776"/>
          </a:xfrm>
          <a:prstGeom prst="ellipse">
            <a:avLst/>
          </a:prstGeom>
          <a:solidFill>
            <a:srgbClr val="001E3C"/>
          </a:solidFill>
          <a:ln w="12700">
            <a:solidFill>
              <a:srgbClr val="001E3C"/>
            </a:solidFill>
            <a:prstDash val="solid"/>
          </a:ln>
        </p:spPr>
      </p:sp>
      <p:pic>
        <p:nvPicPr>
          <p:cNvPr id="6" name="Image 0" descr="preencoded.png">    </p:cNvPr>
          <p:cNvPicPr>
            <a:picLocks noChangeAspect="1"/>
          </p:cNvPicPr>
          <p:nvPr/>
        </p:nvPicPr>
        <p:blipFill>
          <a:blip r:embed="rId1"/>
          <a:stretch>
            <a:fillRect/>
          </a:stretch>
        </p:blipFill>
        <p:spPr>
          <a:xfrm>
            <a:off x="859902" y="1756014"/>
            <a:ext cx="237012" cy="237012"/>
          </a:xfrm>
          <a:prstGeom prst="rect">
            <a:avLst/>
          </a:prstGeom>
        </p:spPr>
      </p:pic>
      <p:sp>
        <p:nvSpPr>
          <p:cNvPr id="7" name="Text 4"/>
          <p:cNvSpPr txBox="1"/>
          <p:nvPr/>
        </p:nvSpPr>
        <p:spPr>
          <a:xfrm>
            <a:off x="1417320" y="1691640"/>
            <a:ext cx="2788920" cy="365760"/>
          </a:xfrm>
          <a:prstGeom prst="rect">
            <a:avLst/>
          </a:prstGeom>
          <a:noFill/>
          <a:ln/>
        </p:spPr>
        <p:txBody>
          <a:bodyPr wrap="square" lIns="0" tIns="0" rIns="0" bIns="0" rtlCol="0" anchor="ctr"/>
          <a:lstStyle/>
          <a:p>
            <a:pPr indent="0" marL="0">
              <a:buNone/>
            </a:pPr>
            <a:r>
              <a:rPr lang="en-US" sz="1700" b="1" dirty="0">
                <a:solidFill>
                  <a:srgbClr val="001E3C"/>
                </a:solidFill>
                <a:latin typeface="Meiryo" pitchFamily="34" charset="0"/>
                <a:ea typeface="Meiryo" pitchFamily="34" charset="-122"/>
                <a:cs typeface="Meiryo" pitchFamily="34" charset="-120"/>
              </a:rPr>
              <a:t>認証なし（公開）</a:t>
            </a:r>
            <a:endParaRPr lang="en-US" sz="1700" dirty="0"/>
          </a:p>
        </p:txBody>
      </p:sp>
      <p:sp>
        <p:nvSpPr>
          <p:cNvPr id="8" name="Text 5"/>
          <p:cNvSpPr txBox="1"/>
          <p:nvPr/>
        </p:nvSpPr>
        <p:spPr>
          <a:xfrm>
            <a:off x="731520" y="224028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a:t>
            </a:r>
            <a:endParaRPr lang="en-US" sz="950" dirty="0"/>
          </a:p>
        </p:txBody>
      </p:sp>
      <p:sp>
        <p:nvSpPr>
          <p:cNvPr id="9" name="Text 6"/>
          <p:cNvSpPr txBox="1"/>
          <p:nvPr/>
        </p:nvSpPr>
        <p:spPr>
          <a:xfrm>
            <a:off x="731520" y="237744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TOP。ヒーロー・活動サマリ・お知らせ 3 件</a:t>
            </a:r>
            <a:endParaRPr lang="en-US" sz="850" dirty="0"/>
          </a:p>
        </p:txBody>
      </p:sp>
      <p:sp>
        <p:nvSpPr>
          <p:cNvPr id="10" name="Text 7"/>
          <p:cNvSpPr txBox="1"/>
          <p:nvPr/>
        </p:nvSpPr>
        <p:spPr>
          <a:xfrm>
            <a:off x="731520" y="251460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/news/</a:t>
            </a:r>
            <a:endParaRPr lang="en-US" sz="950" dirty="0"/>
          </a:p>
        </p:txBody>
      </p:sp>
      <p:sp>
        <p:nvSpPr>
          <p:cNvPr id="11" name="Text 8"/>
          <p:cNvSpPr txBox="1"/>
          <p:nvPr/>
        </p:nvSpPr>
        <p:spPr>
          <a:xfrm>
            <a:off x="731520" y="265176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お知らせの一覧</a:t>
            </a:r>
            <a:endParaRPr lang="en-US" sz="850" dirty="0"/>
          </a:p>
        </p:txBody>
      </p:sp>
      <p:sp>
        <p:nvSpPr>
          <p:cNvPr id="12" name="Text 9"/>
          <p:cNvSpPr txBox="1"/>
          <p:nvPr/>
        </p:nvSpPr>
        <p:spPr>
          <a:xfrm>
            <a:off x="731520" y="278892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/wg/  /works/</a:t>
            </a:r>
            <a:endParaRPr lang="en-US" sz="950" dirty="0"/>
          </a:p>
        </p:txBody>
      </p:sp>
      <p:sp>
        <p:nvSpPr>
          <p:cNvPr id="13" name="Text 10"/>
          <p:cNvSpPr txBox="1"/>
          <p:nvPr/>
        </p:nvSpPr>
        <p:spPr>
          <a:xfrm>
            <a:off x="731520" y="292608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WG 一覧・成果物一覧</a:t>
            </a:r>
            <a:endParaRPr lang="en-US" sz="850" dirty="0"/>
          </a:p>
        </p:txBody>
      </p:sp>
      <p:sp>
        <p:nvSpPr>
          <p:cNvPr id="14" name="Text 11"/>
          <p:cNvSpPr txBox="1"/>
          <p:nvPr/>
        </p:nvSpPr>
        <p:spPr>
          <a:xfrm>
            <a:off x="731520" y="306324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/join/  /join/apply/</a:t>
            </a:r>
            <a:endParaRPr lang="en-US" sz="950" dirty="0"/>
          </a:p>
        </p:txBody>
      </p:sp>
      <p:sp>
        <p:nvSpPr>
          <p:cNvPr id="15" name="Text 12"/>
          <p:cNvSpPr txBox="1"/>
          <p:nvPr/>
        </p:nvSpPr>
        <p:spPr>
          <a:xfrm>
            <a:off x="731520" y="320040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参加の案内と申し込みフォーム</a:t>
            </a:r>
            <a:endParaRPr lang="en-US" sz="850" dirty="0"/>
          </a:p>
        </p:txBody>
      </p:sp>
      <p:sp>
        <p:nvSpPr>
          <p:cNvPr id="16" name="Text 13"/>
          <p:cNvSpPr txBox="1"/>
          <p:nvPr/>
        </p:nvSpPr>
        <p:spPr>
          <a:xfrm>
            <a:off x="731520" y="333756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/wg/&lt;id&gt;/join/</a:t>
            </a:r>
            <a:endParaRPr lang="en-US" sz="950" dirty="0"/>
          </a:p>
        </p:txBody>
      </p:sp>
      <p:sp>
        <p:nvSpPr>
          <p:cNvPr id="17" name="Text 14"/>
          <p:cNvSpPr txBox="1"/>
          <p:nvPr/>
        </p:nvSpPr>
        <p:spPr>
          <a:xfrm>
            <a:off x="731520" y="347472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WG への参加（設定がそろったときだけ）</a:t>
            </a:r>
            <a:endParaRPr lang="en-US" sz="850" dirty="0"/>
          </a:p>
        </p:txBody>
      </p:sp>
      <p:sp>
        <p:nvSpPr>
          <p:cNvPr id="18" name="Text 15"/>
          <p:cNvSpPr txBox="1"/>
          <p:nvPr/>
        </p:nvSpPr>
        <p:spPr>
          <a:xfrm>
            <a:off x="731520" y="361188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/guide/</a:t>
            </a:r>
            <a:endParaRPr lang="en-US" sz="950" dirty="0"/>
          </a:p>
        </p:txBody>
      </p:sp>
      <p:sp>
        <p:nvSpPr>
          <p:cNvPr id="19" name="Text 16"/>
          <p:cNvSpPr txBox="1"/>
          <p:nvPr/>
        </p:nvSpPr>
        <p:spPr>
          <a:xfrm>
            <a:off x="731520" y="374904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WG 立ち上げガイドの資料。参加のあとに案内する</a:t>
            </a:r>
            <a:endParaRPr lang="en-US" sz="850" dirty="0"/>
          </a:p>
        </p:txBody>
      </p:sp>
      <p:sp>
        <p:nvSpPr>
          <p:cNvPr id="20" name="Text 17"/>
          <p:cNvSpPr txBox="1"/>
          <p:nvPr/>
        </p:nvSpPr>
        <p:spPr>
          <a:xfrm>
            <a:off x="731520" y="388620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/countdown/  /fe/  /protein/</a:t>
            </a:r>
            <a:endParaRPr lang="en-US" sz="950" dirty="0"/>
          </a:p>
        </p:txBody>
      </p:sp>
      <p:sp>
        <p:nvSpPr>
          <p:cNvPr id="21" name="Text 18"/>
          <p:cNvSpPr txBox="1"/>
          <p:nvPr/>
        </p:nvSpPr>
        <p:spPr>
          <a:xfrm>
            <a:off x="731520" y="402336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サブアプリ。一覧から辿ったときだけ開く</a:t>
            </a:r>
            <a:endParaRPr lang="en-US" sz="850" dirty="0"/>
          </a:p>
        </p:txBody>
      </p:sp>
      <p:sp>
        <p:nvSpPr>
          <p:cNvPr id="22" name="Text 19"/>
          <p:cNvSpPr txBox="1"/>
          <p:nvPr/>
        </p:nvSpPr>
        <p:spPr>
          <a:xfrm>
            <a:off x="731520" y="416052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/coming-soon/</a:t>
            </a:r>
            <a:endParaRPr lang="en-US" sz="950" dirty="0"/>
          </a:p>
        </p:txBody>
      </p:sp>
      <p:sp>
        <p:nvSpPr>
          <p:cNvPr id="23" name="Text 20"/>
          <p:cNvSpPr txBox="1"/>
          <p:nvPr/>
        </p:nvSpPr>
        <p:spPr>
          <a:xfrm>
            <a:off x="731520" y="429768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URL が未設定のリンクの行き先</a:t>
            </a:r>
            <a:endParaRPr lang="en-US" sz="850" dirty="0"/>
          </a:p>
        </p:txBody>
      </p:sp>
      <p:sp>
        <p:nvSpPr>
          <p:cNvPr id="24" name="Shape 21"/>
          <p:cNvSpPr/>
          <p:nvPr/>
        </p:nvSpPr>
        <p:spPr>
          <a:xfrm>
            <a:off x="4663440" y="1371600"/>
            <a:ext cx="4023360" cy="3108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4937760" y="1627632"/>
            <a:ext cx="493776" cy="493776"/>
          </a:xfrm>
          <a:prstGeom prst="ellipse">
            <a:avLst/>
          </a:prstGeom>
          <a:solidFill>
            <a:srgbClr val="5BB8FF"/>
          </a:solidFill>
          <a:ln w="12700">
            <a:solidFill>
              <a:srgbClr val="5BB8FF"/>
            </a:solidFill>
            <a:prstDash val="solid"/>
          </a:ln>
        </p:spPr>
      </p:sp>
      <p:pic>
        <p:nvPicPr>
          <p:cNvPr id="26" name="Image 1" descr="preencoded.png">    </p:cNvPr>
          <p:cNvPicPr>
            <a:picLocks noChangeAspect="1"/>
          </p:cNvPicPr>
          <p:nvPr/>
        </p:nvPicPr>
        <p:blipFill>
          <a:blip r:embed="rId2"/>
          <a:stretch>
            <a:fillRect/>
          </a:stretch>
        </p:blipFill>
        <p:spPr>
          <a:xfrm>
            <a:off x="5066142" y="1756014"/>
            <a:ext cx="237012" cy="237012"/>
          </a:xfrm>
          <a:prstGeom prst="rect">
            <a:avLst/>
          </a:prstGeom>
        </p:spPr>
      </p:pic>
      <p:sp>
        <p:nvSpPr>
          <p:cNvPr id="27" name="Text 23"/>
          <p:cNvSpPr txBox="1"/>
          <p:nvPr/>
        </p:nvSpPr>
        <p:spPr>
          <a:xfrm>
            <a:off x="5623560" y="1691640"/>
            <a:ext cx="2788920" cy="365760"/>
          </a:xfrm>
          <a:prstGeom prst="rect">
            <a:avLst/>
          </a:prstGeom>
          <a:noFill/>
          <a:ln/>
        </p:spPr>
        <p:txBody>
          <a:bodyPr wrap="square" lIns="0" tIns="0" rIns="0" bIns="0" rtlCol="0" anchor="ctr"/>
          <a:lstStyle/>
          <a:p>
            <a:pPr indent="0" marL="0">
              <a:buNone/>
            </a:pPr>
            <a:r>
              <a:rPr lang="en-US" sz="1700" b="1" dirty="0">
                <a:solidFill>
                  <a:srgbClr val="001E3C"/>
                </a:solidFill>
                <a:latin typeface="Meiryo" pitchFamily="34" charset="0"/>
                <a:ea typeface="Meiryo" pitchFamily="34" charset="-122"/>
                <a:cs typeface="Meiryo" pitchFamily="34" charset="-120"/>
              </a:rPr>
              <a:t>ログイン必須</a:t>
            </a:r>
            <a:endParaRPr lang="en-US" sz="1700" dirty="0"/>
          </a:p>
        </p:txBody>
      </p:sp>
      <p:sp>
        <p:nvSpPr>
          <p:cNvPr id="28" name="Text 24"/>
          <p:cNvSpPr txBox="1"/>
          <p:nvPr/>
        </p:nvSpPr>
        <p:spPr>
          <a:xfrm>
            <a:off x="4937760" y="224028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/edit/</a:t>
            </a:r>
            <a:endParaRPr lang="en-US" sz="950" dirty="0"/>
          </a:p>
        </p:txBody>
      </p:sp>
      <p:sp>
        <p:nvSpPr>
          <p:cNvPr id="29" name="Text 25"/>
          <p:cNvSpPr txBox="1"/>
          <p:nvPr/>
        </p:nvSpPr>
        <p:spPr>
          <a:xfrm>
            <a:off x="4937760" y="237744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編集のメニュー</a:t>
            </a:r>
            <a:endParaRPr lang="en-US" sz="850" dirty="0"/>
          </a:p>
        </p:txBody>
      </p:sp>
      <p:sp>
        <p:nvSpPr>
          <p:cNvPr id="30" name="Text 26"/>
          <p:cNvSpPr txBox="1"/>
          <p:nvPr/>
        </p:nvSpPr>
        <p:spPr>
          <a:xfrm>
            <a:off x="4937760" y="251460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/edit/news/</a:t>
            </a:r>
            <a:endParaRPr lang="en-US" sz="950" dirty="0"/>
          </a:p>
        </p:txBody>
      </p:sp>
      <p:sp>
        <p:nvSpPr>
          <p:cNvPr id="31" name="Text 27"/>
          <p:cNvSpPr txBox="1"/>
          <p:nvPr/>
        </p:nvSpPr>
        <p:spPr>
          <a:xfrm>
            <a:off x="4937760" y="265176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お知らせの編集</a:t>
            </a:r>
            <a:endParaRPr lang="en-US" sz="850" dirty="0"/>
          </a:p>
        </p:txBody>
      </p:sp>
      <p:sp>
        <p:nvSpPr>
          <p:cNvPr id="32" name="Text 28"/>
          <p:cNvSpPr txBox="1"/>
          <p:nvPr/>
        </p:nvSpPr>
        <p:spPr>
          <a:xfrm>
            <a:off x="4937760" y="278892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/edit/wg/  /edit/works/</a:t>
            </a:r>
            <a:endParaRPr lang="en-US" sz="950" dirty="0"/>
          </a:p>
        </p:txBody>
      </p:sp>
      <p:sp>
        <p:nvSpPr>
          <p:cNvPr id="33" name="Text 29"/>
          <p:cNvSpPr txBox="1"/>
          <p:nvPr/>
        </p:nvSpPr>
        <p:spPr>
          <a:xfrm>
            <a:off x="4937760" y="292608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WG 紹介・成果物紹介の編集</a:t>
            </a:r>
            <a:endParaRPr lang="en-US" sz="850" dirty="0"/>
          </a:p>
        </p:txBody>
      </p:sp>
      <p:sp>
        <p:nvSpPr>
          <p:cNvPr id="34" name="Text 30"/>
          <p:cNvSpPr txBox="1"/>
          <p:nvPr/>
        </p:nvSpPr>
        <p:spPr>
          <a:xfrm>
            <a:off x="4937760" y="306324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/edit/login/</a:t>
            </a:r>
            <a:endParaRPr lang="en-US" sz="950" dirty="0"/>
          </a:p>
        </p:txBody>
      </p:sp>
      <p:sp>
        <p:nvSpPr>
          <p:cNvPr id="35" name="Text 31"/>
          <p:cNvSpPr txBox="1"/>
          <p:nvPr/>
        </p:nvSpPr>
        <p:spPr>
          <a:xfrm>
            <a:off x="4937760" y="320040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ログイン（公開サイトからはリンクしない）</a:t>
            </a:r>
            <a:endParaRPr lang="en-US" sz="850" dirty="0"/>
          </a:p>
        </p:txBody>
      </p:sp>
      <p:sp>
        <p:nvSpPr>
          <p:cNvPr id="36" name="Text 32"/>
          <p:cNvSpPr txBox="1"/>
          <p:nvPr/>
        </p:nvSpPr>
        <p:spPr>
          <a:xfrm>
            <a:off x="4937760" y="3337560"/>
            <a:ext cx="3474720" cy="164592"/>
          </a:xfrm>
          <a:prstGeom prst="rect">
            <a:avLst/>
          </a:prstGeom>
          <a:noFill/>
          <a:ln/>
        </p:spPr>
        <p:txBody>
          <a:bodyPr wrap="square" lIns="0" tIns="0" rIns="0" bIns="0" rtlCol="0" anchor="ctr"/>
          <a:lstStyle/>
          <a:p>
            <a:pPr indent="0" marL="0">
              <a:buNone/>
            </a:pPr>
            <a:r>
              <a:rPr lang="en-US" sz="950" b="1" dirty="0">
                <a:solidFill>
                  <a:srgbClr val="1A4A70"/>
                </a:solidFill>
                <a:latin typeface="Consolas" pitchFamily="34" charset="0"/>
                <a:ea typeface="Consolas" pitchFamily="34" charset="-122"/>
                <a:cs typeface="Consolas" pitchFamily="34" charset="-120"/>
              </a:rPr>
              <a:t>/admin/</a:t>
            </a:r>
            <a:endParaRPr lang="en-US" sz="950" dirty="0"/>
          </a:p>
        </p:txBody>
      </p:sp>
      <p:sp>
        <p:nvSpPr>
          <p:cNvPr id="37" name="Text 33"/>
          <p:cNvSpPr txBox="1"/>
          <p:nvPr/>
        </p:nvSpPr>
        <p:spPr>
          <a:xfrm>
            <a:off x="4937760" y="3474720"/>
            <a:ext cx="3474720" cy="164592"/>
          </a:xfrm>
          <a:prstGeom prst="rect">
            <a:avLst/>
          </a:prstGeom>
          <a:noFill/>
          <a:ln/>
        </p:spPr>
        <p:txBody>
          <a:bodyPr wrap="square" lIns="0" tIns="0" rIns="0" bIns="0" rtlCol="0" anchor="ctr"/>
          <a:lstStyle/>
          <a:p>
            <a:pPr indent="0" marL="0">
              <a:buNone/>
            </a:pPr>
            <a:r>
              <a:rPr lang="en-US" sz="850" dirty="0">
                <a:solidFill>
                  <a:srgbClr val="5A6B7B"/>
                </a:solidFill>
                <a:latin typeface="Meiryo" pitchFamily="34" charset="0"/>
                <a:ea typeface="Meiryo" pitchFamily="34" charset="-122"/>
                <a:cs typeface="Meiryo" pitchFamily="34" charset="-120"/>
              </a:rPr>
              <a:t>テーブルの一覧・検索。遮断 IP の解除もここ</a:t>
            </a:r>
            <a:endParaRPr lang="en-US" sz="850" dirty="0"/>
          </a:p>
        </p:txBody>
      </p:sp>
      <p:sp>
        <p:nvSpPr>
          <p:cNvPr id="38" name="Text 34"/>
          <p:cNvSpPr txBox="1"/>
          <p:nvPr/>
        </p:nvSpPr>
        <p:spPr>
          <a:xfrm>
            <a:off x="457200" y="4572000"/>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既定はすべての画面がログイン必須。公開ページは login_not_required で外し、サブアプリにはさらに一覧からの通行証が要る（config/gate.py）。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データ</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DB にあるのは掲載内容と連絡先だけ</a:t>
            </a:r>
            <a:endParaRPr lang="en-US" sz="2600" dirty="0"/>
          </a:p>
        </p:txBody>
      </p:sp>
      <p:sp>
        <p:nvSpPr>
          <p:cNvPr id="4" name="Shape 2"/>
          <p:cNvSpPr/>
          <p:nvPr/>
        </p:nvSpPr>
        <p:spPr>
          <a:xfrm>
            <a:off x="457200" y="1371600"/>
            <a:ext cx="2681935" cy="1554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13232" y="1572768"/>
            <a:ext cx="21945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news.News</a:t>
            </a:r>
            <a:endParaRPr lang="en-US" sz="1250" dirty="0"/>
          </a:p>
        </p:txBody>
      </p:sp>
      <p:sp>
        <p:nvSpPr>
          <p:cNvPr id="6" name="Text 4"/>
          <p:cNvSpPr txBox="1"/>
          <p:nvPr/>
        </p:nvSpPr>
        <p:spPr>
          <a:xfrm>
            <a:off x="713232" y="1828800"/>
            <a:ext cx="2194560" cy="201168"/>
          </a:xfrm>
          <a:prstGeom prst="rect">
            <a:avLst/>
          </a:prstGeom>
          <a:noFill/>
          <a:ln/>
        </p:spPr>
        <p:txBody>
          <a:bodyPr wrap="square" lIns="0" tIns="0" rIns="0" bIns="0" rtlCol="0" anchor="ctr"/>
          <a:lstStyle/>
          <a:p>
            <a:pPr indent="0" marL="0">
              <a:buNone/>
            </a:pPr>
            <a:r>
              <a:rPr lang="en-US" sz="950" dirty="0">
                <a:solidFill>
                  <a:srgbClr val="5A6B7B"/>
                </a:solidFill>
                <a:latin typeface="Consolas" pitchFamily="34" charset="0"/>
                <a:ea typeface="Consolas" pitchFamily="34" charset="-122"/>
                <a:cs typeface="Consolas" pitchFamily="34" charset="-120"/>
              </a:rPr>
              <a:t>funitclub_news</a:t>
            </a:r>
            <a:endParaRPr lang="en-US" sz="950" dirty="0"/>
          </a:p>
        </p:txBody>
      </p:sp>
      <p:sp>
        <p:nvSpPr>
          <p:cNvPr id="7" name="Text 5"/>
          <p:cNvSpPr txBox="1"/>
          <p:nvPr/>
        </p:nvSpPr>
        <p:spPr>
          <a:xfrm>
            <a:off x="713232" y="2148840"/>
            <a:ext cx="2194560" cy="68580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掲載日・本文・バッジ・公開する。TOP に新しい順で 3 件。掲載日が未来なら出ない</a:t>
            </a:r>
            <a:endParaRPr lang="en-US" sz="1000" dirty="0"/>
          </a:p>
        </p:txBody>
      </p:sp>
      <p:sp>
        <p:nvSpPr>
          <p:cNvPr id="8" name="Shape 6"/>
          <p:cNvSpPr/>
          <p:nvPr/>
        </p:nvSpPr>
        <p:spPr>
          <a:xfrm>
            <a:off x="3230575" y="1371600"/>
            <a:ext cx="2681935" cy="1554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86607" y="1572768"/>
            <a:ext cx="21945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catalog.Wg</a:t>
            </a:r>
            <a:endParaRPr lang="en-US" sz="1250" dirty="0"/>
          </a:p>
        </p:txBody>
      </p:sp>
      <p:sp>
        <p:nvSpPr>
          <p:cNvPr id="10" name="Text 8"/>
          <p:cNvSpPr txBox="1"/>
          <p:nvPr/>
        </p:nvSpPr>
        <p:spPr>
          <a:xfrm>
            <a:off x="3486607" y="1828800"/>
            <a:ext cx="2194560" cy="201168"/>
          </a:xfrm>
          <a:prstGeom prst="rect">
            <a:avLst/>
          </a:prstGeom>
          <a:noFill/>
          <a:ln/>
        </p:spPr>
        <p:txBody>
          <a:bodyPr wrap="square" lIns="0" tIns="0" rIns="0" bIns="0" rtlCol="0" anchor="ctr"/>
          <a:lstStyle/>
          <a:p>
            <a:pPr indent="0" marL="0">
              <a:buNone/>
            </a:pPr>
            <a:r>
              <a:rPr lang="en-US" sz="950" dirty="0">
                <a:solidFill>
                  <a:srgbClr val="5A6B7B"/>
                </a:solidFill>
                <a:latin typeface="Consolas" pitchFamily="34" charset="0"/>
                <a:ea typeface="Consolas" pitchFamily="34" charset="-122"/>
                <a:cs typeface="Consolas" pitchFamily="34" charset="-120"/>
              </a:rPr>
              <a:t>funitclub_wg</a:t>
            </a:r>
            <a:endParaRPr lang="en-US" sz="950" dirty="0"/>
          </a:p>
        </p:txBody>
      </p:sp>
      <p:sp>
        <p:nvSpPr>
          <p:cNvPr id="11" name="Text 9"/>
          <p:cNvSpPr txBox="1"/>
          <p:nvPr/>
        </p:nvSpPr>
        <p:spPr>
          <a:xfrm>
            <a:off x="3486607" y="2148840"/>
            <a:ext cx="2194560" cy="68580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識別子・名前・説明・状態・アプリの URL・GitHub のチーム・表示順</a:t>
            </a:r>
            <a:endParaRPr lang="en-US" sz="1000" dirty="0"/>
          </a:p>
        </p:txBody>
      </p:sp>
      <p:sp>
        <p:nvSpPr>
          <p:cNvPr id="12" name="Shape 10"/>
          <p:cNvSpPr/>
          <p:nvPr/>
        </p:nvSpPr>
        <p:spPr>
          <a:xfrm>
            <a:off x="6003950" y="1371600"/>
            <a:ext cx="2681935" cy="1554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259982" y="1572768"/>
            <a:ext cx="219456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catalog.Work</a:t>
            </a:r>
            <a:endParaRPr lang="en-US" sz="1250" dirty="0"/>
          </a:p>
        </p:txBody>
      </p:sp>
      <p:sp>
        <p:nvSpPr>
          <p:cNvPr id="14" name="Text 12"/>
          <p:cNvSpPr txBox="1"/>
          <p:nvPr/>
        </p:nvSpPr>
        <p:spPr>
          <a:xfrm>
            <a:off x="6259982" y="1828800"/>
            <a:ext cx="2194560" cy="201168"/>
          </a:xfrm>
          <a:prstGeom prst="rect">
            <a:avLst/>
          </a:prstGeom>
          <a:noFill/>
          <a:ln/>
        </p:spPr>
        <p:txBody>
          <a:bodyPr wrap="square" lIns="0" tIns="0" rIns="0" bIns="0" rtlCol="0" anchor="ctr"/>
          <a:lstStyle/>
          <a:p>
            <a:pPr indent="0" marL="0">
              <a:buNone/>
            </a:pPr>
            <a:r>
              <a:rPr lang="en-US" sz="950" dirty="0">
                <a:solidFill>
                  <a:srgbClr val="5A6B7B"/>
                </a:solidFill>
                <a:latin typeface="Consolas" pitchFamily="34" charset="0"/>
                <a:ea typeface="Consolas" pitchFamily="34" charset="-122"/>
                <a:cs typeface="Consolas" pitchFamily="34" charset="-120"/>
              </a:rPr>
              <a:t>funitclub_work</a:t>
            </a:r>
            <a:endParaRPr lang="en-US" sz="950" dirty="0"/>
          </a:p>
        </p:txBody>
      </p:sp>
      <p:sp>
        <p:nvSpPr>
          <p:cNvPr id="15" name="Text 13"/>
          <p:cNvSpPr txBox="1"/>
          <p:nvPr/>
        </p:nvSpPr>
        <p:spPr>
          <a:xfrm>
            <a:off x="6259982" y="2148840"/>
            <a:ext cx="2194560" cy="68580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種別・題名・説明・ライセンス・公開先の URL・表示順</a:t>
            </a:r>
            <a:endParaRPr lang="en-US" sz="1000" dirty="0"/>
          </a:p>
        </p:txBody>
      </p:sp>
      <p:sp>
        <p:nvSpPr>
          <p:cNvPr id="16" name="Shape 14"/>
          <p:cNvSpPr/>
          <p:nvPr/>
        </p:nvSpPr>
        <p:spPr>
          <a:xfrm>
            <a:off x="457200" y="3063240"/>
            <a:ext cx="4023360" cy="11887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713232" y="3264408"/>
            <a:ext cx="352044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edit.Administrator</a:t>
            </a:r>
            <a:endParaRPr lang="en-US" sz="1250" dirty="0"/>
          </a:p>
        </p:txBody>
      </p:sp>
      <p:sp>
        <p:nvSpPr>
          <p:cNvPr id="18" name="Text 16"/>
          <p:cNvSpPr txBox="1"/>
          <p:nvPr/>
        </p:nvSpPr>
        <p:spPr>
          <a:xfrm>
            <a:off x="713232" y="3566160"/>
            <a:ext cx="3520440" cy="54864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運営の連絡先。通知の宛先と、公開ページに出す問い合わせ先はここだけを見る</a:t>
            </a:r>
            <a:endParaRPr lang="en-US" sz="1050" dirty="0"/>
          </a:p>
        </p:txBody>
      </p:sp>
      <p:sp>
        <p:nvSpPr>
          <p:cNvPr id="19" name="Shape 17"/>
          <p:cNvSpPr/>
          <p:nvPr/>
        </p:nvSpPr>
        <p:spPr>
          <a:xfrm>
            <a:off x="4663440" y="3063240"/>
            <a:ext cx="4023360" cy="11887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4919472" y="3264408"/>
            <a:ext cx="3520440" cy="237744"/>
          </a:xfrm>
          <a:prstGeom prst="rect">
            <a:avLst/>
          </a:prstGeom>
          <a:noFill/>
          <a:ln/>
        </p:spPr>
        <p:txBody>
          <a:bodyPr wrap="square" lIns="0" tIns="0" rIns="0" bIns="0" rtlCol="0" anchor="ctr"/>
          <a:lstStyle/>
          <a:p>
            <a:pPr indent="0" marL="0">
              <a:buNone/>
            </a:pPr>
            <a:r>
              <a:rPr lang="en-US" sz="1250" b="1" dirty="0">
                <a:solidFill>
                  <a:srgbClr val="001E3C"/>
                </a:solidFill>
                <a:latin typeface="Consolas" pitchFamily="34" charset="0"/>
                <a:ea typeface="Consolas" pitchFamily="34" charset="-122"/>
                <a:cs typeface="Consolas" pitchFamily="34" charset="-120"/>
              </a:rPr>
              <a:t>home.BlockedIp</a:t>
            </a:r>
            <a:endParaRPr lang="en-US" sz="1250" dirty="0"/>
          </a:p>
        </p:txBody>
      </p:sp>
      <p:sp>
        <p:nvSpPr>
          <p:cNvPr id="21" name="Text 19"/>
          <p:cNvSpPr txBox="1"/>
          <p:nvPr/>
        </p:nvSpPr>
        <p:spPr>
          <a:xfrm>
            <a:off x="4919472" y="3566160"/>
            <a:ext cx="3520440" cy="54864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遮断した IP・回数・期限。ミドルウェアが毎リクエスト参照する</a:t>
            </a:r>
            <a:endParaRPr lang="en-US" sz="1050" dirty="0"/>
          </a:p>
        </p:txBody>
      </p:sp>
      <p:sp>
        <p:nvSpPr>
          <p:cNvPr id="22" name="Text 20"/>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会員の名簿も、参加の申し込みの内容も持たない。テーブル名は funitclub_ 接頭辞で固定してある。</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リクエストの通り道 ①</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公開ページは、5 つとも素通りする</a:t>
            </a:r>
            <a:endParaRPr lang="en-US" sz="2600" dirty="0"/>
          </a:p>
        </p:txBody>
      </p:sp>
      <p:sp>
        <p:nvSpPr>
          <p:cNvPr id="4" name="Text 2"/>
          <p:cNvSpPr txBox="1"/>
          <p:nvPr/>
        </p:nvSpPr>
        <p:spPr>
          <a:xfrm>
            <a:off x="457200" y="1207008"/>
            <a:ext cx="8229600" cy="274320"/>
          </a:xfrm>
          <a:prstGeom prst="rect">
            <a:avLst/>
          </a:prstGeom>
          <a:noFill/>
          <a:ln/>
        </p:spPr>
        <p:txBody>
          <a:bodyPr wrap="square" lIns="0" tIns="0" rIns="0" bIns="0" rtlCol="0" anchor="ctr"/>
          <a:lstStyle/>
          <a:p>
            <a:pPr indent="0" marL="0">
              <a:buNone/>
            </a:pPr>
            <a:r>
              <a:rPr lang="en-US" sz="1100" dirty="0">
                <a:solidFill>
                  <a:srgbClr val="5A6B7B"/>
                </a:solidFill>
                <a:latin typeface="Meiryo" pitchFamily="34" charset="0"/>
                <a:ea typeface="Meiryo" pitchFamily="34" charset="-122"/>
                <a:cs typeface="Meiryo" pitchFamily="34" charset="-120"/>
              </a:rPr>
              <a:t>ログインは要らない。login_not_required が付いているため。サブアプリだけは、このあとに通行証の確認が入る。</a:t>
            </a:r>
            <a:endParaRPr lang="en-US" sz="1100" dirty="0"/>
          </a:p>
        </p:txBody>
      </p:sp>
      <p:sp>
        <p:nvSpPr>
          <p:cNvPr id="5" name="Shape 3"/>
          <p:cNvSpPr/>
          <p:nvPr/>
        </p:nvSpPr>
        <p:spPr>
          <a:xfrm>
            <a:off x="457200" y="1572768"/>
            <a:ext cx="1417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21792" y="1737360"/>
            <a:ext cx="100584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01</a:t>
            </a:r>
            <a:endParaRPr lang="en-US" sz="2200" dirty="0"/>
          </a:p>
        </p:txBody>
      </p:sp>
      <p:sp>
        <p:nvSpPr>
          <p:cNvPr id="7" name="Text 5"/>
          <p:cNvSpPr txBox="1"/>
          <p:nvPr/>
        </p:nvSpPr>
        <p:spPr>
          <a:xfrm>
            <a:off x="621792" y="2157984"/>
            <a:ext cx="1088136" cy="329184"/>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遮断 IP か</a:t>
            </a:r>
            <a:endParaRPr lang="en-US" sz="1250" dirty="0"/>
          </a:p>
        </p:txBody>
      </p:sp>
      <p:sp>
        <p:nvSpPr>
          <p:cNvPr id="8" name="Text 6"/>
          <p:cNvSpPr txBox="1"/>
          <p:nvPr/>
        </p:nvSpPr>
        <p:spPr>
          <a:xfrm>
            <a:off x="621792" y="2560320"/>
            <a:ext cx="1088136" cy="1051560"/>
          </a:xfrm>
          <a:prstGeom prst="rect">
            <a:avLst/>
          </a:prstGeom>
          <a:noFill/>
          <a:ln/>
        </p:spPr>
        <p:txBody>
          <a:bodyPr wrap="square" lIns="0" tIns="0" rIns="0" bIns="0" rtlCol="0" anchor="ctr"/>
          <a:lstStyle/>
          <a:p>
            <a:pPr indent="0" marL="0">
              <a:buNone/>
            </a:pPr>
            <a:r>
              <a:rPr lang="en-US" sz="950" dirty="0">
                <a:solidFill>
                  <a:srgbClr val="1B2B3A"/>
                </a:solidFill>
                <a:latin typeface="Meiryo" pitchFamily="34" charset="0"/>
                <a:ea typeface="Meiryo" pitchFamily="34" charset="-122"/>
                <a:cs typeface="Meiryo" pitchFamily="34" charset="-120"/>
              </a:rPr>
              <a:t>登録済みの IP はここで 403。先へ進めない</a:t>
            </a:r>
            <a:endParaRPr lang="en-US" sz="950" dirty="0"/>
          </a:p>
        </p:txBody>
      </p:sp>
      <p:sp>
        <p:nvSpPr>
          <p:cNvPr id="9" name="Text 7"/>
          <p:cNvSpPr txBox="1"/>
          <p:nvPr/>
        </p:nvSpPr>
        <p:spPr>
          <a:xfrm>
            <a:off x="621792" y="3657600"/>
            <a:ext cx="1188720" cy="219456"/>
          </a:xfrm>
          <a:prstGeom prst="rect">
            <a:avLst/>
          </a:prstGeom>
          <a:noFill/>
          <a:ln/>
        </p:spPr>
        <p:txBody>
          <a:bodyPr wrap="square" lIns="0" tIns="0" rIns="0" bIns="0" rtlCol="0" anchor="ctr"/>
          <a:lstStyle/>
          <a:p>
            <a:pPr indent="0" marL="0">
              <a:buNone/>
            </a:pPr>
            <a:r>
              <a:rPr lang="en-US" sz="850" b="1" dirty="0">
                <a:solidFill>
                  <a:srgbClr val="1A4A70"/>
                </a:solidFill>
                <a:latin typeface="Consolas" pitchFamily="34" charset="0"/>
                <a:ea typeface="Consolas" pitchFamily="34" charset="-122"/>
                <a:cs typeface="Consolas" pitchFamily="34" charset="-120"/>
              </a:rPr>
              <a:t>config.middleware</a:t>
            </a:r>
            <a:endParaRPr lang="en-US" sz="850" dirty="0"/>
          </a:p>
        </p:txBody>
      </p:sp>
      <p:sp>
        <p:nvSpPr>
          <p:cNvPr id="10" name="Shape 8"/>
          <p:cNvSpPr/>
          <p:nvPr/>
        </p:nvSpPr>
        <p:spPr>
          <a:xfrm>
            <a:off x="2160270" y="1572768"/>
            <a:ext cx="1417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2324862" y="1737360"/>
            <a:ext cx="100584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02</a:t>
            </a:r>
            <a:endParaRPr lang="en-US" sz="2200" dirty="0"/>
          </a:p>
        </p:txBody>
      </p:sp>
      <p:sp>
        <p:nvSpPr>
          <p:cNvPr id="12" name="Text 10"/>
          <p:cNvSpPr txBox="1"/>
          <p:nvPr/>
        </p:nvSpPr>
        <p:spPr>
          <a:xfrm>
            <a:off x="2324862" y="2157984"/>
            <a:ext cx="1088136" cy="329184"/>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毎日の点検</a:t>
            </a:r>
            <a:endParaRPr lang="en-US" sz="1250" dirty="0"/>
          </a:p>
        </p:txBody>
      </p:sp>
      <p:sp>
        <p:nvSpPr>
          <p:cNvPr id="13" name="Text 11"/>
          <p:cNvSpPr txBox="1"/>
          <p:nvPr/>
        </p:nvSpPr>
        <p:spPr>
          <a:xfrm>
            <a:off x="2324862" y="2560320"/>
            <a:ext cx="1088136" cy="1051560"/>
          </a:xfrm>
          <a:prstGeom prst="rect">
            <a:avLst/>
          </a:prstGeom>
          <a:noFill/>
          <a:ln/>
        </p:spPr>
        <p:txBody>
          <a:bodyPr wrap="square" lIns="0" tIns="0" rIns="0" bIns="0" rtlCol="0" anchor="ctr"/>
          <a:lstStyle/>
          <a:p>
            <a:pPr indent="0" marL="0">
              <a:buNone/>
            </a:pPr>
            <a:r>
              <a:rPr lang="en-US" sz="950" dirty="0">
                <a:solidFill>
                  <a:srgbClr val="1B2B3A"/>
                </a:solidFill>
                <a:latin typeface="Meiryo" pitchFamily="34" charset="0"/>
                <a:ea typeface="Meiryo" pitchFamily="34" charset="-122"/>
                <a:cs typeface="Meiryo" pitchFamily="34" charset="-120"/>
              </a:rPr>
              <a:t>シークレットの期限を調べて通知する</a:t>
            </a:r>
            <a:endParaRPr lang="en-US" sz="950" dirty="0"/>
          </a:p>
        </p:txBody>
      </p:sp>
      <p:sp>
        <p:nvSpPr>
          <p:cNvPr id="14" name="Text 12"/>
          <p:cNvSpPr txBox="1"/>
          <p:nvPr/>
        </p:nvSpPr>
        <p:spPr>
          <a:xfrm>
            <a:off x="2324862" y="3657600"/>
            <a:ext cx="1188720" cy="219456"/>
          </a:xfrm>
          <a:prstGeom prst="rect">
            <a:avLst/>
          </a:prstGeom>
          <a:noFill/>
          <a:ln/>
        </p:spPr>
        <p:txBody>
          <a:bodyPr wrap="square" lIns="0" tIns="0" rIns="0" bIns="0" rtlCol="0" anchor="ctr"/>
          <a:lstStyle/>
          <a:p>
            <a:pPr indent="0" marL="0">
              <a:buNone/>
            </a:pPr>
            <a:r>
              <a:rPr lang="en-US" sz="850" b="1" dirty="0">
                <a:solidFill>
                  <a:srgbClr val="1A4A70"/>
                </a:solidFill>
                <a:latin typeface="Consolas" pitchFamily="34" charset="0"/>
                <a:ea typeface="Consolas" pitchFamily="34" charset="-122"/>
                <a:cs typeface="Consolas" pitchFamily="34" charset="-120"/>
              </a:rPr>
              <a:t>config.middleware</a:t>
            </a:r>
            <a:endParaRPr lang="en-US" sz="850" dirty="0"/>
          </a:p>
        </p:txBody>
      </p:sp>
      <p:sp>
        <p:nvSpPr>
          <p:cNvPr id="15" name="Shape 13"/>
          <p:cNvSpPr/>
          <p:nvPr/>
        </p:nvSpPr>
        <p:spPr>
          <a:xfrm>
            <a:off x="3863340" y="1572768"/>
            <a:ext cx="1417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4027932" y="1737360"/>
            <a:ext cx="100584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03</a:t>
            </a:r>
            <a:endParaRPr lang="en-US" sz="2200" dirty="0"/>
          </a:p>
        </p:txBody>
      </p:sp>
      <p:sp>
        <p:nvSpPr>
          <p:cNvPr id="17" name="Text 15"/>
          <p:cNvSpPr txBox="1"/>
          <p:nvPr/>
        </p:nvSpPr>
        <p:spPr>
          <a:xfrm>
            <a:off x="4027932" y="2157984"/>
            <a:ext cx="1088136" cy="329184"/>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セッション</a:t>
            </a:r>
            <a:endParaRPr lang="en-US" sz="1250" dirty="0"/>
          </a:p>
        </p:txBody>
      </p:sp>
      <p:sp>
        <p:nvSpPr>
          <p:cNvPr id="18" name="Text 16"/>
          <p:cNvSpPr txBox="1"/>
          <p:nvPr/>
        </p:nvSpPr>
        <p:spPr>
          <a:xfrm>
            <a:off x="4027932" y="2560320"/>
            <a:ext cx="1088136" cy="1051560"/>
          </a:xfrm>
          <a:prstGeom prst="rect">
            <a:avLst/>
          </a:prstGeom>
          <a:noFill/>
          <a:ln/>
        </p:spPr>
        <p:txBody>
          <a:bodyPr wrap="square" lIns="0" tIns="0" rIns="0" bIns="0" rtlCol="0" anchor="ctr"/>
          <a:lstStyle/>
          <a:p>
            <a:pPr indent="0" marL="0">
              <a:buNone/>
            </a:pPr>
            <a:r>
              <a:rPr lang="en-US" sz="950" dirty="0">
                <a:solidFill>
                  <a:srgbClr val="1B2B3A"/>
                </a:solidFill>
                <a:latin typeface="Meiryo" pitchFamily="34" charset="0"/>
                <a:ea typeface="Meiryo" pitchFamily="34" charset="-122"/>
                <a:cs typeface="Meiryo" pitchFamily="34" charset="-120"/>
              </a:rPr>
              <a:t>Cookie を読む。本番だけ Secure</a:t>
            </a:r>
            <a:endParaRPr lang="en-US" sz="950" dirty="0"/>
          </a:p>
        </p:txBody>
      </p:sp>
      <p:sp>
        <p:nvSpPr>
          <p:cNvPr id="19" name="Text 17"/>
          <p:cNvSpPr txBox="1"/>
          <p:nvPr/>
        </p:nvSpPr>
        <p:spPr>
          <a:xfrm>
            <a:off x="4027932" y="3657600"/>
            <a:ext cx="1188720" cy="219456"/>
          </a:xfrm>
          <a:prstGeom prst="rect">
            <a:avLst/>
          </a:prstGeom>
          <a:noFill/>
          <a:ln/>
        </p:spPr>
        <p:txBody>
          <a:bodyPr wrap="square" lIns="0" tIns="0" rIns="0" bIns="0" rtlCol="0" anchor="ctr"/>
          <a:lstStyle/>
          <a:p>
            <a:pPr indent="0" marL="0">
              <a:buNone/>
            </a:pPr>
            <a:r>
              <a:rPr lang="en-US" sz="850" b="1" dirty="0">
                <a:solidFill>
                  <a:srgbClr val="1A4A70"/>
                </a:solidFill>
                <a:latin typeface="Consolas" pitchFamily="34" charset="0"/>
                <a:ea typeface="Consolas" pitchFamily="34" charset="-122"/>
                <a:cs typeface="Consolas" pitchFamily="34" charset="-120"/>
              </a:rPr>
              <a:t>django.contrib</a:t>
            </a:r>
            <a:endParaRPr lang="en-US" sz="850" dirty="0"/>
          </a:p>
        </p:txBody>
      </p:sp>
      <p:sp>
        <p:nvSpPr>
          <p:cNvPr id="20" name="Shape 18"/>
          <p:cNvSpPr/>
          <p:nvPr/>
        </p:nvSpPr>
        <p:spPr>
          <a:xfrm>
            <a:off x="5566410" y="1572768"/>
            <a:ext cx="1417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5731002" y="1737360"/>
            <a:ext cx="100584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04</a:t>
            </a:r>
            <a:endParaRPr lang="en-US" sz="2200" dirty="0"/>
          </a:p>
        </p:txBody>
      </p:sp>
      <p:sp>
        <p:nvSpPr>
          <p:cNvPr id="22" name="Text 20"/>
          <p:cNvSpPr txBox="1"/>
          <p:nvPr/>
        </p:nvSpPr>
        <p:spPr>
          <a:xfrm>
            <a:off x="5731002" y="2157984"/>
            <a:ext cx="1088136" cy="329184"/>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CSRF と認証</a:t>
            </a:r>
            <a:endParaRPr lang="en-US" sz="1250" dirty="0"/>
          </a:p>
        </p:txBody>
      </p:sp>
      <p:sp>
        <p:nvSpPr>
          <p:cNvPr id="23" name="Text 21"/>
          <p:cNvSpPr txBox="1"/>
          <p:nvPr/>
        </p:nvSpPr>
        <p:spPr>
          <a:xfrm>
            <a:off x="5731002" y="2560320"/>
            <a:ext cx="1088136" cy="1051560"/>
          </a:xfrm>
          <a:prstGeom prst="rect">
            <a:avLst/>
          </a:prstGeom>
          <a:noFill/>
          <a:ln/>
        </p:spPr>
        <p:txBody>
          <a:bodyPr wrap="square" lIns="0" tIns="0" rIns="0" bIns="0" rtlCol="0" anchor="ctr"/>
          <a:lstStyle/>
          <a:p>
            <a:pPr indent="0" marL="0">
              <a:buNone/>
            </a:pPr>
            <a:r>
              <a:rPr lang="en-US" sz="950" dirty="0">
                <a:solidFill>
                  <a:srgbClr val="1B2B3A"/>
                </a:solidFill>
                <a:latin typeface="Meiryo" pitchFamily="34" charset="0"/>
                <a:ea typeface="Meiryo" pitchFamily="34" charset="-122"/>
                <a:cs typeface="Meiryo" pitchFamily="34" charset="-120"/>
              </a:rPr>
              <a:t>フォームのトークンを確かめる</a:t>
            </a:r>
            <a:endParaRPr lang="en-US" sz="950" dirty="0"/>
          </a:p>
        </p:txBody>
      </p:sp>
      <p:sp>
        <p:nvSpPr>
          <p:cNvPr id="24" name="Text 22"/>
          <p:cNvSpPr txBox="1"/>
          <p:nvPr/>
        </p:nvSpPr>
        <p:spPr>
          <a:xfrm>
            <a:off x="5731002" y="3657600"/>
            <a:ext cx="1188720" cy="219456"/>
          </a:xfrm>
          <a:prstGeom prst="rect">
            <a:avLst/>
          </a:prstGeom>
          <a:noFill/>
          <a:ln/>
        </p:spPr>
        <p:txBody>
          <a:bodyPr wrap="square" lIns="0" tIns="0" rIns="0" bIns="0" rtlCol="0" anchor="ctr"/>
          <a:lstStyle/>
          <a:p>
            <a:pPr indent="0" marL="0">
              <a:buNone/>
            </a:pPr>
            <a:r>
              <a:rPr lang="en-US" sz="850" b="1" dirty="0">
                <a:solidFill>
                  <a:srgbClr val="1A4A70"/>
                </a:solidFill>
                <a:latin typeface="Consolas" pitchFamily="34" charset="0"/>
                <a:ea typeface="Consolas" pitchFamily="34" charset="-122"/>
                <a:cs typeface="Consolas" pitchFamily="34" charset="-120"/>
              </a:rPr>
              <a:t>django.contrib</a:t>
            </a:r>
            <a:endParaRPr lang="en-US" sz="850" dirty="0"/>
          </a:p>
        </p:txBody>
      </p:sp>
      <p:sp>
        <p:nvSpPr>
          <p:cNvPr id="25" name="Shape 23"/>
          <p:cNvSpPr/>
          <p:nvPr/>
        </p:nvSpPr>
        <p:spPr>
          <a:xfrm>
            <a:off x="7269480" y="1572768"/>
            <a:ext cx="1417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7434072" y="1737360"/>
            <a:ext cx="100584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05</a:t>
            </a:r>
            <a:endParaRPr lang="en-US" sz="2200" dirty="0"/>
          </a:p>
        </p:txBody>
      </p:sp>
      <p:sp>
        <p:nvSpPr>
          <p:cNvPr id="27" name="Text 25"/>
          <p:cNvSpPr txBox="1"/>
          <p:nvPr/>
        </p:nvSpPr>
        <p:spPr>
          <a:xfrm>
            <a:off x="7434072" y="2157984"/>
            <a:ext cx="1088136" cy="329184"/>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ログイン判定</a:t>
            </a:r>
            <a:endParaRPr lang="en-US" sz="1250" dirty="0"/>
          </a:p>
        </p:txBody>
      </p:sp>
      <p:sp>
        <p:nvSpPr>
          <p:cNvPr id="28" name="Text 26"/>
          <p:cNvSpPr txBox="1"/>
          <p:nvPr/>
        </p:nvSpPr>
        <p:spPr>
          <a:xfrm>
            <a:off x="7434072" y="2560320"/>
            <a:ext cx="1088136" cy="1051560"/>
          </a:xfrm>
          <a:prstGeom prst="rect">
            <a:avLst/>
          </a:prstGeom>
          <a:noFill/>
          <a:ln/>
        </p:spPr>
        <p:txBody>
          <a:bodyPr wrap="square" lIns="0" tIns="0" rIns="0" bIns="0" rtlCol="0" anchor="ctr"/>
          <a:lstStyle/>
          <a:p>
            <a:pPr indent="0" marL="0">
              <a:buNone/>
            </a:pPr>
            <a:r>
              <a:rPr lang="en-US" sz="950" dirty="0">
                <a:solidFill>
                  <a:srgbClr val="1B2B3A"/>
                </a:solidFill>
                <a:latin typeface="Meiryo" pitchFamily="34" charset="0"/>
                <a:ea typeface="Meiryo" pitchFamily="34" charset="-122"/>
                <a:cs typeface="Meiryo" pitchFamily="34" charset="-120"/>
              </a:rPr>
              <a:t>印が付いているので素通りする</a:t>
            </a:r>
            <a:endParaRPr lang="en-US" sz="950" dirty="0"/>
          </a:p>
        </p:txBody>
      </p:sp>
      <p:sp>
        <p:nvSpPr>
          <p:cNvPr id="29" name="Text 27"/>
          <p:cNvSpPr txBox="1"/>
          <p:nvPr/>
        </p:nvSpPr>
        <p:spPr>
          <a:xfrm>
            <a:off x="7434072" y="3657600"/>
            <a:ext cx="1188720" cy="219456"/>
          </a:xfrm>
          <a:prstGeom prst="rect">
            <a:avLst/>
          </a:prstGeom>
          <a:noFill/>
          <a:ln/>
        </p:spPr>
        <p:txBody>
          <a:bodyPr wrap="square" lIns="0" tIns="0" rIns="0" bIns="0" rtlCol="0" anchor="ctr"/>
          <a:lstStyle/>
          <a:p>
            <a:pPr indent="0" marL="0">
              <a:buNone/>
            </a:pPr>
            <a:r>
              <a:rPr lang="en-US" sz="850" b="1" dirty="0">
                <a:solidFill>
                  <a:srgbClr val="1A4A70"/>
                </a:solidFill>
                <a:latin typeface="Consolas" pitchFamily="34" charset="0"/>
                <a:ea typeface="Consolas" pitchFamily="34" charset="-122"/>
                <a:cs typeface="Consolas" pitchFamily="34" charset="-120"/>
              </a:rPr>
              <a:t>auth.middleware</a:t>
            </a:r>
            <a:endParaRPr lang="en-US" sz="850" dirty="0"/>
          </a:p>
        </p:txBody>
      </p:sp>
      <p:sp>
        <p:nvSpPr>
          <p:cNvPr id="30" name="Text 28"/>
          <p:cNvSpPr txBox="1"/>
          <p:nvPr/>
        </p:nvSpPr>
        <p:spPr>
          <a:xfrm>
            <a:off x="1883664"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31" name="Text 29"/>
          <p:cNvSpPr txBox="1"/>
          <p:nvPr/>
        </p:nvSpPr>
        <p:spPr>
          <a:xfrm>
            <a:off x="3586734"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32" name="Text 30"/>
          <p:cNvSpPr txBox="1"/>
          <p:nvPr/>
        </p:nvSpPr>
        <p:spPr>
          <a:xfrm>
            <a:off x="5289804"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33" name="Text 31"/>
          <p:cNvSpPr txBox="1"/>
          <p:nvPr/>
        </p:nvSpPr>
        <p:spPr>
          <a:xfrm>
            <a:off x="6992874"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34" name="Shape 32"/>
          <p:cNvSpPr/>
          <p:nvPr/>
        </p:nvSpPr>
        <p:spPr>
          <a:xfrm>
            <a:off x="457200" y="4160520"/>
            <a:ext cx="8229600" cy="658368"/>
          </a:xfrm>
          <a:prstGeom prst="rect">
            <a:avLst/>
          </a:prstGeom>
          <a:solidFill>
            <a:srgbClr val="001E3C"/>
          </a:solidFill>
          <a:ln w="12700">
            <a:solidFill>
              <a:srgbClr val="001E3C"/>
            </a:solidFill>
            <a:prstDash val="solid"/>
          </a:ln>
          <a:effectLst>
            <a:outerShdw sx="100000" sy="100000" kx="0" ky="0" algn="bl" rotWithShape="0" blurRad="76200" dist="25400" dir="5400000">
              <a:srgbClr val="000000">
                <a:alpha val="12000"/>
              </a:srgbClr>
            </a:outerShdw>
          </a:effectLst>
        </p:spPr>
      </p:sp>
      <p:sp>
        <p:nvSpPr>
          <p:cNvPr id="35" name="Text 33"/>
          <p:cNvSpPr txBox="1"/>
          <p:nvPr/>
        </p:nvSpPr>
        <p:spPr>
          <a:xfrm>
            <a:off x="713232" y="4315968"/>
            <a:ext cx="118872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  ビュー</a:t>
            </a:r>
            <a:endParaRPr lang="en-US" sz="1400" dirty="0"/>
          </a:p>
        </p:txBody>
      </p:sp>
      <p:sp>
        <p:nvSpPr>
          <p:cNvPr id="36" name="Text 34"/>
          <p:cNvSpPr txBox="1"/>
          <p:nvPr/>
        </p:nvSpPr>
        <p:spPr>
          <a:xfrm>
            <a:off x="1965960" y="4352544"/>
            <a:ext cx="2926080" cy="274320"/>
          </a:xfrm>
          <a:prstGeom prst="rect">
            <a:avLst/>
          </a:prstGeom>
          <a:noFill/>
          <a:ln/>
        </p:spPr>
        <p:txBody>
          <a:bodyPr wrap="square" lIns="0" tIns="0" rIns="0" bIns="0" rtlCol="0" anchor="ctr"/>
          <a:lstStyle/>
          <a:p>
            <a:pPr indent="0" marL="0">
              <a:buNone/>
            </a:pPr>
            <a:r>
              <a:rPr lang="en-US" sz="1100" dirty="0">
                <a:solidFill>
                  <a:srgbClr val="DDDDDD"/>
                </a:solidFill>
                <a:latin typeface="Meiryo" pitchFamily="34" charset="0"/>
                <a:ea typeface="Meiryo" pitchFamily="34" charset="-122"/>
                <a:cs typeface="Meiryo" pitchFamily="34" charset="-120"/>
              </a:rPr>
              <a:t>ページの中身を作って返すところ</a:t>
            </a:r>
            <a:endParaRPr lang="en-US" sz="1100" dirty="0"/>
          </a:p>
        </p:txBody>
      </p:sp>
      <p:sp>
        <p:nvSpPr>
          <p:cNvPr id="37" name="Text 35"/>
          <p:cNvSpPr txBox="1"/>
          <p:nvPr/>
        </p:nvSpPr>
        <p:spPr>
          <a:xfrm>
            <a:off x="4754880" y="4370832"/>
            <a:ext cx="3703320" cy="237744"/>
          </a:xfrm>
          <a:prstGeom prst="rect">
            <a:avLst/>
          </a:prstGeom>
          <a:noFill/>
          <a:ln/>
        </p:spPr>
        <p:txBody>
          <a:bodyPr wrap="square" lIns="0" tIns="0" rIns="0" bIns="0" rtlCol="0" anchor="ctr"/>
          <a:lstStyle/>
          <a:p>
            <a:pPr algn="r" indent="0" marL="0">
              <a:buNone/>
            </a:pPr>
            <a:r>
              <a:rPr lang="en-US" sz="1000" dirty="0">
                <a:solidFill>
                  <a:srgbClr val="5BB8FF"/>
                </a:solidFill>
                <a:latin typeface="Consolas" pitchFamily="34" charset="0"/>
                <a:ea typeface="Consolas" pitchFamily="34" charset="-122"/>
                <a:cs typeface="Consolas" pitchFamily="34" charset="-120"/>
              </a:rPr>
              <a:t>home / news / catalog / wgjoin / works / wg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リクエストの通り道 ②</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編集画面は、二重に閉じてある</a:t>
            </a:r>
            <a:endParaRPr lang="en-US" sz="2600" dirty="0"/>
          </a:p>
        </p:txBody>
      </p:sp>
      <p:sp>
        <p:nvSpPr>
          <p:cNvPr id="4" name="Text 2"/>
          <p:cNvSpPr txBox="1"/>
          <p:nvPr/>
        </p:nvSpPr>
        <p:spPr>
          <a:xfrm>
            <a:off x="457200" y="1207008"/>
            <a:ext cx="8229600" cy="274320"/>
          </a:xfrm>
          <a:prstGeom prst="rect">
            <a:avLst/>
          </a:prstGeom>
          <a:noFill/>
          <a:ln/>
        </p:spPr>
        <p:txBody>
          <a:bodyPr wrap="square" lIns="0" tIns="0" rIns="0" bIns="0" rtlCol="0" anchor="ctr"/>
          <a:lstStyle/>
          <a:p>
            <a:pPr indent="0" marL="0">
              <a:buNone/>
            </a:pPr>
            <a:r>
              <a:rPr lang="en-US" sz="1100" dirty="0">
                <a:solidFill>
                  <a:srgbClr val="5A6B7B"/>
                </a:solidFill>
                <a:latin typeface="Meiryo" pitchFamily="34" charset="0"/>
                <a:ea typeface="Meiryo" pitchFamily="34" charset="-122"/>
                <a:cs typeface="Meiryo" pitchFamily="34" charset="-120"/>
              </a:rPr>
              <a:t>01 〜 04 は公開ページとまったく同じ。違うのは 05 から先だけ。</a:t>
            </a:r>
            <a:endParaRPr lang="en-US" sz="1100" dirty="0"/>
          </a:p>
        </p:txBody>
      </p:sp>
      <p:sp>
        <p:nvSpPr>
          <p:cNvPr id="5" name="Shape 3"/>
          <p:cNvSpPr/>
          <p:nvPr/>
        </p:nvSpPr>
        <p:spPr>
          <a:xfrm>
            <a:off x="457200" y="1600200"/>
            <a:ext cx="21031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13232" y="1810512"/>
            <a:ext cx="173736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01 – 04</a:t>
            </a:r>
            <a:endParaRPr lang="en-US" sz="2200" dirty="0"/>
          </a:p>
        </p:txBody>
      </p:sp>
      <p:sp>
        <p:nvSpPr>
          <p:cNvPr id="7" name="Text 5"/>
          <p:cNvSpPr txBox="1"/>
          <p:nvPr/>
        </p:nvSpPr>
        <p:spPr>
          <a:xfrm>
            <a:off x="713232" y="2249424"/>
            <a:ext cx="1682496" cy="292608"/>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ここまでは同じ</a:t>
            </a:r>
            <a:endParaRPr lang="en-US" sz="1250" dirty="0"/>
          </a:p>
        </p:txBody>
      </p:sp>
      <p:sp>
        <p:nvSpPr>
          <p:cNvPr id="8" name="Text 6"/>
          <p:cNvSpPr txBox="1"/>
          <p:nvPr/>
        </p:nvSpPr>
        <p:spPr>
          <a:xfrm>
            <a:off x="713232" y="2615184"/>
            <a:ext cx="1682496" cy="109728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遮断 IP の確認・毎日の点検・セッション・CSRF と認証</a:t>
            </a:r>
            <a:endParaRPr lang="en-US" sz="1000" dirty="0"/>
          </a:p>
        </p:txBody>
      </p:sp>
      <p:sp>
        <p:nvSpPr>
          <p:cNvPr id="9" name="Text 7"/>
          <p:cNvSpPr txBox="1"/>
          <p:nvPr/>
        </p:nvSpPr>
        <p:spPr>
          <a:xfrm>
            <a:off x="2633472" y="269748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10" name="Shape 8"/>
          <p:cNvSpPr/>
          <p:nvPr/>
        </p:nvSpPr>
        <p:spPr>
          <a:xfrm>
            <a:off x="3017520" y="1600200"/>
            <a:ext cx="2286000" cy="2377440"/>
          </a:xfrm>
          <a:prstGeom prst="rect">
            <a:avLst/>
          </a:prstGeom>
          <a:solidFill>
            <a:srgbClr val="001E3C"/>
          </a:solidFill>
          <a:ln w="12700">
            <a:solidFill>
              <a:srgbClr val="001E3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3273552" y="1810512"/>
            <a:ext cx="914400" cy="365760"/>
          </a:xfrm>
          <a:prstGeom prst="rect">
            <a:avLst/>
          </a:prstGeom>
          <a:noFill/>
          <a:ln/>
        </p:spPr>
        <p:txBody>
          <a:bodyPr wrap="square" lIns="0" tIns="0" rIns="0" bIns="0" rtlCol="0" anchor="ctr"/>
          <a:lstStyle/>
          <a:p>
            <a:pPr indent="0" marL="0">
              <a:buNone/>
            </a:pPr>
            <a:r>
              <a:rPr lang="en-US" sz="2200" b="1" dirty="0">
                <a:solidFill>
                  <a:srgbClr val="5BB8FF"/>
                </a:solidFill>
                <a:latin typeface="Consolas" pitchFamily="34" charset="0"/>
                <a:ea typeface="Consolas" pitchFamily="34" charset="-122"/>
                <a:cs typeface="Consolas" pitchFamily="34" charset="-120"/>
              </a:rPr>
              <a:t>05</a:t>
            </a:r>
            <a:endParaRPr lang="en-US" sz="2200" dirty="0"/>
          </a:p>
        </p:txBody>
      </p:sp>
      <p:sp>
        <p:nvSpPr>
          <p:cNvPr id="12" name="Text 10"/>
          <p:cNvSpPr txBox="1"/>
          <p:nvPr/>
        </p:nvSpPr>
        <p:spPr>
          <a:xfrm>
            <a:off x="3273552" y="2249424"/>
            <a:ext cx="1865376" cy="29260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ログイン判定</a:t>
            </a:r>
            <a:endParaRPr lang="en-US" sz="1250" dirty="0"/>
          </a:p>
        </p:txBody>
      </p:sp>
      <p:sp>
        <p:nvSpPr>
          <p:cNvPr id="13" name="Text 11"/>
          <p:cNvSpPr txBox="1"/>
          <p:nvPr/>
        </p:nvSpPr>
        <p:spPr>
          <a:xfrm>
            <a:off x="3273552" y="2615184"/>
            <a:ext cx="1865376" cy="822960"/>
          </a:xfrm>
          <a:prstGeom prst="rect">
            <a:avLst/>
          </a:prstGeom>
          <a:noFill/>
          <a:ln/>
        </p:spPr>
        <p:txBody>
          <a:bodyPr wrap="square" lIns="0" tIns="0" rIns="0" bIns="0" rtlCol="0" anchor="ctr"/>
          <a:lstStyle/>
          <a:p>
            <a:pPr indent="0" marL="0">
              <a:buNone/>
            </a:pPr>
            <a:r>
              <a:rPr lang="en-US" sz="1000" dirty="0">
                <a:solidFill>
                  <a:srgbClr val="DDDDDD"/>
                </a:solidFill>
                <a:latin typeface="Meiryo" pitchFamily="34" charset="0"/>
                <a:ea typeface="Meiryo" pitchFamily="34" charset="-122"/>
                <a:cs typeface="Meiryo" pitchFamily="34" charset="-120"/>
              </a:rPr>
              <a:t>login_not_required の印が無いので、ここで止められる</a:t>
            </a:r>
            <a:endParaRPr lang="en-US" sz="1000" dirty="0"/>
          </a:p>
        </p:txBody>
      </p:sp>
      <p:sp>
        <p:nvSpPr>
          <p:cNvPr id="14" name="Text 12"/>
          <p:cNvSpPr txBox="1"/>
          <p:nvPr/>
        </p:nvSpPr>
        <p:spPr>
          <a:xfrm>
            <a:off x="3273552" y="3611880"/>
            <a:ext cx="1865376" cy="219456"/>
          </a:xfrm>
          <a:prstGeom prst="rect">
            <a:avLst/>
          </a:prstGeom>
          <a:noFill/>
          <a:ln/>
        </p:spPr>
        <p:txBody>
          <a:bodyPr wrap="square" lIns="0" tIns="0" rIns="0" bIns="0" rtlCol="0" anchor="ctr"/>
          <a:lstStyle/>
          <a:p>
            <a:pPr indent="0" marL="0">
              <a:buNone/>
            </a:pPr>
            <a:r>
              <a:rPr lang="en-US" sz="850" b="1" dirty="0">
                <a:solidFill>
                  <a:srgbClr val="5BB8FF"/>
                </a:solidFill>
                <a:latin typeface="Consolas" pitchFamily="34" charset="0"/>
                <a:ea typeface="Consolas" pitchFamily="34" charset="-122"/>
                <a:cs typeface="Consolas" pitchFamily="34" charset="-120"/>
              </a:rPr>
              <a:t>auth.middleware</a:t>
            </a:r>
            <a:endParaRPr lang="en-US" sz="850" dirty="0"/>
          </a:p>
        </p:txBody>
      </p:sp>
      <p:sp>
        <p:nvSpPr>
          <p:cNvPr id="15" name="Text 13"/>
          <p:cNvSpPr txBox="1"/>
          <p:nvPr/>
        </p:nvSpPr>
        <p:spPr>
          <a:xfrm>
            <a:off x="5440680" y="205740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16" name="Text 14"/>
          <p:cNvSpPr txBox="1"/>
          <p:nvPr/>
        </p:nvSpPr>
        <p:spPr>
          <a:xfrm>
            <a:off x="5440680" y="338328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17" name="Shape 15"/>
          <p:cNvSpPr/>
          <p:nvPr/>
        </p:nvSpPr>
        <p:spPr>
          <a:xfrm>
            <a:off x="5852160" y="1600200"/>
            <a:ext cx="2834640" cy="1051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6108192" y="1783080"/>
            <a:ext cx="2322576" cy="274320"/>
          </a:xfrm>
          <a:prstGeom prst="rect">
            <a:avLst/>
          </a:prstGeom>
          <a:noFill/>
          <a:ln/>
        </p:spPr>
        <p:txBody>
          <a:bodyPr wrap="square" lIns="0" tIns="0" rIns="0" bIns="0" rtlCol="0" anchor="ctr"/>
          <a:lstStyle/>
          <a:p>
            <a:pPr indent="0" marL="0">
              <a:buNone/>
            </a:pPr>
            <a:r>
              <a:rPr lang="en-US" sz="1300" b="1" dirty="0">
                <a:solidFill>
                  <a:srgbClr val="001E3C"/>
                </a:solidFill>
                <a:latin typeface="Meiryo" pitchFamily="34" charset="0"/>
                <a:ea typeface="Meiryo" pitchFamily="34" charset="-122"/>
                <a:cs typeface="Meiryo" pitchFamily="34" charset="-120"/>
              </a:rPr>
              <a:t>未ログインなら</a:t>
            </a:r>
            <a:endParaRPr lang="en-US" sz="1300" dirty="0"/>
          </a:p>
        </p:txBody>
      </p:sp>
      <p:sp>
        <p:nvSpPr>
          <p:cNvPr id="19" name="Text 17"/>
          <p:cNvSpPr txBox="1"/>
          <p:nvPr/>
        </p:nvSpPr>
        <p:spPr>
          <a:xfrm>
            <a:off x="6108192" y="2103120"/>
            <a:ext cx="2322576" cy="45720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/edit/login/?next=... へ送る。公開サイトには戻さない</a:t>
            </a:r>
            <a:endParaRPr lang="en-US" sz="1000" dirty="0"/>
          </a:p>
        </p:txBody>
      </p:sp>
      <p:sp>
        <p:nvSpPr>
          <p:cNvPr id="20" name="Shape 18"/>
          <p:cNvSpPr/>
          <p:nvPr/>
        </p:nvSpPr>
        <p:spPr>
          <a:xfrm>
            <a:off x="5852160" y="2926080"/>
            <a:ext cx="2834640" cy="1051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6108192" y="3108960"/>
            <a:ext cx="2322576" cy="274320"/>
          </a:xfrm>
          <a:prstGeom prst="rect">
            <a:avLst/>
          </a:prstGeom>
          <a:noFill/>
          <a:ln/>
        </p:spPr>
        <p:txBody>
          <a:bodyPr wrap="square" lIns="0" tIns="0" rIns="0" bIns="0" rtlCol="0" anchor="ctr"/>
          <a:lstStyle/>
          <a:p>
            <a:pPr indent="0" marL="0">
              <a:buNone/>
            </a:pPr>
            <a:r>
              <a:rPr lang="en-US" sz="1300" b="1" dirty="0">
                <a:solidFill>
                  <a:srgbClr val="001E3C"/>
                </a:solidFill>
                <a:latin typeface="Meiryo" pitchFamily="34" charset="0"/>
                <a:ea typeface="Meiryo" pitchFamily="34" charset="-122"/>
                <a:cs typeface="Meiryo" pitchFamily="34" charset="-120"/>
              </a:rPr>
              <a:t>ログイン済みなら</a:t>
            </a:r>
            <a:endParaRPr lang="en-US" sz="1300" dirty="0"/>
          </a:p>
        </p:txBody>
      </p:sp>
      <p:sp>
        <p:nvSpPr>
          <p:cNvPr id="22" name="Text 20"/>
          <p:cNvSpPr txBox="1"/>
          <p:nvPr/>
        </p:nvSpPr>
        <p:spPr>
          <a:xfrm>
            <a:off x="6108192" y="3429000"/>
            <a:ext cx="2322576" cy="45720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編集画面のビューへ。そこで EditorMixin がもう一度確かめる</a:t>
            </a:r>
            <a:endParaRPr lang="en-US" sz="1000" dirty="0"/>
          </a:p>
        </p:txBody>
      </p:sp>
      <p:sp>
        <p:nvSpPr>
          <p:cNvPr id="23" name="Text 21"/>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二重にしているのは、編集画面を足したときに保護を書き忘れても素通りにならないようにするため。</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掲載内容</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直す場所は 1 つ、HTML は触らない</a:t>
            </a:r>
            <a:endParaRPr lang="en-US" sz="2600" dirty="0"/>
          </a:p>
        </p:txBody>
      </p:sp>
      <p:sp>
        <p:nvSpPr>
          <p:cNvPr id="4" name="Shape 2"/>
          <p:cNvSpPr/>
          <p:nvPr/>
        </p:nvSpPr>
        <p:spPr>
          <a:xfrm>
            <a:off x="457200" y="1371600"/>
            <a:ext cx="2560320" cy="1554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572768"/>
            <a:ext cx="2103120" cy="274320"/>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編集画面</a:t>
            </a:r>
            <a:endParaRPr lang="en-US" sz="1500" dirty="0"/>
          </a:p>
        </p:txBody>
      </p:sp>
      <p:sp>
        <p:nvSpPr>
          <p:cNvPr id="6" name="Text 4"/>
          <p:cNvSpPr txBox="1"/>
          <p:nvPr/>
        </p:nvSpPr>
        <p:spPr>
          <a:xfrm>
            <a:off x="685800" y="1856232"/>
            <a:ext cx="2103120" cy="219456"/>
          </a:xfrm>
          <a:prstGeom prst="rect">
            <a:avLst/>
          </a:prstGeom>
          <a:noFill/>
          <a:ln/>
        </p:spPr>
        <p:txBody>
          <a:bodyPr wrap="square" lIns="0" tIns="0" rIns="0" bIns="0" rtlCol="0" anchor="ctr"/>
          <a:lstStyle/>
          <a:p>
            <a:pPr indent="0" marL="0">
              <a:buNone/>
            </a:pPr>
            <a:r>
              <a:rPr lang="en-US" sz="1000" dirty="0">
                <a:solidFill>
                  <a:srgbClr val="5A6B7B"/>
                </a:solidFill>
                <a:latin typeface="Consolas" pitchFamily="34" charset="0"/>
                <a:ea typeface="Consolas" pitchFamily="34" charset="-122"/>
                <a:cs typeface="Consolas" pitchFamily="34" charset="-120"/>
              </a:rPr>
              <a:t>/edit/</a:t>
            </a:r>
            <a:endParaRPr lang="en-US" sz="1000" dirty="0"/>
          </a:p>
        </p:txBody>
      </p:sp>
      <p:sp>
        <p:nvSpPr>
          <p:cNvPr id="7" name="Text 5"/>
          <p:cNvSpPr txBox="1"/>
          <p:nvPr/>
        </p:nvSpPr>
        <p:spPr>
          <a:xfrm>
            <a:off x="685800" y="2148840"/>
            <a:ext cx="2103120" cy="54864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ログインして、お知らせ・WG 紹介・成果物紹介を直す</a:t>
            </a:r>
            <a:endParaRPr lang="en-US" sz="1050" dirty="0"/>
          </a:p>
        </p:txBody>
      </p:sp>
      <p:sp>
        <p:nvSpPr>
          <p:cNvPr id="8" name="Text 6"/>
          <p:cNvSpPr txBox="1"/>
          <p:nvPr/>
        </p:nvSpPr>
        <p:spPr>
          <a:xfrm>
            <a:off x="3108960" y="201168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9" name="Shape 7"/>
          <p:cNvSpPr/>
          <p:nvPr/>
        </p:nvSpPr>
        <p:spPr>
          <a:xfrm>
            <a:off x="3429000" y="1371600"/>
            <a:ext cx="2286000" cy="1554480"/>
          </a:xfrm>
          <a:prstGeom prst="rect">
            <a:avLst/>
          </a:prstGeom>
          <a:solidFill>
            <a:srgbClr val="001E3C"/>
          </a:solidFill>
          <a:ln w="12700">
            <a:solidFill>
              <a:srgbClr val="001E3C"/>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3657600" y="1572768"/>
            <a:ext cx="1828800" cy="27432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データベース</a:t>
            </a:r>
            <a:endParaRPr lang="en-US" sz="1500" dirty="0"/>
          </a:p>
        </p:txBody>
      </p:sp>
      <p:sp>
        <p:nvSpPr>
          <p:cNvPr id="11" name="Text 9"/>
          <p:cNvSpPr txBox="1"/>
          <p:nvPr/>
        </p:nvSpPr>
        <p:spPr>
          <a:xfrm>
            <a:off x="3657600" y="1920240"/>
            <a:ext cx="1828800" cy="777240"/>
          </a:xfrm>
          <a:prstGeom prst="rect">
            <a:avLst/>
          </a:prstGeom>
          <a:noFill/>
          <a:ln/>
        </p:spPr>
        <p:txBody>
          <a:bodyPr wrap="square" lIns="0" tIns="0" rIns="0" bIns="0" rtlCol="0" anchor="ctr"/>
          <a:lstStyle/>
          <a:p>
            <a:pPr indent="0" marL="0">
              <a:buNone/>
            </a:pPr>
            <a:r>
              <a:rPr lang="en-US" sz="1000" dirty="0">
                <a:solidFill>
                  <a:srgbClr val="5BB8FF"/>
                </a:solidFill>
                <a:latin typeface="Consolas" pitchFamily="34" charset="0"/>
                <a:ea typeface="Consolas" pitchFamily="34" charset="-122"/>
                <a:cs typeface="Consolas" pitchFamily="34" charset="-120"/>
              </a:rPr>
              <a:t>funitclub_news</a:t>
            </a:r>
            <a:endParaRPr lang="en-US" sz="1000" dirty="0"/>
          </a:p>
          <a:p>
            <a:pPr indent="0" marL="0">
              <a:buNone/>
            </a:pPr>
            <a:r>
              <a:rPr lang="en-US" sz="1000" dirty="0">
                <a:solidFill>
                  <a:srgbClr val="5BB8FF"/>
                </a:solidFill>
                <a:latin typeface="Consolas" pitchFamily="34" charset="0"/>
                <a:ea typeface="Consolas" pitchFamily="34" charset="-122"/>
                <a:cs typeface="Consolas" pitchFamily="34" charset="-120"/>
              </a:rPr>
              <a:t>funitclub_wg</a:t>
            </a:r>
            <a:endParaRPr lang="en-US" sz="1000" dirty="0"/>
          </a:p>
          <a:p>
            <a:pPr indent="0" marL="0">
              <a:buNone/>
            </a:pPr>
            <a:r>
              <a:rPr lang="en-US" sz="1000" dirty="0">
                <a:solidFill>
                  <a:srgbClr val="5BB8FF"/>
                </a:solidFill>
                <a:latin typeface="Consolas" pitchFamily="34" charset="0"/>
                <a:ea typeface="Consolas" pitchFamily="34" charset="-122"/>
                <a:cs typeface="Consolas" pitchFamily="34" charset="-120"/>
              </a:rPr>
              <a:t>funitclub_work</a:t>
            </a:r>
            <a:endParaRPr lang="en-US" sz="1000" dirty="0"/>
          </a:p>
        </p:txBody>
      </p:sp>
      <p:sp>
        <p:nvSpPr>
          <p:cNvPr id="12" name="Text 10"/>
          <p:cNvSpPr txBox="1"/>
          <p:nvPr/>
        </p:nvSpPr>
        <p:spPr>
          <a:xfrm>
            <a:off x="5897880" y="201168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13" name="Shape 11"/>
          <p:cNvSpPr/>
          <p:nvPr/>
        </p:nvSpPr>
        <p:spPr>
          <a:xfrm>
            <a:off x="6217920" y="1371600"/>
            <a:ext cx="2468880" cy="1554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446520" y="1572768"/>
            <a:ext cx="2011680" cy="274320"/>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公開ページ</a:t>
            </a:r>
            <a:endParaRPr lang="en-US" sz="1500" dirty="0"/>
          </a:p>
        </p:txBody>
      </p:sp>
      <p:sp>
        <p:nvSpPr>
          <p:cNvPr id="15" name="Text 13"/>
          <p:cNvSpPr txBox="1"/>
          <p:nvPr/>
        </p:nvSpPr>
        <p:spPr>
          <a:xfrm>
            <a:off x="6446520" y="1856232"/>
            <a:ext cx="2011680" cy="219456"/>
          </a:xfrm>
          <a:prstGeom prst="rect">
            <a:avLst/>
          </a:prstGeom>
          <a:noFill/>
          <a:ln/>
        </p:spPr>
        <p:txBody>
          <a:bodyPr wrap="square" lIns="0" tIns="0" rIns="0" bIns="0" rtlCol="0" anchor="ctr"/>
          <a:lstStyle/>
          <a:p>
            <a:pPr indent="0" marL="0">
              <a:buNone/>
            </a:pPr>
            <a:r>
              <a:rPr lang="en-US" sz="1000" dirty="0">
                <a:solidFill>
                  <a:srgbClr val="5A6B7B"/>
                </a:solidFill>
                <a:latin typeface="Consolas" pitchFamily="34" charset="0"/>
                <a:ea typeface="Consolas" pitchFamily="34" charset="-122"/>
                <a:cs typeface="Consolas" pitchFamily="34" charset="-120"/>
              </a:rPr>
              <a:t>/  /wg/  /works/</a:t>
            </a:r>
            <a:endParaRPr lang="en-US" sz="1000" dirty="0"/>
          </a:p>
        </p:txBody>
      </p:sp>
      <p:sp>
        <p:nvSpPr>
          <p:cNvPr id="16" name="Text 14"/>
          <p:cNvSpPr txBox="1"/>
          <p:nvPr/>
        </p:nvSpPr>
        <p:spPr>
          <a:xfrm>
            <a:off x="6446520" y="2148840"/>
            <a:ext cx="2011680" cy="54864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開くたびに DB から読み直す。TOP の件数も連動する</a:t>
            </a:r>
            <a:endParaRPr lang="en-US" sz="1050" dirty="0"/>
          </a:p>
        </p:txBody>
      </p:sp>
      <p:sp>
        <p:nvSpPr>
          <p:cNvPr id="17" name="Shape 15"/>
          <p:cNvSpPr/>
          <p:nvPr/>
        </p:nvSpPr>
        <p:spPr>
          <a:xfrm>
            <a:off x="457200" y="315468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713232" y="335584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「公開する」を外す</a:t>
            </a:r>
            <a:endParaRPr lang="en-US" sz="1200" dirty="0"/>
          </a:p>
        </p:txBody>
      </p:sp>
      <p:sp>
        <p:nvSpPr>
          <p:cNvPr id="19" name="Text 17"/>
          <p:cNvSpPr txBox="1"/>
          <p:nvPr/>
        </p:nvSpPr>
        <p:spPr>
          <a:xfrm>
            <a:off x="713232" y="3675888"/>
            <a:ext cx="2194560" cy="5943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下書き扱い。一覧にも TOP の件数にも出ない</a:t>
            </a:r>
            <a:endParaRPr lang="en-US" sz="1050" dirty="0"/>
          </a:p>
        </p:txBody>
      </p:sp>
      <p:sp>
        <p:nvSpPr>
          <p:cNvPr id="20" name="Shape 18"/>
          <p:cNvSpPr/>
          <p:nvPr/>
        </p:nvSpPr>
        <p:spPr>
          <a:xfrm>
            <a:off x="3230575" y="315468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3486607" y="335584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掲載日が未来のお知らせ</a:t>
            </a:r>
            <a:endParaRPr lang="en-US" sz="1200" dirty="0"/>
          </a:p>
        </p:txBody>
      </p:sp>
      <p:sp>
        <p:nvSpPr>
          <p:cNvPr id="22" name="Text 20"/>
          <p:cNvSpPr txBox="1"/>
          <p:nvPr/>
        </p:nvSpPr>
        <p:spPr>
          <a:xfrm>
            <a:off x="3486607" y="3675888"/>
            <a:ext cx="2194560" cy="5943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その日が来るまで出ない。予約投稿に使える</a:t>
            </a:r>
            <a:endParaRPr lang="en-US" sz="1050" dirty="0"/>
          </a:p>
        </p:txBody>
      </p:sp>
      <p:sp>
        <p:nvSpPr>
          <p:cNvPr id="23" name="Shape 21"/>
          <p:cNvSpPr/>
          <p:nvPr/>
        </p:nvSpPr>
        <p:spPr>
          <a:xfrm>
            <a:off x="6003950" y="315468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6259982" y="335584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URL が空欄のリンク</a:t>
            </a:r>
            <a:endParaRPr lang="en-US" sz="1200" dirty="0"/>
          </a:p>
        </p:txBody>
      </p:sp>
      <p:sp>
        <p:nvSpPr>
          <p:cNvPr id="25" name="Text 23"/>
          <p:cNvSpPr txBox="1"/>
          <p:nvPr/>
        </p:nvSpPr>
        <p:spPr>
          <a:xfrm>
            <a:off x="6259982" y="3675888"/>
            <a:ext cx="2194560" cy="5943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作成中ページ（/coming-soon/）に流れる</a:t>
            </a:r>
            <a:endParaRPr lang="en-US" sz="1050" dirty="0"/>
          </a:p>
        </p:txBody>
      </p:sp>
      <p:sp>
        <p:nvSpPr>
          <p:cNvPr id="26" name="Text 24"/>
          <p:cNvSpPr txBox="1"/>
          <p:nvPr/>
        </p:nvSpPr>
        <p:spPr>
          <a:xfrm>
            <a:off x="457200" y="4526280"/>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サブアプリが出来たら、編集画面でその WG・成果物に URL を入れる。テンプレートの修正は要らない。</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WG への参加</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運営の手作業なしで、本人が入る</a:t>
            </a:r>
            <a:endParaRPr lang="en-US" sz="2600" dirty="0"/>
          </a:p>
        </p:txBody>
      </p:sp>
      <p:sp>
        <p:nvSpPr>
          <p:cNvPr id="4" name="Shape 2"/>
          <p:cNvSpPr/>
          <p:nvPr/>
        </p:nvSpPr>
        <p:spPr>
          <a:xfrm>
            <a:off x="457200" y="132588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13232" y="149047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01</a:t>
            </a:r>
            <a:endParaRPr lang="en-US" sz="1800" dirty="0"/>
          </a:p>
        </p:txBody>
      </p:sp>
      <p:sp>
        <p:nvSpPr>
          <p:cNvPr id="6" name="Text 4"/>
          <p:cNvSpPr txBox="1"/>
          <p:nvPr/>
        </p:nvSpPr>
        <p:spPr>
          <a:xfrm>
            <a:off x="713232" y="182880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大学のアドレスを入れる</a:t>
            </a:r>
            <a:endParaRPr lang="en-US" sz="1250" dirty="0"/>
          </a:p>
        </p:txBody>
      </p:sp>
      <p:sp>
        <p:nvSpPr>
          <p:cNvPr id="7" name="Text 5"/>
          <p:cNvSpPr txBox="1"/>
          <p:nvPr/>
        </p:nvSpPr>
        <p:spPr>
          <a:xfrm>
            <a:off x="713232" y="214884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WG 一覧の「WG に参加」から。入力は DB にもログにも残さない</a:t>
            </a:r>
            <a:endParaRPr lang="en-US" sz="1000" dirty="0"/>
          </a:p>
        </p:txBody>
      </p:sp>
      <p:sp>
        <p:nvSpPr>
          <p:cNvPr id="8" name="Shape 6"/>
          <p:cNvSpPr/>
          <p:nvPr/>
        </p:nvSpPr>
        <p:spPr>
          <a:xfrm>
            <a:off x="3230575" y="132588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86607" y="149047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02</a:t>
            </a:r>
            <a:endParaRPr lang="en-US" sz="1800" dirty="0"/>
          </a:p>
        </p:txBody>
      </p:sp>
      <p:sp>
        <p:nvSpPr>
          <p:cNvPr id="10" name="Text 8"/>
          <p:cNvSpPr txBox="1"/>
          <p:nvPr/>
        </p:nvSpPr>
        <p:spPr>
          <a:xfrm>
            <a:off x="3486607" y="182880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Classroom で名簿を引く</a:t>
            </a:r>
            <a:endParaRPr lang="en-US" sz="1250" dirty="0"/>
          </a:p>
        </p:txBody>
      </p:sp>
      <p:sp>
        <p:nvSpPr>
          <p:cNvPr id="11" name="Text 9"/>
          <p:cNvSpPr txBox="1"/>
          <p:nvPr/>
        </p:nvSpPr>
        <p:spPr>
          <a:xfrm>
            <a:off x="3486607" y="214884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運営の権限で、クラブのクラスに居るかをアドレスで 1 人ずつ確かめる</a:t>
            </a:r>
            <a:endParaRPr lang="en-US" sz="1000" dirty="0"/>
          </a:p>
        </p:txBody>
      </p:sp>
      <p:sp>
        <p:nvSpPr>
          <p:cNvPr id="12" name="Shape 10"/>
          <p:cNvSpPr/>
          <p:nvPr/>
        </p:nvSpPr>
        <p:spPr>
          <a:xfrm>
            <a:off x="6003950" y="132588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259982" y="149047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03</a:t>
            </a:r>
            <a:endParaRPr lang="en-US" sz="1800" dirty="0"/>
          </a:p>
        </p:txBody>
      </p:sp>
      <p:sp>
        <p:nvSpPr>
          <p:cNvPr id="14" name="Text 12"/>
          <p:cNvSpPr txBox="1"/>
          <p:nvPr/>
        </p:nvSpPr>
        <p:spPr>
          <a:xfrm>
            <a:off x="6259982" y="182880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メールを送る</a:t>
            </a:r>
            <a:endParaRPr lang="en-US" sz="1250" dirty="0"/>
          </a:p>
        </p:txBody>
      </p:sp>
      <p:sp>
        <p:nvSpPr>
          <p:cNvPr id="15" name="Text 13"/>
          <p:cNvSpPr txBox="1"/>
          <p:nvPr/>
        </p:nvSpPr>
        <p:spPr>
          <a:xfrm>
            <a:off x="6259982" y="214884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画面はどちらも「送りました」。他人のアドレスでメンバーかを探れないように</a:t>
            </a:r>
            <a:endParaRPr lang="en-US" sz="1000" dirty="0"/>
          </a:p>
        </p:txBody>
      </p:sp>
      <p:sp>
        <p:nvSpPr>
          <p:cNvPr id="16" name="Shape 14"/>
          <p:cNvSpPr/>
          <p:nvPr/>
        </p:nvSpPr>
        <p:spPr>
          <a:xfrm>
            <a:off x="457200" y="288036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713232" y="304495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04</a:t>
            </a:r>
            <a:endParaRPr lang="en-US" sz="1800" dirty="0"/>
          </a:p>
        </p:txBody>
      </p:sp>
      <p:sp>
        <p:nvSpPr>
          <p:cNvPr id="18" name="Text 16"/>
          <p:cNvSpPr txBox="1"/>
          <p:nvPr/>
        </p:nvSpPr>
        <p:spPr>
          <a:xfrm>
            <a:off x="713232" y="338328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本人がリンクを開く</a:t>
            </a:r>
            <a:endParaRPr lang="en-US" sz="1250" dirty="0"/>
          </a:p>
        </p:txBody>
      </p:sp>
      <p:sp>
        <p:nvSpPr>
          <p:cNvPr id="19" name="Text 17"/>
          <p:cNvSpPr txBox="1"/>
          <p:nvPr/>
        </p:nvSpPr>
        <p:spPr>
          <a:xfrm>
            <a:off x="713232" y="370332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署名付きで 1 時間だけ有効。使い捨て。アドレスは暗号化</a:t>
            </a:r>
            <a:endParaRPr lang="en-US" sz="1000" dirty="0"/>
          </a:p>
        </p:txBody>
      </p:sp>
      <p:sp>
        <p:nvSpPr>
          <p:cNvPr id="20" name="Shape 18"/>
          <p:cNvSpPr/>
          <p:nvPr/>
        </p:nvSpPr>
        <p:spPr>
          <a:xfrm>
            <a:off x="3230575" y="288036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3486607" y="304495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05</a:t>
            </a:r>
            <a:endParaRPr lang="en-US" sz="1800" dirty="0"/>
          </a:p>
        </p:txBody>
      </p:sp>
      <p:sp>
        <p:nvSpPr>
          <p:cNvPr id="22" name="Text 20"/>
          <p:cNvSpPr txBox="1"/>
          <p:nvPr/>
        </p:nvSpPr>
        <p:spPr>
          <a:xfrm>
            <a:off x="3486607" y="338328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Chat に追加する</a:t>
            </a:r>
            <a:endParaRPr lang="en-US" sz="1250" dirty="0"/>
          </a:p>
        </p:txBody>
      </p:sp>
      <p:sp>
        <p:nvSpPr>
          <p:cNvPr id="23" name="Text 21"/>
          <p:cNvSpPr txBox="1"/>
          <p:nvPr/>
        </p:nvSpPr>
        <p:spPr>
          <a:xfrm>
            <a:off x="3486607" y="370332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ボタンを押すと運営の権限で WG のスペースへ。失敗時だけ運営に通知</a:t>
            </a:r>
            <a:endParaRPr lang="en-US" sz="1000" dirty="0"/>
          </a:p>
        </p:txBody>
      </p:sp>
      <p:sp>
        <p:nvSpPr>
          <p:cNvPr id="24" name="Shape 22"/>
          <p:cNvSpPr/>
          <p:nvPr/>
        </p:nvSpPr>
        <p:spPr>
          <a:xfrm>
            <a:off x="6003950" y="2880360"/>
            <a:ext cx="2681935"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259982" y="3044952"/>
            <a:ext cx="914400" cy="292608"/>
          </a:xfrm>
          <a:prstGeom prst="rect">
            <a:avLst/>
          </a:prstGeom>
          <a:noFill/>
          <a:ln/>
        </p:spPr>
        <p:txBody>
          <a:bodyPr wrap="square" lIns="0" tIns="0" rIns="0" bIns="0" rtlCol="0" anchor="ctr"/>
          <a:lstStyle/>
          <a:p>
            <a:pPr indent="0" marL="0">
              <a:buNone/>
            </a:pPr>
            <a:r>
              <a:rPr lang="en-US" sz="1800" b="1" dirty="0">
                <a:solidFill>
                  <a:srgbClr val="5BB8FF"/>
                </a:solidFill>
                <a:latin typeface="Consolas" pitchFamily="34" charset="0"/>
                <a:ea typeface="Consolas" pitchFamily="34" charset="-122"/>
                <a:cs typeface="Consolas" pitchFamily="34" charset="-120"/>
              </a:rPr>
              <a:t>06</a:t>
            </a:r>
            <a:endParaRPr lang="en-US" sz="1800" dirty="0"/>
          </a:p>
        </p:txBody>
      </p:sp>
      <p:sp>
        <p:nvSpPr>
          <p:cNvPr id="26" name="Text 24"/>
          <p:cNvSpPr txBox="1"/>
          <p:nvPr/>
        </p:nvSpPr>
        <p:spPr>
          <a:xfrm>
            <a:off x="6259982" y="3383280"/>
            <a:ext cx="2194560" cy="274320"/>
          </a:xfrm>
          <a:prstGeom prst="rect">
            <a:avLst/>
          </a:prstGeom>
          <a:noFill/>
          <a:ln/>
        </p:spPr>
        <p:txBody>
          <a:bodyPr wrap="square" lIns="0" tIns="0" rIns="0" bIns="0" rtlCol="0" anchor="ctr"/>
          <a:lstStyle/>
          <a:p>
            <a:pPr indent="0" marL="0">
              <a:buNone/>
            </a:pPr>
            <a:r>
              <a:rPr lang="en-US" sz="1250" b="1" dirty="0">
                <a:solidFill>
                  <a:srgbClr val="001E3C"/>
                </a:solidFill>
                <a:latin typeface="Meiryo" pitchFamily="34" charset="0"/>
                <a:ea typeface="Meiryo" pitchFamily="34" charset="-122"/>
                <a:cs typeface="Meiryo" pitchFamily="34" charset="-120"/>
              </a:rPr>
              <a:t>GitHub でログイン</a:t>
            </a:r>
            <a:endParaRPr lang="en-US" sz="1250" dirty="0"/>
          </a:p>
        </p:txBody>
      </p:sp>
      <p:sp>
        <p:nvSpPr>
          <p:cNvPr id="27" name="Text 25"/>
          <p:cNvSpPr txBox="1"/>
          <p:nvPr/>
        </p:nvSpPr>
        <p:spPr>
          <a:xfrm>
            <a:off x="6259982" y="3703320"/>
            <a:ext cx="2194560" cy="50292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GitHub App が WG のチームに追加する。wg- で始まるチームだけ</a:t>
            </a:r>
            <a:endParaRPr lang="en-US" sz="1000" dirty="0"/>
          </a:p>
        </p:txBody>
      </p:sp>
      <p:sp>
        <p:nvSpPr>
          <p:cNvPr id="28" name="Text 26"/>
          <p:cNvSpPr txBox="1"/>
          <p:nvPr/>
        </p:nvSpPr>
        <p:spPr>
          <a:xfrm>
            <a:off x="457200" y="4480560"/>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会員の情報はサイトに持たない。名簿は Classroom、参加の状態は GitHub のチームと Chat で分かる。</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メール</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独自ドメインから、要るときだけ送る</a:t>
            </a:r>
            <a:endParaRPr lang="en-US" sz="2600" dirty="0"/>
          </a:p>
        </p:txBody>
      </p:sp>
      <p:sp>
        <p:nvSpPr>
          <p:cNvPr id="4" name="Shape 2"/>
          <p:cNvSpPr/>
          <p:nvPr/>
        </p:nvSpPr>
        <p:spPr>
          <a:xfrm>
            <a:off x="457200" y="1325880"/>
            <a:ext cx="4023360" cy="17830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554480"/>
            <a:ext cx="457200" cy="457200"/>
          </a:xfrm>
          <a:prstGeom prst="ellipse">
            <a:avLst/>
          </a:prstGeom>
          <a:solidFill>
            <a:srgbClr val="001E3C"/>
          </a:solidFill>
          <a:ln w="12700">
            <a:solidFill>
              <a:srgbClr val="001E3C"/>
            </a:solidFill>
            <a:prstDash val="solid"/>
          </a:ln>
        </p:spPr>
      </p:sp>
      <p:pic>
        <p:nvPicPr>
          <p:cNvPr id="6" name="Image 0" descr="preencoded.png">    </p:cNvPr>
          <p:cNvPicPr>
            <a:picLocks noChangeAspect="1"/>
          </p:cNvPicPr>
          <p:nvPr/>
        </p:nvPicPr>
        <p:blipFill>
          <a:blip r:embed="rId1"/>
          <a:stretch>
            <a:fillRect/>
          </a:stretch>
        </p:blipFill>
        <p:spPr>
          <a:xfrm>
            <a:off x="850392" y="1673352"/>
            <a:ext cx="219456" cy="219456"/>
          </a:xfrm>
          <a:prstGeom prst="rect">
            <a:avLst/>
          </a:prstGeom>
        </p:spPr>
      </p:pic>
      <p:sp>
        <p:nvSpPr>
          <p:cNvPr id="7" name="Text 4"/>
          <p:cNvSpPr txBox="1"/>
          <p:nvPr/>
        </p:nvSpPr>
        <p:spPr>
          <a:xfrm>
            <a:off x="1371600" y="1609344"/>
            <a:ext cx="2834640" cy="329184"/>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送信の経路</a:t>
            </a:r>
            <a:endParaRPr lang="en-US" sz="1500" dirty="0"/>
          </a:p>
        </p:txBody>
      </p:sp>
      <p:sp>
        <p:nvSpPr>
          <p:cNvPr id="8" name="Text 5"/>
          <p:cNvSpPr txBox="1"/>
          <p:nvPr/>
        </p:nvSpPr>
        <p:spPr>
          <a:xfrm>
            <a:off x="731520" y="2194560"/>
            <a:ext cx="3520440" cy="777240"/>
          </a:xfrm>
          <a:prstGeom prst="rect">
            <a:avLst/>
          </a:prstGeom>
          <a:noFill/>
          <a:ln/>
        </p:spPr>
        <p:txBody>
          <a:bodyPr wrap="square" lIns="0" tIns="0" rIns="0" bIns="0" rtlCol="0" anchor="ctr"/>
          <a:lstStyle/>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Azure Communication Services の SMTP リレー</a:t>
            </a:r>
            <a:endParaRPr lang="en-US" sz="1050" dirty="0"/>
          </a:p>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差出人は no-reply@funitclub.org（独自ドメイン）</a:t>
            </a:r>
            <a:endParaRPr lang="en-US" sz="1050" dirty="0"/>
          </a:p>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認証は Entra アプリ。大学アカウントからは送れない</a:t>
            </a:r>
            <a:endParaRPr lang="en-US" sz="1050" dirty="0"/>
          </a:p>
        </p:txBody>
      </p:sp>
      <p:sp>
        <p:nvSpPr>
          <p:cNvPr id="9" name="Shape 6"/>
          <p:cNvSpPr/>
          <p:nvPr/>
        </p:nvSpPr>
        <p:spPr>
          <a:xfrm>
            <a:off x="4663440" y="1325880"/>
            <a:ext cx="4023360" cy="17830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937760" y="1554480"/>
            <a:ext cx="457200" cy="457200"/>
          </a:xfrm>
          <a:prstGeom prst="ellipse">
            <a:avLst/>
          </a:prstGeom>
          <a:solidFill>
            <a:srgbClr val="5BB8FF"/>
          </a:solidFill>
          <a:ln w="12700">
            <a:solidFill>
              <a:srgbClr val="5BB8FF"/>
            </a:solidFill>
            <a:prstDash val="solid"/>
          </a:ln>
        </p:spPr>
      </p:sp>
      <p:pic>
        <p:nvPicPr>
          <p:cNvPr id="11" name="Image 1" descr="preencoded.png">    </p:cNvPr>
          <p:cNvPicPr>
            <a:picLocks noChangeAspect="1"/>
          </p:cNvPicPr>
          <p:nvPr/>
        </p:nvPicPr>
        <p:blipFill>
          <a:blip r:embed="rId2"/>
          <a:stretch>
            <a:fillRect/>
          </a:stretch>
        </p:blipFill>
        <p:spPr>
          <a:xfrm>
            <a:off x="5056632" y="1673352"/>
            <a:ext cx="219456" cy="219456"/>
          </a:xfrm>
          <a:prstGeom prst="rect">
            <a:avLst/>
          </a:prstGeom>
        </p:spPr>
      </p:pic>
      <p:sp>
        <p:nvSpPr>
          <p:cNvPr id="12" name="Text 8"/>
          <p:cNvSpPr txBox="1"/>
          <p:nvPr/>
        </p:nvSpPr>
        <p:spPr>
          <a:xfrm>
            <a:off x="5577840" y="1609344"/>
            <a:ext cx="2834640" cy="329184"/>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申し込みは招待だけ</a:t>
            </a:r>
            <a:endParaRPr lang="en-US" sz="1500" dirty="0"/>
          </a:p>
        </p:txBody>
      </p:sp>
      <p:sp>
        <p:nvSpPr>
          <p:cNvPr id="13" name="Text 9"/>
          <p:cNvSpPr txBox="1"/>
          <p:nvPr/>
        </p:nvSpPr>
        <p:spPr>
          <a:xfrm>
            <a:off x="4937760" y="2194560"/>
            <a:ext cx="3520440" cy="777240"/>
          </a:xfrm>
          <a:prstGeom prst="rect">
            <a:avLst/>
          </a:prstGeom>
          <a:noFill/>
          <a:ln/>
        </p:spPr>
        <p:txBody>
          <a:bodyPr wrap="square" lIns="0" tIns="0" rIns="0" bIns="0" rtlCol="0" anchor="ctr"/>
          <a:lstStyle/>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招待できたらサイトからは送らない</a:t>
            </a:r>
            <a:endParaRPr lang="en-US" sz="1050" dirty="0"/>
          </a:p>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クラスにいる・送れないときは本人に 1 通</a:t>
            </a:r>
            <a:endParaRPr lang="en-US" sz="1050" dirty="0"/>
          </a:p>
          <a:p>
            <a:pPr marL="177800" indent="-177800">
              <a:spcAft>
                <a:spcPts val="400"/>
              </a:spcAft>
              <a:buSzPct val="100000"/>
              <a:buChar char="•"/>
            </a:pPr>
            <a:r>
              <a:rPr lang="en-US" sz="1050" dirty="0">
                <a:solidFill>
                  <a:srgbClr val="1B2B3A"/>
                </a:solidFill>
                <a:latin typeface="Meiryo" pitchFamily="34" charset="0"/>
                <a:ea typeface="Meiryo" pitchFamily="34" charset="-122"/>
                <a:cs typeface="Meiryo" pitchFamily="34" charset="-120"/>
              </a:rPr>
              <a:t>事務局への通知は送れなかったときだけ</a:t>
            </a:r>
            <a:endParaRPr lang="en-US" sz="1050" dirty="0"/>
          </a:p>
        </p:txBody>
      </p:sp>
      <p:sp>
        <p:nvSpPr>
          <p:cNvPr id="14" name="Shape 10"/>
          <p:cNvSpPr/>
          <p:nvPr/>
        </p:nvSpPr>
        <p:spPr>
          <a:xfrm>
            <a:off x="457200" y="329184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1"/>
          <p:cNvSpPr txBox="1"/>
          <p:nvPr/>
        </p:nvSpPr>
        <p:spPr>
          <a:xfrm>
            <a:off x="713232" y="349300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秘密は Key Vault に置く</a:t>
            </a:r>
            <a:endParaRPr lang="en-US" sz="1200" dirty="0"/>
          </a:p>
        </p:txBody>
      </p:sp>
      <p:sp>
        <p:nvSpPr>
          <p:cNvPr id="16" name="Text 12"/>
          <p:cNvSpPr txBox="1"/>
          <p:nvPr/>
        </p:nvSpPr>
        <p:spPr>
          <a:xfrm>
            <a:off x="713232" y="3813048"/>
            <a:ext cx="2194560" cy="59436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App Service には参照だけを書く。取り出せるのはマネージド ID だけ</a:t>
            </a:r>
            <a:endParaRPr lang="en-US" sz="1000" dirty="0"/>
          </a:p>
        </p:txBody>
      </p:sp>
      <p:sp>
        <p:nvSpPr>
          <p:cNvPr id="17" name="Shape 13"/>
          <p:cNvSpPr/>
          <p:nvPr/>
        </p:nvSpPr>
        <p:spPr>
          <a:xfrm>
            <a:off x="3230575" y="329184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4"/>
          <p:cNvSpPr txBox="1"/>
          <p:nvPr/>
        </p:nvSpPr>
        <p:spPr>
          <a:xfrm>
            <a:off x="3486607" y="349300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なりすまし対策</a:t>
            </a:r>
            <a:endParaRPr lang="en-US" sz="1200" dirty="0"/>
          </a:p>
        </p:txBody>
      </p:sp>
      <p:sp>
        <p:nvSpPr>
          <p:cNvPr id="19" name="Text 15"/>
          <p:cNvSpPr txBox="1"/>
          <p:nvPr/>
        </p:nvSpPr>
        <p:spPr>
          <a:xfrm>
            <a:off x="3486607" y="3813048"/>
            <a:ext cx="2194560" cy="59436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SPF・DKIM に加えて DMARC（p=none）を設定済み</a:t>
            </a:r>
            <a:endParaRPr lang="en-US" sz="1000" dirty="0"/>
          </a:p>
        </p:txBody>
      </p:sp>
      <p:sp>
        <p:nvSpPr>
          <p:cNvPr id="20" name="Shape 16"/>
          <p:cNvSpPr/>
          <p:nvPr/>
        </p:nvSpPr>
        <p:spPr>
          <a:xfrm>
            <a:off x="6003950" y="3291840"/>
            <a:ext cx="2681935"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7"/>
          <p:cNvSpPr txBox="1"/>
          <p:nvPr/>
        </p:nvSpPr>
        <p:spPr>
          <a:xfrm>
            <a:off x="6259982" y="3493008"/>
            <a:ext cx="2194560" cy="274320"/>
          </a:xfrm>
          <a:prstGeom prst="rect">
            <a:avLst/>
          </a:prstGeom>
          <a:noFill/>
          <a:ln/>
        </p:spPr>
        <p:txBody>
          <a:bodyPr wrap="square" lIns="0" tIns="0" rIns="0" bIns="0" rtlCol="0" anchor="ctr"/>
          <a:lstStyle/>
          <a:p>
            <a:pPr indent="0" marL="0">
              <a:buNone/>
            </a:pPr>
            <a:r>
              <a:rPr lang="en-US" sz="1200" b="1" dirty="0">
                <a:solidFill>
                  <a:srgbClr val="001E3C"/>
                </a:solidFill>
                <a:latin typeface="Meiryo" pitchFamily="34" charset="0"/>
                <a:ea typeface="Meiryo" pitchFamily="34" charset="-122"/>
                <a:cs typeface="Meiryo" pitchFamily="34" charset="-120"/>
              </a:rPr>
              <a:t>期限が来たら通知する</a:t>
            </a:r>
            <a:endParaRPr lang="en-US" sz="1200" dirty="0"/>
          </a:p>
        </p:txBody>
      </p:sp>
      <p:sp>
        <p:nvSpPr>
          <p:cNvPr id="22" name="Text 18"/>
          <p:cNvSpPr txBox="1"/>
          <p:nvPr/>
        </p:nvSpPr>
        <p:spPr>
          <a:xfrm>
            <a:off x="6259982" y="3813048"/>
            <a:ext cx="2194560" cy="594360"/>
          </a:xfrm>
          <a:prstGeom prst="rect">
            <a:avLst/>
          </a:prstGeom>
          <a:noFill/>
          <a:ln/>
        </p:spPr>
        <p:txBody>
          <a:bodyPr wrap="square" lIns="0" tIns="0" rIns="0" bIns="0" rtlCol="0" anchor="ctr"/>
          <a:lstStyle/>
          <a:p>
            <a:pPr indent="0" marL="0">
              <a:buNone/>
            </a:pPr>
            <a:r>
              <a:rPr lang="en-US" sz="1000" dirty="0">
                <a:solidFill>
                  <a:srgbClr val="1B2B3A"/>
                </a:solidFill>
                <a:latin typeface="Meiryo" pitchFamily="34" charset="0"/>
                <a:ea typeface="Meiryo" pitchFamily="34" charset="-122"/>
                <a:cs typeface="Meiryo" pitchFamily="34" charset="-120"/>
              </a:rPr>
              <a:t>シークレットは 2028-08-19 に失効。1 日 1 回の点検で知らせる</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E3C"/>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5BB8FF"/>
                </a:solidFill>
                <a:latin typeface="Consolas" pitchFamily="34" charset="0"/>
                <a:ea typeface="Consolas" pitchFamily="34" charset="-122"/>
                <a:cs typeface="Consolas" pitchFamily="34" charset="-120"/>
              </a:rPr>
              <a:t>// 守りの設計</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持たない・通さない・気づく</a:t>
            </a:r>
            <a:endParaRPr lang="en-US" sz="2600" dirty="0"/>
          </a:p>
        </p:txBody>
      </p:sp>
      <p:sp>
        <p:nvSpPr>
          <p:cNvPr id="4" name="Shape 2"/>
          <p:cNvSpPr/>
          <p:nvPr/>
        </p:nvSpPr>
        <p:spPr>
          <a:xfrm>
            <a:off x="457200" y="1463040"/>
            <a:ext cx="4023360" cy="14630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737360"/>
            <a:ext cx="548640" cy="548640"/>
          </a:xfrm>
          <a:prstGeom prst="ellipse">
            <a:avLst/>
          </a:prstGeom>
          <a:solidFill>
            <a:srgbClr val="001E3C"/>
          </a:solidFill>
          <a:ln w="12700">
            <a:solidFill>
              <a:srgbClr val="001E3C"/>
            </a:solidFill>
            <a:prstDash val="solid"/>
          </a:ln>
        </p:spPr>
      </p:sp>
      <p:pic>
        <p:nvPicPr>
          <p:cNvPr id="6" name="Image 0" descr="preencoded.png">    </p:cNvPr>
          <p:cNvPicPr>
            <a:picLocks noChangeAspect="1"/>
          </p:cNvPicPr>
          <p:nvPr/>
        </p:nvPicPr>
        <p:blipFill>
          <a:blip r:embed="rId1"/>
          <a:stretch>
            <a:fillRect/>
          </a:stretch>
        </p:blipFill>
        <p:spPr>
          <a:xfrm>
            <a:off x="874166" y="1880006"/>
            <a:ext cx="263347" cy="263347"/>
          </a:xfrm>
          <a:prstGeom prst="rect">
            <a:avLst/>
          </a:prstGeom>
        </p:spPr>
      </p:pic>
      <p:sp>
        <p:nvSpPr>
          <p:cNvPr id="7" name="Text 4"/>
          <p:cNvSpPr txBox="1"/>
          <p:nvPr/>
        </p:nvSpPr>
        <p:spPr>
          <a:xfrm>
            <a:off x="1463040" y="1737360"/>
            <a:ext cx="2788920" cy="36576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編集画面は二重に閉じる</a:t>
            </a:r>
            <a:endParaRPr lang="en-US" sz="1400" dirty="0"/>
          </a:p>
        </p:txBody>
      </p:sp>
      <p:sp>
        <p:nvSpPr>
          <p:cNvPr id="8" name="Text 5"/>
          <p:cNvSpPr txBox="1"/>
          <p:nvPr/>
        </p:nvSpPr>
        <p:spPr>
          <a:xfrm>
            <a:off x="1463040" y="2148840"/>
            <a:ext cx="2788920" cy="685800"/>
          </a:xfrm>
          <a:prstGeom prst="rect">
            <a:avLst/>
          </a:prstGeom>
          <a:noFill/>
          <a:ln/>
        </p:spPr>
        <p:txBody>
          <a:bodyPr wrap="square" lIns="0" tIns="0" rIns="0" bIns="0" rtlCol="0" anchor="ctr"/>
          <a:lstStyle/>
          <a:p>
            <a:pPr indent="0" marL="0">
              <a:buNone/>
            </a:pPr>
            <a:r>
              <a:rPr lang="en-US" sz="1100" dirty="0">
                <a:solidFill>
                  <a:srgbClr val="1B2B3A"/>
                </a:solidFill>
                <a:latin typeface="Meiryo" pitchFamily="34" charset="0"/>
                <a:ea typeface="Meiryo" pitchFamily="34" charset="-122"/>
                <a:cs typeface="Meiryo" pitchFamily="34" charset="-120"/>
              </a:rPr>
              <a:t>ミドルウェアで既定を閉じ、編集の各ビューも Mixin で重ねる。公開ページだけ外してある</a:t>
            </a:r>
            <a:endParaRPr lang="en-US" sz="1100" dirty="0"/>
          </a:p>
        </p:txBody>
      </p:sp>
      <p:sp>
        <p:nvSpPr>
          <p:cNvPr id="9" name="Shape 6"/>
          <p:cNvSpPr/>
          <p:nvPr/>
        </p:nvSpPr>
        <p:spPr>
          <a:xfrm>
            <a:off x="4663440" y="1463040"/>
            <a:ext cx="4023360" cy="14630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937760" y="1737360"/>
            <a:ext cx="548640" cy="548640"/>
          </a:xfrm>
          <a:prstGeom prst="ellipse">
            <a:avLst/>
          </a:prstGeom>
          <a:solidFill>
            <a:srgbClr val="5BB8FF"/>
          </a:solidFill>
          <a:ln w="12700">
            <a:solidFill>
              <a:srgbClr val="5BB8FF"/>
            </a:solidFill>
            <a:prstDash val="solid"/>
          </a:ln>
        </p:spPr>
      </p:sp>
      <p:pic>
        <p:nvPicPr>
          <p:cNvPr id="11" name="Image 1" descr="preencoded.png">    </p:cNvPr>
          <p:cNvPicPr>
            <a:picLocks noChangeAspect="1"/>
          </p:cNvPicPr>
          <p:nvPr/>
        </p:nvPicPr>
        <p:blipFill>
          <a:blip r:embed="rId2"/>
          <a:stretch>
            <a:fillRect/>
          </a:stretch>
        </p:blipFill>
        <p:spPr>
          <a:xfrm>
            <a:off x="5080406" y="1880006"/>
            <a:ext cx="263347" cy="263347"/>
          </a:xfrm>
          <a:prstGeom prst="rect">
            <a:avLst/>
          </a:prstGeom>
        </p:spPr>
      </p:pic>
      <p:sp>
        <p:nvSpPr>
          <p:cNvPr id="12" name="Text 8"/>
          <p:cNvSpPr txBox="1"/>
          <p:nvPr/>
        </p:nvSpPr>
        <p:spPr>
          <a:xfrm>
            <a:off x="5669280" y="1737360"/>
            <a:ext cx="2788920" cy="36576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連続送信した IP を遮断</a:t>
            </a:r>
            <a:endParaRPr lang="en-US" sz="1400" dirty="0"/>
          </a:p>
        </p:txBody>
      </p:sp>
      <p:sp>
        <p:nvSpPr>
          <p:cNvPr id="13" name="Text 9"/>
          <p:cNvSpPr txBox="1"/>
          <p:nvPr/>
        </p:nvSpPr>
        <p:spPr>
          <a:xfrm>
            <a:off x="5669280" y="2148840"/>
            <a:ext cx="2788920" cy="685800"/>
          </a:xfrm>
          <a:prstGeom prst="rect">
            <a:avLst/>
          </a:prstGeom>
          <a:noFill/>
          <a:ln/>
        </p:spPr>
        <p:txBody>
          <a:bodyPr wrap="square" lIns="0" tIns="0" rIns="0" bIns="0" rtlCol="0" anchor="ctr"/>
          <a:lstStyle/>
          <a:p>
            <a:pPr indent="0" marL="0">
              <a:buNone/>
            </a:pPr>
            <a:r>
              <a:rPr lang="en-US" sz="1100" dirty="0">
                <a:solidFill>
                  <a:srgbClr val="1B2B3A"/>
                </a:solidFill>
                <a:latin typeface="Meiryo" pitchFamily="34" charset="0"/>
                <a:ea typeface="Meiryo" pitchFamily="34" charset="-122"/>
                <a:cs typeface="Meiryo" pitchFamily="34" charset="-120"/>
              </a:rPr>
              <a:t>24 時間 → 7 日 → 恒久。判定は X-Forwarded-For の右端</a:t>
            </a:r>
            <a:endParaRPr lang="en-US" sz="1100" dirty="0"/>
          </a:p>
        </p:txBody>
      </p:sp>
      <p:sp>
        <p:nvSpPr>
          <p:cNvPr id="14" name="Shape 10"/>
          <p:cNvSpPr/>
          <p:nvPr/>
        </p:nvSpPr>
        <p:spPr>
          <a:xfrm>
            <a:off x="457200" y="3108960"/>
            <a:ext cx="4023360" cy="14630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731520" y="3383280"/>
            <a:ext cx="548640" cy="548640"/>
          </a:xfrm>
          <a:prstGeom prst="ellipse">
            <a:avLst/>
          </a:prstGeom>
          <a:solidFill>
            <a:srgbClr val="001E3C"/>
          </a:solidFill>
          <a:ln w="12700">
            <a:solidFill>
              <a:srgbClr val="001E3C"/>
            </a:solidFill>
            <a:prstDash val="solid"/>
          </a:ln>
        </p:spPr>
      </p:sp>
      <p:pic>
        <p:nvPicPr>
          <p:cNvPr id="16" name="Image 2" descr="preencoded.png">    </p:cNvPr>
          <p:cNvPicPr>
            <a:picLocks noChangeAspect="1"/>
          </p:cNvPicPr>
          <p:nvPr/>
        </p:nvPicPr>
        <p:blipFill>
          <a:blip r:embed="rId3"/>
          <a:stretch>
            <a:fillRect/>
          </a:stretch>
        </p:blipFill>
        <p:spPr>
          <a:xfrm>
            <a:off x="874166" y="3525926"/>
            <a:ext cx="263347" cy="263347"/>
          </a:xfrm>
          <a:prstGeom prst="rect">
            <a:avLst/>
          </a:prstGeom>
        </p:spPr>
      </p:pic>
      <p:sp>
        <p:nvSpPr>
          <p:cNvPr id="17" name="Text 12"/>
          <p:cNvSpPr txBox="1"/>
          <p:nvPr/>
        </p:nvSpPr>
        <p:spPr>
          <a:xfrm>
            <a:off x="1463040" y="3383280"/>
            <a:ext cx="2788920" cy="36576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個人の情報を持たない</a:t>
            </a:r>
            <a:endParaRPr lang="en-US" sz="1400" dirty="0"/>
          </a:p>
        </p:txBody>
      </p:sp>
      <p:sp>
        <p:nvSpPr>
          <p:cNvPr id="18" name="Text 13"/>
          <p:cNvSpPr txBox="1"/>
          <p:nvPr/>
        </p:nvSpPr>
        <p:spPr>
          <a:xfrm>
            <a:off x="1463040" y="3794760"/>
            <a:ext cx="2788920" cy="685800"/>
          </a:xfrm>
          <a:prstGeom prst="rect">
            <a:avLst/>
          </a:prstGeom>
          <a:noFill/>
          <a:ln/>
        </p:spPr>
        <p:txBody>
          <a:bodyPr wrap="square" lIns="0" tIns="0" rIns="0" bIns="0" rtlCol="0" anchor="ctr"/>
          <a:lstStyle/>
          <a:p>
            <a:pPr indent="0" marL="0">
              <a:buNone/>
            </a:pPr>
            <a:r>
              <a:rPr lang="en-US" sz="1100" dirty="0">
                <a:solidFill>
                  <a:srgbClr val="1B2B3A"/>
                </a:solidFill>
                <a:latin typeface="Meiryo" pitchFamily="34" charset="0"/>
                <a:ea typeface="Meiryo" pitchFamily="34" charset="-122"/>
                <a:cs typeface="Meiryo" pitchFamily="34" charset="-120"/>
              </a:rPr>
              <a:t>申し込みも WG への参加も DB に残さない。名簿は Classroom にある</a:t>
            </a:r>
            <a:endParaRPr lang="en-US" sz="1100" dirty="0"/>
          </a:p>
        </p:txBody>
      </p:sp>
      <p:sp>
        <p:nvSpPr>
          <p:cNvPr id="19" name="Shape 14"/>
          <p:cNvSpPr/>
          <p:nvPr/>
        </p:nvSpPr>
        <p:spPr>
          <a:xfrm>
            <a:off x="4663440" y="3108960"/>
            <a:ext cx="4023360" cy="14630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4937760" y="3383280"/>
            <a:ext cx="548640" cy="548640"/>
          </a:xfrm>
          <a:prstGeom prst="ellipse">
            <a:avLst/>
          </a:prstGeom>
          <a:solidFill>
            <a:srgbClr val="5BB8FF"/>
          </a:solidFill>
          <a:ln w="12700">
            <a:solidFill>
              <a:srgbClr val="5BB8FF"/>
            </a:solidFill>
            <a:prstDash val="solid"/>
          </a:ln>
        </p:spPr>
      </p:sp>
      <p:pic>
        <p:nvPicPr>
          <p:cNvPr id="21" name="Image 3" descr="preencoded.png">    </p:cNvPr>
          <p:cNvPicPr>
            <a:picLocks noChangeAspect="1"/>
          </p:cNvPicPr>
          <p:nvPr/>
        </p:nvPicPr>
        <p:blipFill>
          <a:blip r:embed="rId4"/>
          <a:stretch>
            <a:fillRect/>
          </a:stretch>
        </p:blipFill>
        <p:spPr>
          <a:xfrm>
            <a:off x="5080406" y="3525926"/>
            <a:ext cx="263347" cy="263347"/>
          </a:xfrm>
          <a:prstGeom prst="rect">
            <a:avLst/>
          </a:prstGeom>
        </p:spPr>
      </p:pic>
      <p:sp>
        <p:nvSpPr>
          <p:cNvPr id="22" name="Text 16"/>
          <p:cNvSpPr txBox="1"/>
          <p:nvPr/>
        </p:nvSpPr>
        <p:spPr>
          <a:xfrm>
            <a:off x="5669280" y="3383280"/>
            <a:ext cx="2788920" cy="365760"/>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異常は運営に届く</a:t>
            </a:r>
            <a:endParaRPr lang="en-US" sz="1400" dirty="0"/>
          </a:p>
        </p:txBody>
      </p:sp>
      <p:sp>
        <p:nvSpPr>
          <p:cNvPr id="23" name="Text 17"/>
          <p:cNvSpPr txBox="1"/>
          <p:nvPr/>
        </p:nvSpPr>
        <p:spPr>
          <a:xfrm>
            <a:off x="5669280" y="3794760"/>
            <a:ext cx="2788920" cy="685800"/>
          </a:xfrm>
          <a:prstGeom prst="rect">
            <a:avLst/>
          </a:prstGeom>
          <a:noFill/>
          <a:ln/>
        </p:spPr>
        <p:txBody>
          <a:bodyPr wrap="square" lIns="0" tIns="0" rIns="0" bIns="0" rtlCol="0" anchor="ctr"/>
          <a:lstStyle/>
          <a:p>
            <a:pPr indent="0" marL="0">
              <a:buNone/>
            </a:pPr>
            <a:r>
              <a:rPr lang="en-US" sz="1100" dirty="0">
                <a:solidFill>
                  <a:srgbClr val="1B2B3A"/>
                </a:solidFill>
                <a:latin typeface="Meiryo" pitchFamily="34" charset="0"/>
                <a:ea typeface="Meiryo" pitchFamily="34" charset="-122"/>
                <a:cs typeface="Meiryo" pitchFamily="34" charset="-120"/>
              </a:rPr>
              <a:t>IP 遮断・ログイン失敗・500。宛先は管理者テーブルから引く</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設定</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3 ファイルに分け、既定は本番</a:t>
            </a:r>
            <a:endParaRPr lang="en-US" sz="2600" dirty="0"/>
          </a:p>
        </p:txBody>
      </p:sp>
      <p:sp>
        <p:nvSpPr>
          <p:cNvPr id="4" name="Shape 2"/>
          <p:cNvSpPr/>
          <p:nvPr/>
        </p:nvSpPr>
        <p:spPr>
          <a:xfrm>
            <a:off x="457200" y="1371600"/>
            <a:ext cx="4023360" cy="31546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600200"/>
            <a:ext cx="3474720" cy="329184"/>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設定ファイル</a:t>
            </a:r>
            <a:endParaRPr lang="en-US" sz="1500" dirty="0"/>
          </a:p>
        </p:txBody>
      </p:sp>
      <p:sp>
        <p:nvSpPr>
          <p:cNvPr id="6" name="Text 4"/>
          <p:cNvSpPr txBox="1"/>
          <p:nvPr/>
        </p:nvSpPr>
        <p:spPr>
          <a:xfrm>
            <a:off x="731520" y="2103120"/>
            <a:ext cx="347472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config/settings_common.py</a:t>
            </a:r>
            <a:endParaRPr lang="en-US" sz="1100" dirty="0"/>
          </a:p>
        </p:txBody>
      </p:sp>
      <p:sp>
        <p:nvSpPr>
          <p:cNvPr id="7" name="Text 5"/>
          <p:cNvSpPr txBox="1"/>
          <p:nvPr/>
        </p:nvSpPr>
        <p:spPr>
          <a:xfrm>
            <a:off x="731520" y="2359152"/>
            <a:ext cx="3474720" cy="384048"/>
          </a:xfrm>
          <a:prstGeom prst="rect">
            <a:avLst/>
          </a:prstGeom>
          <a:noFill/>
          <a:ln/>
        </p:spPr>
        <p:txBody>
          <a:bodyPr wrap="square" lIns="0" tIns="0" rIns="0" bIns="0" rtlCol="0" anchor="ctr"/>
          <a:lstStyle/>
          <a:p>
            <a:pPr indent="0" marL="0">
              <a:buNone/>
            </a:pPr>
            <a:r>
              <a:rPr lang="en-US" sz="1000" dirty="0">
                <a:solidFill>
                  <a:srgbClr val="5A6B7B"/>
                </a:solidFill>
                <a:latin typeface="Meiryo" pitchFamily="34" charset="0"/>
                <a:ea typeface="Meiryo" pitchFamily="34" charset="-122"/>
                <a:cs typeface="Meiryo" pitchFamily="34" charset="-120"/>
              </a:rPr>
              <a:t>両方が読む共通部分。アプリ・ミドルウェア・テンプレート</a:t>
            </a:r>
            <a:endParaRPr lang="en-US" sz="1000" dirty="0"/>
          </a:p>
        </p:txBody>
      </p:sp>
      <p:sp>
        <p:nvSpPr>
          <p:cNvPr id="8" name="Shape 6"/>
          <p:cNvSpPr/>
          <p:nvPr/>
        </p:nvSpPr>
        <p:spPr>
          <a:xfrm>
            <a:off x="731520" y="2761488"/>
            <a:ext cx="3474720" cy="0"/>
          </a:xfrm>
          <a:prstGeom prst="line">
            <a:avLst/>
          </a:prstGeom>
          <a:noFill/>
          <a:ln w="9525">
            <a:solidFill>
              <a:srgbClr val="DDDDDD"/>
            </a:solidFill>
            <a:prstDash val="solid"/>
          </a:ln>
        </p:spPr>
      </p:sp>
      <p:sp>
        <p:nvSpPr>
          <p:cNvPr id="9" name="Text 7"/>
          <p:cNvSpPr txBox="1"/>
          <p:nvPr/>
        </p:nvSpPr>
        <p:spPr>
          <a:xfrm>
            <a:off x="731520" y="2880360"/>
            <a:ext cx="347472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config/settings.py</a:t>
            </a:r>
            <a:endParaRPr lang="en-US" sz="1100" dirty="0"/>
          </a:p>
        </p:txBody>
      </p:sp>
      <p:sp>
        <p:nvSpPr>
          <p:cNvPr id="10" name="Text 8"/>
          <p:cNvSpPr txBox="1"/>
          <p:nvPr/>
        </p:nvSpPr>
        <p:spPr>
          <a:xfrm>
            <a:off x="731520" y="3136392"/>
            <a:ext cx="3474720" cy="384048"/>
          </a:xfrm>
          <a:prstGeom prst="rect">
            <a:avLst/>
          </a:prstGeom>
          <a:noFill/>
          <a:ln/>
        </p:spPr>
        <p:txBody>
          <a:bodyPr wrap="square" lIns="0" tIns="0" rIns="0" bIns="0" rtlCol="0" anchor="ctr"/>
          <a:lstStyle/>
          <a:p>
            <a:pPr indent="0" marL="0">
              <a:buNone/>
            </a:pPr>
            <a:r>
              <a:rPr lang="en-US" sz="1000" dirty="0">
                <a:solidFill>
                  <a:srgbClr val="5A6B7B"/>
                </a:solidFill>
                <a:latin typeface="Meiryo" pitchFamily="34" charset="0"/>
                <a:ea typeface="Meiryo" pitchFamily="34" charset="-122"/>
                <a:cs typeface="Meiryo" pitchFamily="34" charset="-120"/>
              </a:rPr>
              <a:t>本番（既定）。PostgreSQL・WhiteNoise・Secure Cookie</a:t>
            </a:r>
            <a:endParaRPr lang="en-US" sz="1000" dirty="0"/>
          </a:p>
        </p:txBody>
      </p:sp>
      <p:sp>
        <p:nvSpPr>
          <p:cNvPr id="11" name="Shape 9"/>
          <p:cNvSpPr/>
          <p:nvPr/>
        </p:nvSpPr>
        <p:spPr>
          <a:xfrm>
            <a:off x="731520" y="3538728"/>
            <a:ext cx="3474720" cy="0"/>
          </a:xfrm>
          <a:prstGeom prst="line">
            <a:avLst/>
          </a:prstGeom>
          <a:noFill/>
          <a:ln w="9525">
            <a:solidFill>
              <a:srgbClr val="DDDDDD"/>
            </a:solidFill>
            <a:prstDash val="solid"/>
          </a:ln>
        </p:spPr>
      </p:sp>
      <p:sp>
        <p:nvSpPr>
          <p:cNvPr id="12" name="Text 10"/>
          <p:cNvSpPr txBox="1"/>
          <p:nvPr/>
        </p:nvSpPr>
        <p:spPr>
          <a:xfrm>
            <a:off x="731520" y="3657600"/>
            <a:ext cx="347472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config/settings_dev.py</a:t>
            </a:r>
            <a:endParaRPr lang="en-US" sz="1100" dirty="0"/>
          </a:p>
        </p:txBody>
      </p:sp>
      <p:sp>
        <p:nvSpPr>
          <p:cNvPr id="13" name="Text 11"/>
          <p:cNvSpPr txBox="1"/>
          <p:nvPr/>
        </p:nvSpPr>
        <p:spPr>
          <a:xfrm>
            <a:off x="731520" y="3913632"/>
            <a:ext cx="3474720" cy="384048"/>
          </a:xfrm>
          <a:prstGeom prst="rect">
            <a:avLst/>
          </a:prstGeom>
          <a:noFill/>
          <a:ln/>
        </p:spPr>
        <p:txBody>
          <a:bodyPr wrap="square" lIns="0" tIns="0" rIns="0" bIns="0" rtlCol="0" anchor="ctr"/>
          <a:lstStyle/>
          <a:p>
            <a:pPr indent="0" marL="0">
              <a:buNone/>
            </a:pPr>
            <a:r>
              <a:rPr lang="en-US" sz="1000" dirty="0">
                <a:solidFill>
                  <a:srgbClr val="5A6B7B"/>
                </a:solidFill>
                <a:latin typeface="Meiryo" pitchFamily="34" charset="0"/>
                <a:ea typeface="Meiryo" pitchFamily="34" charset="-122"/>
                <a:cs typeface="Meiryo" pitchFamily="34" charset="-120"/>
              </a:rPr>
              <a:t>開発。SQLite・DEBUG・.env の読み込み</a:t>
            </a:r>
            <a:endParaRPr lang="en-US" sz="1000" dirty="0"/>
          </a:p>
        </p:txBody>
      </p:sp>
      <p:sp>
        <p:nvSpPr>
          <p:cNvPr id="14" name="Shape 12"/>
          <p:cNvSpPr/>
          <p:nvPr/>
        </p:nvSpPr>
        <p:spPr>
          <a:xfrm>
            <a:off x="4663440" y="1371600"/>
            <a:ext cx="4023360" cy="31546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4937760" y="1600200"/>
            <a:ext cx="3474720" cy="329184"/>
          </a:xfrm>
          <a:prstGeom prst="rect">
            <a:avLst/>
          </a:prstGeom>
          <a:noFill/>
          <a:ln/>
        </p:spPr>
        <p:txBody>
          <a:bodyPr wrap="square" lIns="0" tIns="0" rIns="0" bIns="0" rtlCol="0" anchor="ctr"/>
          <a:lstStyle/>
          <a:p>
            <a:pPr indent="0" marL="0">
              <a:buNone/>
            </a:pPr>
            <a:r>
              <a:rPr lang="en-US" sz="1500" b="1" dirty="0">
                <a:solidFill>
                  <a:srgbClr val="001E3C"/>
                </a:solidFill>
                <a:latin typeface="Meiryo" pitchFamily="34" charset="0"/>
                <a:ea typeface="Meiryo" pitchFamily="34" charset="-122"/>
                <a:cs typeface="Meiryo" pitchFamily="34" charset="-120"/>
              </a:rPr>
              <a:t>開発と本番のちがい</a:t>
            </a:r>
            <a:endParaRPr lang="en-US" sz="1500" dirty="0"/>
          </a:p>
        </p:txBody>
      </p:sp>
      <p:sp>
        <p:nvSpPr>
          <p:cNvPr id="16" name="Text 14"/>
          <p:cNvSpPr txBox="1"/>
          <p:nvPr/>
        </p:nvSpPr>
        <p:spPr>
          <a:xfrm>
            <a:off x="4937760" y="2148840"/>
            <a:ext cx="1234440" cy="237744"/>
          </a:xfrm>
          <a:prstGeom prst="rect">
            <a:avLst/>
          </a:prstGeom>
          <a:noFill/>
          <a:ln/>
        </p:spPr>
        <p:txBody>
          <a:bodyPr wrap="square" lIns="0" tIns="0" rIns="0" bIns="0" rtlCol="0" anchor="ctr"/>
          <a:lstStyle/>
          <a:p>
            <a:pPr indent="0" marL="0">
              <a:buNone/>
            </a:pPr>
            <a:endParaRPr lang="en-US" sz="1050" dirty="0"/>
          </a:p>
        </p:txBody>
      </p:sp>
      <p:sp>
        <p:nvSpPr>
          <p:cNvPr id="17" name="Text 15"/>
          <p:cNvSpPr txBox="1"/>
          <p:nvPr/>
        </p:nvSpPr>
        <p:spPr>
          <a:xfrm>
            <a:off x="6217920" y="2148840"/>
            <a:ext cx="1097280" cy="237744"/>
          </a:xfrm>
          <a:prstGeom prst="rect">
            <a:avLst/>
          </a:prstGeom>
          <a:noFill/>
          <a:ln/>
        </p:spPr>
        <p:txBody>
          <a:bodyPr wrap="square" lIns="0" tIns="0" rIns="0" bIns="0" rtlCol="0" anchor="ctr"/>
          <a:lstStyle/>
          <a:p>
            <a:pPr indent="0" marL="0">
              <a:buNone/>
            </a:pPr>
            <a:r>
              <a:rPr lang="en-US" sz="1000" b="1" dirty="0">
                <a:solidFill>
                  <a:srgbClr val="5A6B7B"/>
                </a:solidFill>
                <a:latin typeface="Consolas" pitchFamily="34" charset="0"/>
                <a:ea typeface="Consolas" pitchFamily="34" charset="-122"/>
                <a:cs typeface="Consolas" pitchFamily="34" charset="-120"/>
              </a:rPr>
              <a:t>開発（手元）</a:t>
            </a:r>
            <a:endParaRPr lang="en-US" sz="1000" dirty="0"/>
          </a:p>
        </p:txBody>
      </p:sp>
      <p:sp>
        <p:nvSpPr>
          <p:cNvPr id="18" name="Text 16"/>
          <p:cNvSpPr txBox="1"/>
          <p:nvPr/>
        </p:nvSpPr>
        <p:spPr>
          <a:xfrm>
            <a:off x="7360920" y="2148840"/>
            <a:ext cx="1188720" cy="237744"/>
          </a:xfrm>
          <a:prstGeom prst="rect">
            <a:avLst/>
          </a:prstGeom>
          <a:noFill/>
          <a:ln/>
        </p:spPr>
        <p:txBody>
          <a:bodyPr wrap="square" lIns="0" tIns="0" rIns="0" bIns="0" rtlCol="0" anchor="ctr"/>
          <a:lstStyle/>
          <a:p>
            <a:pPr indent="0" marL="0">
              <a:buNone/>
            </a:pPr>
            <a:r>
              <a:rPr lang="en-US" sz="1000" b="1" dirty="0">
                <a:solidFill>
                  <a:srgbClr val="5A6B7B"/>
                </a:solidFill>
                <a:latin typeface="Consolas" pitchFamily="34" charset="0"/>
                <a:ea typeface="Consolas" pitchFamily="34" charset="-122"/>
                <a:cs typeface="Consolas" pitchFamily="34" charset="-120"/>
              </a:rPr>
              <a:t>本番（Azure）</a:t>
            </a:r>
            <a:endParaRPr lang="en-US" sz="1000" dirty="0"/>
          </a:p>
        </p:txBody>
      </p:sp>
      <p:sp>
        <p:nvSpPr>
          <p:cNvPr id="19" name="Shape 17"/>
          <p:cNvSpPr/>
          <p:nvPr/>
        </p:nvSpPr>
        <p:spPr>
          <a:xfrm>
            <a:off x="4937760" y="2423160"/>
            <a:ext cx="3566160" cy="0"/>
          </a:xfrm>
          <a:prstGeom prst="line">
            <a:avLst/>
          </a:prstGeom>
          <a:noFill/>
          <a:ln w="9525">
            <a:solidFill>
              <a:srgbClr val="DDDDDD"/>
            </a:solidFill>
            <a:prstDash val="solid"/>
          </a:ln>
        </p:spPr>
      </p:sp>
      <p:sp>
        <p:nvSpPr>
          <p:cNvPr id="20" name="Text 18"/>
          <p:cNvSpPr txBox="1"/>
          <p:nvPr/>
        </p:nvSpPr>
        <p:spPr>
          <a:xfrm>
            <a:off x="4937760" y="2514600"/>
            <a:ext cx="1234440" cy="237744"/>
          </a:xfrm>
          <a:prstGeom prst="rect">
            <a:avLst/>
          </a:prstGeom>
          <a:noFill/>
          <a:ln/>
        </p:spPr>
        <p:txBody>
          <a:bodyPr wrap="square" lIns="0" tIns="0" rIns="0" bIns="0" rtlCol="0" anchor="ctr"/>
          <a:lstStyle/>
          <a:p>
            <a:pPr indent="0" marL="0">
              <a:buNone/>
            </a:pPr>
            <a:r>
              <a:rPr lang="en-US" sz="1050" dirty="0">
                <a:solidFill>
                  <a:srgbClr val="001E3C"/>
                </a:solidFill>
                <a:latin typeface="Meiryo" pitchFamily="34" charset="0"/>
                <a:ea typeface="Meiryo" pitchFamily="34" charset="-122"/>
                <a:cs typeface="Meiryo" pitchFamily="34" charset="-120"/>
              </a:rPr>
              <a:t>データベース</a:t>
            </a:r>
            <a:endParaRPr lang="en-US" sz="1050" dirty="0"/>
          </a:p>
        </p:txBody>
      </p:sp>
      <p:sp>
        <p:nvSpPr>
          <p:cNvPr id="21" name="Text 19"/>
          <p:cNvSpPr txBox="1"/>
          <p:nvPr/>
        </p:nvSpPr>
        <p:spPr>
          <a:xfrm>
            <a:off x="6217920" y="2514600"/>
            <a:ext cx="109728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SQLite</a:t>
            </a:r>
            <a:endParaRPr lang="en-US" sz="1000" dirty="0"/>
          </a:p>
        </p:txBody>
      </p:sp>
      <p:sp>
        <p:nvSpPr>
          <p:cNvPr id="22" name="Text 20"/>
          <p:cNvSpPr txBox="1"/>
          <p:nvPr/>
        </p:nvSpPr>
        <p:spPr>
          <a:xfrm>
            <a:off x="7360920" y="2514600"/>
            <a:ext cx="118872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PostgreSQL</a:t>
            </a:r>
            <a:endParaRPr lang="en-US" sz="1000" dirty="0"/>
          </a:p>
        </p:txBody>
      </p:sp>
      <p:sp>
        <p:nvSpPr>
          <p:cNvPr id="23" name="Text 21"/>
          <p:cNvSpPr txBox="1"/>
          <p:nvPr/>
        </p:nvSpPr>
        <p:spPr>
          <a:xfrm>
            <a:off x="4937760" y="2880360"/>
            <a:ext cx="1234440" cy="237744"/>
          </a:xfrm>
          <a:prstGeom prst="rect">
            <a:avLst/>
          </a:prstGeom>
          <a:noFill/>
          <a:ln/>
        </p:spPr>
        <p:txBody>
          <a:bodyPr wrap="square" lIns="0" tIns="0" rIns="0" bIns="0" rtlCol="0" anchor="ctr"/>
          <a:lstStyle/>
          <a:p>
            <a:pPr indent="0" marL="0">
              <a:buNone/>
            </a:pPr>
            <a:r>
              <a:rPr lang="en-US" sz="1050" dirty="0">
                <a:solidFill>
                  <a:srgbClr val="001E3C"/>
                </a:solidFill>
                <a:latin typeface="Meiryo" pitchFamily="34" charset="0"/>
                <a:ea typeface="Meiryo" pitchFamily="34" charset="-122"/>
                <a:cs typeface="Meiryo" pitchFamily="34" charset="-120"/>
              </a:rPr>
              <a:t>静的ファイル</a:t>
            </a:r>
            <a:endParaRPr lang="en-US" sz="1050" dirty="0"/>
          </a:p>
        </p:txBody>
      </p:sp>
      <p:sp>
        <p:nvSpPr>
          <p:cNvPr id="24" name="Text 22"/>
          <p:cNvSpPr txBox="1"/>
          <p:nvPr/>
        </p:nvSpPr>
        <p:spPr>
          <a:xfrm>
            <a:off x="6217920" y="2880360"/>
            <a:ext cx="109728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runserver</a:t>
            </a:r>
            <a:endParaRPr lang="en-US" sz="1000" dirty="0"/>
          </a:p>
        </p:txBody>
      </p:sp>
      <p:sp>
        <p:nvSpPr>
          <p:cNvPr id="25" name="Text 23"/>
          <p:cNvSpPr txBox="1"/>
          <p:nvPr/>
        </p:nvSpPr>
        <p:spPr>
          <a:xfrm>
            <a:off x="7360920" y="2880360"/>
            <a:ext cx="118872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WhiteNoise</a:t>
            </a:r>
            <a:endParaRPr lang="en-US" sz="1000" dirty="0"/>
          </a:p>
        </p:txBody>
      </p:sp>
      <p:sp>
        <p:nvSpPr>
          <p:cNvPr id="26" name="Text 24"/>
          <p:cNvSpPr txBox="1"/>
          <p:nvPr/>
        </p:nvSpPr>
        <p:spPr>
          <a:xfrm>
            <a:off x="4937760" y="3246120"/>
            <a:ext cx="1234440" cy="237744"/>
          </a:xfrm>
          <a:prstGeom prst="rect">
            <a:avLst/>
          </a:prstGeom>
          <a:noFill/>
          <a:ln/>
        </p:spPr>
        <p:txBody>
          <a:bodyPr wrap="square" lIns="0" tIns="0" rIns="0" bIns="0" rtlCol="0" anchor="ctr"/>
          <a:lstStyle/>
          <a:p>
            <a:pPr indent="0" marL="0">
              <a:buNone/>
            </a:pPr>
            <a:r>
              <a:rPr lang="en-US" sz="1050" dirty="0">
                <a:solidFill>
                  <a:srgbClr val="001E3C"/>
                </a:solidFill>
                <a:latin typeface="Meiryo" pitchFamily="34" charset="0"/>
                <a:ea typeface="Meiryo" pitchFamily="34" charset="-122"/>
                <a:cs typeface="Meiryo" pitchFamily="34" charset="-120"/>
              </a:rPr>
              <a:t>DEBUG</a:t>
            </a:r>
            <a:endParaRPr lang="en-US" sz="1050" dirty="0"/>
          </a:p>
        </p:txBody>
      </p:sp>
      <p:sp>
        <p:nvSpPr>
          <p:cNvPr id="27" name="Text 25"/>
          <p:cNvSpPr txBox="1"/>
          <p:nvPr/>
        </p:nvSpPr>
        <p:spPr>
          <a:xfrm>
            <a:off x="6217920" y="3246120"/>
            <a:ext cx="109728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True</a:t>
            </a:r>
            <a:endParaRPr lang="en-US" sz="1000" dirty="0"/>
          </a:p>
        </p:txBody>
      </p:sp>
      <p:sp>
        <p:nvSpPr>
          <p:cNvPr id="28" name="Text 26"/>
          <p:cNvSpPr txBox="1"/>
          <p:nvPr/>
        </p:nvSpPr>
        <p:spPr>
          <a:xfrm>
            <a:off x="7360920" y="3246120"/>
            <a:ext cx="118872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False</a:t>
            </a:r>
            <a:endParaRPr lang="en-US" sz="1000" dirty="0"/>
          </a:p>
        </p:txBody>
      </p:sp>
      <p:sp>
        <p:nvSpPr>
          <p:cNvPr id="29" name="Text 27"/>
          <p:cNvSpPr txBox="1"/>
          <p:nvPr/>
        </p:nvSpPr>
        <p:spPr>
          <a:xfrm>
            <a:off x="4937760" y="3611880"/>
            <a:ext cx="1234440" cy="237744"/>
          </a:xfrm>
          <a:prstGeom prst="rect">
            <a:avLst/>
          </a:prstGeom>
          <a:noFill/>
          <a:ln/>
        </p:spPr>
        <p:txBody>
          <a:bodyPr wrap="square" lIns="0" tIns="0" rIns="0" bIns="0" rtlCol="0" anchor="ctr"/>
          <a:lstStyle/>
          <a:p>
            <a:pPr indent="0" marL="0">
              <a:buNone/>
            </a:pPr>
            <a:r>
              <a:rPr lang="en-US" sz="1050" dirty="0">
                <a:solidFill>
                  <a:srgbClr val="001E3C"/>
                </a:solidFill>
                <a:latin typeface="Meiryo" pitchFamily="34" charset="0"/>
                <a:ea typeface="Meiryo" pitchFamily="34" charset="-122"/>
                <a:cs typeface="Meiryo" pitchFamily="34" charset="-120"/>
              </a:rPr>
              <a:t>Cookie</a:t>
            </a:r>
            <a:endParaRPr lang="en-US" sz="1050" dirty="0"/>
          </a:p>
        </p:txBody>
      </p:sp>
      <p:sp>
        <p:nvSpPr>
          <p:cNvPr id="30" name="Text 28"/>
          <p:cNvSpPr txBox="1"/>
          <p:nvPr/>
        </p:nvSpPr>
        <p:spPr>
          <a:xfrm>
            <a:off x="6217920" y="3611880"/>
            <a:ext cx="109728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通常</a:t>
            </a:r>
            <a:endParaRPr lang="en-US" sz="1000" dirty="0"/>
          </a:p>
        </p:txBody>
      </p:sp>
      <p:sp>
        <p:nvSpPr>
          <p:cNvPr id="31" name="Text 29"/>
          <p:cNvSpPr txBox="1"/>
          <p:nvPr/>
        </p:nvSpPr>
        <p:spPr>
          <a:xfrm>
            <a:off x="7360920" y="3611880"/>
            <a:ext cx="118872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Secure</a:t>
            </a:r>
            <a:endParaRPr lang="en-US" sz="1000" dirty="0"/>
          </a:p>
        </p:txBody>
      </p:sp>
      <p:sp>
        <p:nvSpPr>
          <p:cNvPr id="32" name="Text 30"/>
          <p:cNvSpPr txBox="1"/>
          <p:nvPr/>
        </p:nvSpPr>
        <p:spPr>
          <a:xfrm>
            <a:off x="4937760" y="3977640"/>
            <a:ext cx="1234440" cy="237744"/>
          </a:xfrm>
          <a:prstGeom prst="rect">
            <a:avLst/>
          </a:prstGeom>
          <a:noFill/>
          <a:ln/>
        </p:spPr>
        <p:txBody>
          <a:bodyPr wrap="square" lIns="0" tIns="0" rIns="0" bIns="0" rtlCol="0" anchor="ctr"/>
          <a:lstStyle/>
          <a:p>
            <a:pPr indent="0" marL="0">
              <a:buNone/>
            </a:pPr>
            <a:r>
              <a:rPr lang="en-US" sz="1050" dirty="0">
                <a:solidFill>
                  <a:srgbClr val="001E3C"/>
                </a:solidFill>
                <a:latin typeface="Meiryo" pitchFamily="34" charset="0"/>
                <a:ea typeface="Meiryo" pitchFamily="34" charset="-122"/>
                <a:cs typeface="Meiryo" pitchFamily="34" charset="-120"/>
              </a:rPr>
              <a:t>ログ</a:t>
            </a:r>
            <a:endParaRPr lang="en-US" sz="1050" dirty="0"/>
          </a:p>
        </p:txBody>
      </p:sp>
      <p:sp>
        <p:nvSpPr>
          <p:cNvPr id="33" name="Text 31"/>
          <p:cNvSpPr txBox="1"/>
          <p:nvPr/>
        </p:nvSpPr>
        <p:spPr>
          <a:xfrm>
            <a:off x="6217920" y="3977640"/>
            <a:ext cx="109728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DEBUG・詳細</a:t>
            </a:r>
            <a:endParaRPr lang="en-US" sz="1000" dirty="0"/>
          </a:p>
        </p:txBody>
      </p:sp>
      <p:sp>
        <p:nvSpPr>
          <p:cNvPr id="34" name="Text 32"/>
          <p:cNvSpPr txBox="1"/>
          <p:nvPr/>
        </p:nvSpPr>
        <p:spPr>
          <a:xfrm>
            <a:off x="7360920" y="3977640"/>
            <a:ext cx="1188720" cy="237744"/>
          </a:xfrm>
          <a:prstGeom prst="rect">
            <a:avLst/>
          </a:prstGeom>
          <a:noFill/>
          <a:ln/>
        </p:spPr>
        <p:txBody>
          <a:bodyPr wrap="square" lIns="0" tIns="0" rIns="0" bIns="0" rtlCol="0" anchor="ctr"/>
          <a:lstStyle/>
          <a:p>
            <a:pPr indent="0" marL="0">
              <a:buNone/>
            </a:pPr>
            <a:r>
              <a:rPr lang="en-US" sz="1000" dirty="0">
                <a:solidFill>
                  <a:srgbClr val="1B2B3A"/>
                </a:solidFill>
                <a:latin typeface="Consolas" pitchFamily="34" charset="0"/>
                <a:ea typeface="Consolas" pitchFamily="34" charset="-122"/>
                <a:cs typeface="Consolas" pitchFamily="34" charset="-120"/>
              </a:rPr>
              <a:t>INFO</a:t>
            </a:r>
            <a:endParaRPr lang="en-US" sz="1000" dirty="0"/>
          </a:p>
        </p:txBody>
      </p:sp>
      <p:sp>
        <p:nvSpPr>
          <p:cNvPr id="35" name="Text 33"/>
          <p:cNvSpPr txBox="1"/>
          <p:nvPr/>
        </p:nvSpPr>
        <p:spPr>
          <a:xfrm>
            <a:off x="457200" y="4590288"/>
            <a:ext cx="8229600" cy="320040"/>
          </a:xfrm>
          <a:prstGeom prst="rect">
            <a:avLst/>
          </a:prstGeom>
          <a:noFill/>
          <a:ln/>
        </p:spPr>
        <p:txBody>
          <a:bodyPr wrap="square" lIns="0" tIns="0" rIns="0" bIns="0" rtlCol="0" anchor="ctr"/>
          <a:lstStyle/>
          <a:p>
            <a:pPr indent="0" marL="0">
              <a:buNone/>
            </a:pPr>
            <a:r>
              <a:rPr lang="en-US" sz="1050" dirty="0">
                <a:solidFill>
                  <a:srgbClr val="5A6B7B"/>
                </a:solidFill>
                <a:latin typeface="Meiryo" pitchFamily="34" charset="0"/>
                <a:ea typeface="Meiryo" pitchFamily="34" charset="-122"/>
                <a:cs typeface="Meiryo" pitchFamily="34" charset="-120"/>
              </a:rPr>
              <a:t>手元で manage.py を叩くときは毎回 --settings=config.settings_dev を付ける（Dev Container の中では不要）。</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1A4A70"/>
                </a:solidFill>
                <a:latin typeface="Consolas" pitchFamily="34" charset="0"/>
                <a:ea typeface="Consolas" pitchFamily="34" charset="-122"/>
                <a:cs typeface="Consolas" pitchFamily="34" charset="-120"/>
              </a:rPr>
              <a:t>// WG の成果</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001E3C"/>
                </a:solidFill>
                <a:latin typeface="Meiryo" pitchFamily="34" charset="0"/>
                <a:ea typeface="Meiryo" pitchFamily="34" charset="-122"/>
                <a:cs typeface="Meiryo" pitchFamily="34" charset="-120"/>
              </a:rPr>
              <a:t>WG の成果が公表されるまで</a:t>
            </a:r>
            <a:endParaRPr lang="en-US" sz="2600" dirty="0"/>
          </a:p>
        </p:txBody>
      </p:sp>
      <p:sp>
        <p:nvSpPr>
          <p:cNvPr id="4" name="Text 2"/>
          <p:cNvSpPr txBox="1"/>
          <p:nvPr/>
        </p:nvSpPr>
        <p:spPr>
          <a:xfrm>
            <a:off x="457200" y="1207008"/>
            <a:ext cx="8229600" cy="274320"/>
          </a:xfrm>
          <a:prstGeom prst="rect">
            <a:avLst/>
          </a:prstGeom>
          <a:noFill/>
          <a:ln/>
        </p:spPr>
        <p:txBody>
          <a:bodyPr wrap="square" lIns="0" tIns="0" rIns="0" bIns="0" rtlCol="0" anchor="ctr"/>
          <a:lstStyle/>
          <a:p>
            <a:pPr indent="0" marL="0">
              <a:buNone/>
            </a:pPr>
            <a:r>
              <a:rPr lang="en-US" sz="1100" dirty="0">
                <a:solidFill>
                  <a:srgbClr val="5A6B7B"/>
                </a:solidFill>
                <a:latin typeface="Meiryo" pitchFamily="34" charset="0"/>
                <a:ea typeface="Meiryo" pitchFamily="34" charset="-122"/>
                <a:cs typeface="Meiryo" pitchFamily="34" charset="-120"/>
              </a:rPr>
              <a:t>作って、動かして、ホームページから辿れるようにする。人の手が要るのは最後だけ。</a:t>
            </a:r>
            <a:endParaRPr lang="en-US" sz="1100" dirty="0"/>
          </a:p>
        </p:txBody>
      </p:sp>
      <p:sp>
        <p:nvSpPr>
          <p:cNvPr id="5" name="Shape 3"/>
          <p:cNvSpPr/>
          <p:nvPr/>
        </p:nvSpPr>
        <p:spPr>
          <a:xfrm>
            <a:off x="457200" y="1572768"/>
            <a:ext cx="2560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13232" y="1792224"/>
            <a:ext cx="493776" cy="493776"/>
          </a:xfrm>
          <a:prstGeom prst="ellipse">
            <a:avLst/>
          </a:prstGeom>
          <a:solidFill>
            <a:srgbClr val="5BB8FF"/>
          </a:solidFill>
          <a:ln w="12700">
            <a:solidFill>
              <a:srgbClr val="5BB8FF"/>
            </a:solidFill>
            <a:prstDash val="solid"/>
          </a:ln>
        </p:spPr>
      </p:sp>
      <p:pic>
        <p:nvPicPr>
          <p:cNvPr id="7" name="Image 0" descr="preencoded.png">    </p:cNvPr>
          <p:cNvPicPr>
            <a:picLocks noChangeAspect="1"/>
          </p:cNvPicPr>
          <p:nvPr/>
        </p:nvPicPr>
        <p:blipFill>
          <a:blip r:embed="rId1"/>
          <a:stretch>
            <a:fillRect/>
          </a:stretch>
        </p:blipFill>
        <p:spPr>
          <a:xfrm>
            <a:off x="841614" y="1920606"/>
            <a:ext cx="237012" cy="237012"/>
          </a:xfrm>
          <a:prstGeom prst="rect">
            <a:avLst/>
          </a:prstGeom>
        </p:spPr>
      </p:pic>
      <p:sp>
        <p:nvSpPr>
          <p:cNvPr id="8" name="Text 5"/>
          <p:cNvSpPr txBox="1"/>
          <p:nvPr/>
        </p:nvSpPr>
        <p:spPr>
          <a:xfrm>
            <a:off x="1371600" y="1892808"/>
            <a:ext cx="1554480" cy="365760"/>
          </a:xfrm>
          <a:prstGeom prst="rect">
            <a:avLst/>
          </a:prstGeom>
          <a:noFill/>
          <a:ln/>
        </p:spPr>
        <p:txBody>
          <a:bodyPr wrap="square" lIns="0" tIns="0" rIns="0" bIns="0" rtlCol="0" anchor="ctr"/>
          <a:lstStyle/>
          <a:p>
            <a:pPr indent="0" marL="0">
              <a:buNone/>
            </a:pPr>
            <a:r>
              <a:rPr lang="en-US" sz="1600" b="1" dirty="0">
                <a:solidFill>
                  <a:srgbClr val="001E3C"/>
                </a:solidFill>
                <a:latin typeface="Meiryo" pitchFamily="34" charset="0"/>
                <a:ea typeface="Meiryo" pitchFamily="34" charset="-122"/>
                <a:cs typeface="Meiryo" pitchFamily="34" charset="-120"/>
              </a:rPr>
              <a:t>開発</a:t>
            </a:r>
            <a:endParaRPr lang="en-US" sz="1600" dirty="0"/>
          </a:p>
        </p:txBody>
      </p:sp>
      <p:sp>
        <p:nvSpPr>
          <p:cNvPr id="9" name="Shape 6"/>
          <p:cNvSpPr/>
          <p:nvPr/>
        </p:nvSpPr>
        <p:spPr>
          <a:xfrm>
            <a:off x="713232" y="2414016"/>
            <a:ext cx="566928" cy="237744"/>
          </a:xfrm>
          <a:prstGeom prst="rect">
            <a:avLst/>
          </a:prstGeom>
          <a:solidFill>
            <a:srgbClr val="5BB8FF"/>
          </a:solidFill>
          <a:ln w="12700">
            <a:solidFill>
              <a:srgbClr val="5BB8FF"/>
            </a:solidFill>
            <a:prstDash val="solid"/>
          </a:ln>
        </p:spPr>
      </p:sp>
      <p:sp>
        <p:nvSpPr>
          <p:cNvPr id="10" name="Text 7"/>
          <p:cNvSpPr txBox="1"/>
          <p:nvPr/>
        </p:nvSpPr>
        <p:spPr>
          <a:xfrm>
            <a:off x="713232" y="2414016"/>
            <a:ext cx="566928" cy="237744"/>
          </a:xfrm>
          <a:prstGeom prst="rect">
            <a:avLst/>
          </a:prstGeom>
          <a:noFill/>
          <a:ln/>
        </p:spPr>
        <p:txBody>
          <a:bodyPr wrap="square" lIns="0" tIns="0" rIns="0" bIns="0" rtlCol="0" anchor="ctr"/>
          <a:lstStyle/>
          <a:p>
            <a:pPr algn="ctr" indent="0" marL="0">
              <a:buNone/>
            </a:pPr>
            <a:r>
              <a:rPr lang="en-US" sz="900" b="1" dirty="0">
                <a:solidFill>
                  <a:srgbClr val="001E3C"/>
                </a:solidFill>
                <a:latin typeface="Meiryo" pitchFamily="34" charset="0"/>
                <a:ea typeface="Meiryo" pitchFamily="34" charset="-122"/>
                <a:cs typeface="Meiryo" pitchFamily="34" charset="-120"/>
              </a:rPr>
              <a:t>WG</a:t>
            </a:r>
            <a:endParaRPr lang="en-US" sz="900" dirty="0"/>
          </a:p>
        </p:txBody>
      </p:sp>
      <p:sp>
        <p:nvSpPr>
          <p:cNvPr id="11" name="Text 8"/>
          <p:cNvSpPr txBox="1"/>
          <p:nvPr/>
        </p:nvSpPr>
        <p:spPr>
          <a:xfrm>
            <a:off x="713232" y="2798064"/>
            <a:ext cx="2048256" cy="10515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WG のリポジトリで作る。ブランチを切ってプルリクエストを出し、レビューを通してマージする。</a:t>
            </a:r>
            <a:endParaRPr lang="en-US" sz="1050" dirty="0"/>
          </a:p>
        </p:txBody>
      </p:sp>
      <p:sp>
        <p:nvSpPr>
          <p:cNvPr id="12" name="Shape 9"/>
          <p:cNvSpPr/>
          <p:nvPr/>
        </p:nvSpPr>
        <p:spPr>
          <a:xfrm>
            <a:off x="3291840" y="1572768"/>
            <a:ext cx="2560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547872" y="1792224"/>
            <a:ext cx="493776" cy="493776"/>
          </a:xfrm>
          <a:prstGeom prst="ellipse">
            <a:avLst/>
          </a:prstGeom>
          <a:solidFill>
            <a:srgbClr val="5BB8FF"/>
          </a:solidFill>
          <a:ln w="12700">
            <a:solidFill>
              <a:srgbClr val="5BB8FF"/>
            </a:solidFill>
            <a:prstDash val="solid"/>
          </a:ln>
        </p:spPr>
      </p:sp>
      <p:pic>
        <p:nvPicPr>
          <p:cNvPr id="14" name="Image 1" descr="preencoded.png">    </p:cNvPr>
          <p:cNvPicPr>
            <a:picLocks noChangeAspect="1"/>
          </p:cNvPicPr>
          <p:nvPr/>
        </p:nvPicPr>
        <p:blipFill>
          <a:blip r:embed="rId2"/>
          <a:stretch>
            <a:fillRect/>
          </a:stretch>
        </p:blipFill>
        <p:spPr>
          <a:xfrm>
            <a:off x="3676254" y="1920606"/>
            <a:ext cx="237012" cy="237012"/>
          </a:xfrm>
          <a:prstGeom prst="rect">
            <a:avLst/>
          </a:prstGeom>
        </p:spPr>
      </p:pic>
      <p:sp>
        <p:nvSpPr>
          <p:cNvPr id="15" name="Text 11"/>
          <p:cNvSpPr txBox="1"/>
          <p:nvPr/>
        </p:nvSpPr>
        <p:spPr>
          <a:xfrm>
            <a:off x="4206240" y="1892808"/>
            <a:ext cx="1554480" cy="365760"/>
          </a:xfrm>
          <a:prstGeom prst="rect">
            <a:avLst/>
          </a:prstGeom>
          <a:noFill/>
          <a:ln/>
        </p:spPr>
        <p:txBody>
          <a:bodyPr wrap="square" lIns="0" tIns="0" rIns="0" bIns="0" rtlCol="0" anchor="ctr"/>
          <a:lstStyle/>
          <a:p>
            <a:pPr indent="0" marL="0">
              <a:buNone/>
            </a:pPr>
            <a:r>
              <a:rPr lang="en-US" sz="1600" b="1" dirty="0">
                <a:solidFill>
                  <a:srgbClr val="001E3C"/>
                </a:solidFill>
                <a:latin typeface="Meiryo" pitchFamily="34" charset="0"/>
                <a:ea typeface="Meiryo" pitchFamily="34" charset="-122"/>
                <a:cs typeface="Meiryo" pitchFamily="34" charset="-120"/>
              </a:rPr>
              <a:t>公開</a:t>
            </a:r>
            <a:endParaRPr lang="en-US" sz="1600" dirty="0"/>
          </a:p>
        </p:txBody>
      </p:sp>
      <p:sp>
        <p:nvSpPr>
          <p:cNvPr id="16" name="Shape 12"/>
          <p:cNvSpPr/>
          <p:nvPr/>
        </p:nvSpPr>
        <p:spPr>
          <a:xfrm>
            <a:off x="3547872" y="2414016"/>
            <a:ext cx="1371600" cy="237744"/>
          </a:xfrm>
          <a:prstGeom prst="rect">
            <a:avLst/>
          </a:prstGeom>
          <a:solidFill>
            <a:srgbClr val="5BB8FF"/>
          </a:solidFill>
          <a:ln w="12700">
            <a:solidFill>
              <a:srgbClr val="5BB8FF"/>
            </a:solidFill>
            <a:prstDash val="solid"/>
          </a:ln>
        </p:spPr>
      </p:sp>
      <p:sp>
        <p:nvSpPr>
          <p:cNvPr id="17" name="Text 13"/>
          <p:cNvSpPr txBox="1"/>
          <p:nvPr/>
        </p:nvSpPr>
        <p:spPr>
          <a:xfrm>
            <a:off x="3547872" y="2414016"/>
            <a:ext cx="1371600" cy="237744"/>
          </a:xfrm>
          <a:prstGeom prst="rect">
            <a:avLst/>
          </a:prstGeom>
          <a:noFill/>
          <a:ln/>
        </p:spPr>
        <p:txBody>
          <a:bodyPr wrap="square" lIns="0" tIns="0" rIns="0" bIns="0" rtlCol="0" anchor="ctr"/>
          <a:lstStyle/>
          <a:p>
            <a:pPr algn="ctr" indent="0" marL="0">
              <a:buNone/>
            </a:pPr>
            <a:r>
              <a:rPr lang="en-US" sz="900" b="1" dirty="0">
                <a:solidFill>
                  <a:srgbClr val="001E3C"/>
                </a:solidFill>
                <a:latin typeface="Meiryo" pitchFamily="34" charset="0"/>
                <a:ea typeface="Meiryo" pitchFamily="34" charset="-122"/>
                <a:cs typeface="Meiryo" pitchFamily="34" charset="-120"/>
              </a:rPr>
              <a:t>自動</a:t>
            </a:r>
            <a:endParaRPr lang="en-US" sz="900" dirty="0"/>
          </a:p>
        </p:txBody>
      </p:sp>
      <p:sp>
        <p:nvSpPr>
          <p:cNvPr id="18" name="Text 14"/>
          <p:cNvSpPr txBox="1"/>
          <p:nvPr/>
        </p:nvSpPr>
        <p:spPr>
          <a:xfrm>
            <a:off x="3547872" y="2798064"/>
            <a:ext cx="2048256" cy="10515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マージすると homepage に取り込まれて公開される。ソースは非公開のまま。URL 直打ちでは開かず、一覧から辿る。</a:t>
            </a:r>
            <a:endParaRPr lang="en-US" sz="1050" dirty="0"/>
          </a:p>
        </p:txBody>
      </p:sp>
      <p:sp>
        <p:nvSpPr>
          <p:cNvPr id="19" name="Shape 15"/>
          <p:cNvSpPr/>
          <p:nvPr/>
        </p:nvSpPr>
        <p:spPr>
          <a:xfrm>
            <a:off x="6126480" y="1572768"/>
            <a:ext cx="256032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6382512" y="1792224"/>
            <a:ext cx="493776" cy="493776"/>
          </a:xfrm>
          <a:prstGeom prst="ellipse">
            <a:avLst/>
          </a:prstGeom>
          <a:solidFill>
            <a:srgbClr val="5BB8FF"/>
          </a:solidFill>
          <a:ln w="12700">
            <a:solidFill>
              <a:srgbClr val="5BB8FF"/>
            </a:solidFill>
            <a:prstDash val="solid"/>
          </a:ln>
        </p:spPr>
      </p:sp>
      <p:pic>
        <p:nvPicPr>
          <p:cNvPr id="21" name="Image 2" descr="preencoded.png">    </p:cNvPr>
          <p:cNvPicPr>
            <a:picLocks noChangeAspect="1"/>
          </p:cNvPicPr>
          <p:nvPr/>
        </p:nvPicPr>
        <p:blipFill>
          <a:blip r:embed="rId3"/>
          <a:stretch>
            <a:fillRect/>
          </a:stretch>
        </p:blipFill>
        <p:spPr>
          <a:xfrm>
            <a:off x="6510894" y="1920606"/>
            <a:ext cx="237012" cy="237012"/>
          </a:xfrm>
          <a:prstGeom prst="rect">
            <a:avLst/>
          </a:prstGeom>
        </p:spPr>
      </p:pic>
      <p:sp>
        <p:nvSpPr>
          <p:cNvPr id="22" name="Text 17"/>
          <p:cNvSpPr txBox="1"/>
          <p:nvPr/>
        </p:nvSpPr>
        <p:spPr>
          <a:xfrm>
            <a:off x="7040880" y="1892808"/>
            <a:ext cx="1554480" cy="365760"/>
          </a:xfrm>
          <a:prstGeom prst="rect">
            <a:avLst/>
          </a:prstGeom>
          <a:noFill/>
          <a:ln/>
        </p:spPr>
        <p:txBody>
          <a:bodyPr wrap="square" lIns="0" tIns="0" rIns="0" bIns="0" rtlCol="0" anchor="ctr"/>
          <a:lstStyle/>
          <a:p>
            <a:pPr indent="0" marL="0">
              <a:buNone/>
            </a:pPr>
            <a:r>
              <a:rPr lang="en-US" sz="1600" b="1" dirty="0">
                <a:solidFill>
                  <a:srgbClr val="001E3C"/>
                </a:solidFill>
                <a:latin typeface="Meiryo" pitchFamily="34" charset="0"/>
                <a:ea typeface="Meiryo" pitchFamily="34" charset="-122"/>
                <a:cs typeface="Meiryo" pitchFamily="34" charset="-120"/>
              </a:rPr>
              <a:t>掲載</a:t>
            </a:r>
            <a:endParaRPr lang="en-US" sz="1600" dirty="0"/>
          </a:p>
        </p:txBody>
      </p:sp>
      <p:sp>
        <p:nvSpPr>
          <p:cNvPr id="23" name="Shape 18"/>
          <p:cNvSpPr/>
          <p:nvPr/>
        </p:nvSpPr>
        <p:spPr>
          <a:xfrm>
            <a:off x="6382512" y="2414016"/>
            <a:ext cx="566928" cy="237744"/>
          </a:xfrm>
          <a:prstGeom prst="rect">
            <a:avLst/>
          </a:prstGeom>
          <a:solidFill>
            <a:srgbClr val="5BB8FF"/>
          </a:solidFill>
          <a:ln w="12700">
            <a:solidFill>
              <a:srgbClr val="5BB8FF"/>
            </a:solidFill>
            <a:prstDash val="solid"/>
          </a:ln>
        </p:spPr>
      </p:sp>
      <p:sp>
        <p:nvSpPr>
          <p:cNvPr id="24" name="Text 19"/>
          <p:cNvSpPr txBox="1"/>
          <p:nvPr/>
        </p:nvSpPr>
        <p:spPr>
          <a:xfrm>
            <a:off x="6382512" y="2414016"/>
            <a:ext cx="566928" cy="237744"/>
          </a:xfrm>
          <a:prstGeom prst="rect">
            <a:avLst/>
          </a:prstGeom>
          <a:noFill/>
          <a:ln/>
        </p:spPr>
        <p:txBody>
          <a:bodyPr wrap="square" lIns="0" tIns="0" rIns="0" bIns="0" rtlCol="0" anchor="ctr"/>
          <a:lstStyle/>
          <a:p>
            <a:pPr algn="ctr" indent="0" marL="0">
              <a:buNone/>
            </a:pPr>
            <a:r>
              <a:rPr lang="en-US" sz="900" b="1" dirty="0">
                <a:solidFill>
                  <a:srgbClr val="001E3C"/>
                </a:solidFill>
                <a:latin typeface="Meiryo" pitchFamily="34" charset="0"/>
                <a:ea typeface="Meiryo" pitchFamily="34" charset="-122"/>
                <a:cs typeface="Meiryo" pitchFamily="34" charset="-120"/>
              </a:rPr>
              <a:t>WG</a:t>
            </a:r>
            <a:endParaRPr lang="en-US" sz="900" dirty="0"/>
          </a:p>
        </p:txBody>
      </p:sp>
      <p:sp>
        <p:nvSpPr>
          <p:cNvPr id="25" name="Text 20"/>
          <p:cNvSpPr txBox="1"/>
          <p:nvPr/>
        </p:nvSpPr>
        <p:spPr>
          <a:xfrm>
            <a:off x="6382512" y="2798064"/>
            <a:ext cx="2048256" cy="105156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ホームページの編集画面（/edit/）で、WG と成果物に URL を入れる。一覧から辿れるようになる。</a:t>
            </a:r>
            <a:endParaRPr lang="en-US" sz="1050" dirty="0"/>
          </a:p>
        </p:txBody>
      </p:sp>
      <p:sp>
        <p:nvSpPr>
          <p:cNvPr id="26" name="Text 21"/>
          <p:cNvSpPr txBox="1"/>
          <p:nvPr/>
        </p:nvSpPr>
        <p:spPr>
          <a:xfrm>
            <a:off x="3044952"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27" name="Text 22"/>
          <p:cNvSpPr txBox="1"/>
          <p:nvPr/>
        </p:nvSpPr>
        <p:spPr>
          <a:xfrm>
            <a:off x="5879592" y="2606040"/>
            <a:ext cx="310896" cy="274320"/>
          </a:xfrm>
          <a:prstGeom prst="rect">
            <a:avLst/>
          </a:prstGeom>
          <a:noFill/>
          <a:ln/>
        </p:spPr>
        <p:txBody>
          <a:bodyPr wrap="square" lIns="0" tIns="0" rIns="0" bIns="0" rtlCol="0" anchor="ctr"/>
          <a:lstStyle/>
          <a:p>
            <a:pPr algn="ctr" indent="0" marL="0">
              <a:buNone/>
            </a:pPr>
            <a:r>
              <a:rPr lang="en-US" sz="1800" b="1" dirty="0">
                <a:solidFill>
                  <a:srgbClr val="1A4A70"/>
                </a:solidFill>
                <a:latin typeface="Meiryo" pitchFamily="34" charset="0"/>
                <a:ea typeface="Meiryo" pitchFamily="34" charset="-122"/>
                <a:cs typeface="Meiryo" pitchFamily="34" charset="-120"/>
              </a:rPr>
              <a:t>→</a:t>
            </a:r>
            <a:endParaRPr lang="en-US" sz="1800" dirty="0"/>
          </a:p>
        </p:txBody>
      </p:sp>
      <p:sp>
        <p:nvSpPr>
          <p:cNvPr id="28" name="Shape 23"/>
          <p:cNvSpPr/>
          <p:nvPr/>
        </p:nvSpPr>
        <p:spPr>
          <a:xfrm>
            <a:off x="457200" y="4114800"/>
            <a:ext cx="8229600" cy="713232"/>
          </a:xfrm>
          <a:prstGeom prst="rect">
            <a:avLst/>
          </a:prstGeom>
          <a:solidFill>
            <a:srgbClr val="001E3C"/>
          </a:solidFill>
          <a:ln w="12700">
            <a:solidFill>
              <a:srgbClr val="001E3C"/>
            </a:solidFill>
            <a:prstDash val="solid"/>
          </a:ln>
          <a:effectLst>
            <a:outerShdw sx="100000" sy="100000" kx="0" ky="0" algn="bl" rotWithShape="0" blurRad="76200" dist="25400" dir="5400000">
              <a:srgbClr val="000000">
                <a:alpha val="12000"/>
              </a:srgbClr>
            </a:outerShdw>
          </a:effectLst>
        </p:spPr>
      </p:sp>
      <p:sp>
        <p:nvSpPr>
          <p:cNvPr id="29" name="Text 24"/>
          <p:cNvSpPr txBox="1"/>
          <p:nvPr/>
        </p:nvSpPr>
        <p:spPr>
          <a:xfrm>
            <a:off x="713232" y="4224528"/>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ホームページ自身の更新</a:t>
            </a:r>
            <a:endParaRPr lang="en-US" sz="1300" dirty="0"/>
          </a:p>
        </p:txBody>
      </p:sp>
      <p:sp>
        <p:nvSpPr>
          <p:cNvPr id="30" name="Text 25"/>
          <p:cNvSpPr txBox="1"/>
          <p:nvPr/>
        </p:nvSpPr>
        <p:spPr>
          <a:xfrm>
            <a:off x="4023360" y="4251960"/>
            <a:ext cx="4434840" cy="256032"/>
          </a:xfrm>
          <a:prstGeom prst="rect">
            <a:avLst/>
          </a:prstGeom>
          <a:noFill/>
          <a:ln/>
        </p:spPr>
        <p:txBody>
          <a:bodyPr wrap="square" lIns="0" tIns="0" rIns="0" bIns="0" rtlCol="0" anchor="ctr"/>
          <a:lstStyle/>
          <a:p>
            <a:pPr algn="r" indent="0" marL="0">
              <a:buNone/>
            </a:pPr>
            <a:r>
              <a:rPr lang="en-US" sz="1050" dirty="0">
                <a:solidFill>
                  <a:srgbClr val="5BB8FF"/>
                </a:solidFill>
                <a:latin typeface="Consolas" pitchFamily="34" charset="0"/>
                <a:ea typeface="Consolas" pitchFamily="34" charset="-122"/>
                <a:cs typeface="Consolas" pitchFamily="34" charset="-120"/>
              </a:rPr>
              <a:t>main に push  →  GitHub Actions  →  App Service</a:t>
            </a:r>
            <a:endParaRPr lang="en-US" sz="1050" dirty="0"/>
          </a:p>
        </p:txBody>
      </p:sp>
      <p:sp>
        <p:nvSpPr>
          <p:cNvPr id="31" name="Text 26"/>
          <p:cNvSpPr txBox="1"/>
          <p:nvPr/>
        </p:nvSpPr>
        <p:spPr>
          <a:xfrm>
            <a:off x="713232" y="4517136"/>
            <a:ext cx="7726680" cy="256032"/>
          </a:xfrm>
          <a:prstGeom prst="rect">
            <a:avLst/>
          </a:prstGeom>
          <a:noFill/>
          <a:ln/>
        </p:spPr>
        <p:txBody>
          <a:bodyPr wrap="square" lIns="0" tIns="0" rIns="0" bIns="0" rtlCol="0" anchor="ctr"/>
          <a:lstStyle/>
          <a:p>
            <a:pPr indent="0" marL="0">
              <a:buNone/>
            </a:pPr>
            <a:r>
              <a:rPr lang="en-US" sz="950" dirty="0">
                <a:solidFill>
                  <a:srgbClr val="B9CAD9"/>
                </a:solidFill>
                <a:latin typeface="Meiryo" pitchFamily="34" charset="0"/>
                <a:ea typeface="Meiryo" pitchFamily="34" charset="-122"/>
                <a:cs typeface="Meiryo" pitchFamily="34" charset="-120"/>
              </a:rPr>
              <a:t>こちらは運営が行う。掲載（3）は DB に入るだけなので、次のデプロイを待たずにすぐ公開ページへ出る。</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E3C"/>
        </a:solidFill>
      </p:bgPr>
    </p:bg>
    <p:spTree>
      <p:nvGrpSpPr>
        <p:cNvPr id="1" name=""/>
        <p:cNvGrpSpPr/>
        <p:nvPr/>
      </p:nvGrpSpPr>
      <p:grpSpPr>
        <a:xfrm>
          <a:off x="0" y="0"/>
          <a:ext cx="0" cy="0"/>
          <a:chOff x="0" y="0"/>
          <a:chExt cx="0" cy="0"/>
        </a:xfrm>
      </p:grpSpPr>
      <p:sp>
        <p:nvSpPr>
          <p:cNvPr id="2" name="Text 0"/>
          <p:cNvSpPr txBox="1"/>
          <p:nvPr/>
        </p:nvSpPr>
        <p:spPr>
          <a:xfrm>
            <a:off x="457200" y="320040"/>
            <a:ext cx="6858000" cy="274320"/>
          </a:xfrm>
          <a:prstGeom prst="rect">
            <a:avLst/>
          </a:prstGeom>
          <a:noFill/>
          <a:ln/>
        </p:spPr>
        <p:txBody>
          <a:bodyPr wrap="square" lIns="0" tIns="0" rIns="0" bIns="0" rtlCol="0" anchor="ctr"/>
          <a:lstStyle/>
          <a:p>
            <a:pPr indent="0" marL="0">
              <a:buNone/>
            </a:pPr>
            <a:r>
              <a:rPr lang="en-US" sz="1100" dirty="0">
                <a:solidFill>
                  <a:srgbClr val="5BB8FF"/>
                </a:solidFill>
                <a:latin typeface="Consolas" pitchFamily="34" charset="0"/>
                <a:ea typeface="Consolas" pitchFamily="34" charset="-122"/>
                <a:cs typeface="Consolas" pitchFamily="34" charset="-120"/>
              </a:rPr>
              <a:t>// まとめ</a:t>
            </a:r>
            <a:endParaRPr lang="en-US" sz="1100" dirty="0"/>
          </a:p>
        </p:txBody>
      </p:sp>
      <p:sp>
        <p:nvSpPr>
          <p:cNvPr id="3" name="Text 1"/>
          <p:cNvSpPr txBox="1"/>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迷ったら、ここを見る</a:t>
            </a:r>
            <a:endParaRPr lang="en-US" sz="2600" dirty="0"/>
          </a:p>
        </p:txBody>
      </p:sp>
      <p:sp>
        <p:nvSpPr>
          <p:cNvPr id="4" name="Shape 2"/>
          <p:cNvSpPr/>
          <p:nvPr/>
        </p:nvSpPr>
        <p:spPr>
          <a:xfrm>
            <a:off x="457200" y="1463040"/>
            <a:ext cx="2681935" cy="2468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691640"/>
            <a:ext cx="548640" cy="548640"/>
          </a:xfrm>
          <a:prstGeom prst="ellipse">
            <a:avLst/>
          </a:prstGeom>
          <a:solidFill>
            <a:srgbClr val="001E3C"/>
          </a:solidFill>
          <a:ln w="12700">
            <a:solidFill>
              <a:srgbClr val="001E3C"/>
            </a:solidFill>
            <a:prstDash val="solid"/>
          </a:ln>
        </p:spPr>
      </p:sp>
      <p:pic>
        <p:nvPicPr>
          <p:cNvPr id="6" name="Image 0" descr="preencoded.png">    </p:cNvPr>
          <p:cNvPicPr>
            <a:picLocks noChangeAspect="1"/>
          </p:cNvPicPr>
          <p:nvPr/>
        </p:nvPicPr>
        <p:blipFill>
          <a:blip r:embed="rId1"/>
          <a:stretch>
            <a:fillRect/>
          </a:stretch>
        </p:blipFill>
        <p:spPr>
          <a:xfrm>
            <a:off x="855878" y="1834286"/>
            <a:ext cx="263347" cy="263347"/>
          </a:xfrm>
          <a:prstGeom prst="rect">
            <a:avLst/>
          </a:prstGeom>
        </p:spPr>
      </p:pic>
      <p:sp>
        <p:nvSpPr>
          <p:cNvPr id="7" name="Text 4"/>
          <p:cNvSpPr txBox="1"/>
          <p:nvPr/>
        </p:nvSpPr>
        <p:spPr>
          <a:xfrm>
            <a:off x="713232" y="2395728"/>
            <a:ext cx="2194560" cy="292608"/>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仕様と決めごと</a:t>
            </a:r>
            <a:endParaRPr lang="en-US" sz="1400" dirty="0"/>
          </a:p>
        </p:txBody>
      </p:sp>
      <p:sp>
        <p:nvSpPr>
          <p:cNvPr id="8" name="Text 5"/>
          <p:cNvSpPr txBox="1"/>
          <p:nvPr/>
        </p:nvSpPr>
        <p:spPr>
          <a:xfrm>
            <a:off x="713232" y="2743200"/>
            <a:ext cx="219456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README.md</a:t>
            </a:r>
            <a:endParaRPr lang="en-US" sz="1100" dirty="0"/>
          </a:p>
        </p:txBody>
      </p:sp>
      <p:sp>
        <p:nvSpPr>
          <p:cNvPr id="9" name="Text 6"/>
          <p:cNvSpPr txBox="1"/>
          <p:nvPr/>
        </p:nvSpPr>
        <p:spPr>
          <a:xfrm>
            <a:off x="713232" y="3072384"/>
            <a:ext cx="2194560" cy="73152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何をなぜそうしたかは、すべてここに書いてある</a:t>
            </a:r>
            <a:endParaRPr lang="en-US" sz="1050" dirty="0"/>
          </a:p>
        </p:txBody>
      </p:sp>
      <p:sp>
        <p:nvSpPr>
          <p:cNvPr id="10" name="Shape 7"/>
          <p:cNvSpPr/>
          <p:nvPr/>
        </p:nvSpPr>
        <p:spPr>
          <a:xfrm>
            <a:off x="3230575" y="1463040"/>
            <a:ext cx="2681935" cy="2468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486607" y="1691640"/>
            <a:ext cx="548640" cy="548640"/>
          </a:xfrm>
          <a:prstGeom prst="ellipse">
            <a:avLst/>
          </a:prstGeom>
          <a:solidFill>
            <a:srgbClr val="5BB8FF"/>
          </a:solidFill>
          <a:ln w="12700">
            <a:solidFill>
              <a:srgbClr val="5BB8FF"/>
            </a:solidFill>
            <a:prstDash val="solid"/>
          </a:ln>
        </p:spPr>
      </p:sp>
      <p:pic>
        <p:nvPicPr>
          <p:cNvPr id="12" name="Image 1" descr="preencoded.png">    </p:cNvPr>
          <p:cNvPicPr>
            <a:picLocks noChangeAspect="1"/>
          </p:cNvPicPr>
          <p:nvPr/>
        </p:nvPicPr>
        <p:blipFill>
          <a:blip r:embed="rId2"/>
          <a:stretch>
            <a:fillRect/>
          </a:stretch>
        </p:blipFill>
        <p:spPr>
          <a:xfrm>
            <a:off x="3629254" y="1834286"/>
            <a:ext cx="263347" cy="263347"/>
          </a:xfrm>
          <a:prstGeom prst="rect">
            <a:avLst/>
          </a:prstGeom>
        </p:spPr>
      </p:pic>
      <p:sp>
        <p:nvSpPr>
          <p:cNvPr id="13" name="Text 9"/>
          <p:cNvSpPr txBox="1"/>
          <p:nvPr/>
        </p:nvSpPr>
        <p:spPr>
          <a:xfrm>
            <a:off x="3486607" y="2395728"/>
            <a:ext cx="2194560" cy="292608"/>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Azure と本番設定</a:t>
            </a:r>
            <a:endParaRPr lang="en-US" sz="1400" dirty="0"/>
          </a:p>
        </p:txBody>
      </p:sp>
      <p:sp>
        <p:nvSpPr>
          <p:cNvPr id="14" name="Text 10"/>
          <p:cNvSpPr txBox="1"/>
          <p:nvPr/>
        </p:nvSpPr>
        <p:spPr>
          <a:xfrm>
            <a:off x="3486607" y="2743200"/>
            <a:ext cx="219456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deploy.txt</a:t>
            </a:r>
            <a:endParaRPr lang="en-US" sz="1100" dirty="0"/>
          </a:p>
        </p:txBody>
      </p:sp>
      <p:sp>
        <p:nvSpPr>
          <p:cNvPr id="15" name="Text 11"/>
          <p:cNvSpPr txBox="1"/>
          <p:nvPr/>
        </p:nvSpPr>
        <p:spPr>
          <a:xfrm>
            <a:off x="3486607" y="3072384"/>
            <a:ext cx="2194560" cy="73152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リソースの作成手順と az コマンド一式</a:t>
            </a:r>
            <a:endParaRPr lang="en-US" sz="1050" dirty="0"/>
          </a:p>
        </p:txBody>
      </p:sp>
      <p:sp>
        <p:nvSpPr>
          <p:cNvPr id="16" name="Shape 12"/>
          <p:cNvSpPr/>
          <p:nvPr/>
        </p:nvSpPr>
        <p:spPr>
          <a:xfrm>
            <a:off x="6003950" y="1463040"/>
            <a:ext cx="2681935" cy="2468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6259982" y="1691640"/>
            <a:ext cx="548640" cy="548640"/>
          </a:xfrm>
          <a:prstGeom prst="ellipse">
            <a:avLst/>
          </a:prstGeom>
          <a:solidFill>
            <a:srgbClr val="001E3C"/>
          </a:solidFill>
          <a:ln w="12700">
            <a:solidFill>
              <a:srgbClr val="001E3C"/>
            </a:solidFill>
            <a:prstDash val="solid"/>
          </a:ln>
        </p:spPr>
      </p:sp>
      <p:pic>
        <p:nvPicPr>
          <p:cNvPr id="18" name="Image 2" descr="preencoded.png">    </p:cNvPr>
          <p:cNvPicPr>
            <a:picLocks noChangeAspect="1"/>
          </p:cNvPicPr>
          <p:nvPr/>
        </p:nvPicPr>
        <p:blipFill>
          <a:blip r:embed="rId3"/>
          <a:stretch>
            <a:fillRect/>
          </a:stretch>
        </p:blipFill>
        <p:spPr>
          <a:xfrm>
            <a:off x="6402629" y="1834286"/>
            <a:ext cx="263347" cy="263347"/>
          </a:xfrm>
          <a:prstGeom prst="rect">
            <a:avLst/>
          </a:prstGeom>
        </p:spPr>
      </p:pic>
      <p:sp>
        <p:nvSpPr>
          <p:cNvPr id="19" name="Text 14"/>
          <p:cNvSpPr txBox="1"/>
          <p:nvPr/>
        </p:nvSpPr>
        <p:spPr>
          <a:xfrm>
            <a:off x="6259982" y="2395728"/>
            <a:ext cx="2194560" cy="292608"/>
          </a:xfrm>
          <a:prstGeom prst="rect">
            <a:avLst/>
          </a:prstGeom>
          <a:noFill/>
          <a:ln/>
        </p:spPr>
        <p:txBody>
          <a:bodyPr wrap="square" lIns="0" tIns="0" rIns="0" bIns="0" rtlCol="0" anchor="ctr"/>
          <a:lstStyle/>
          <a:p>
            <a:pPr indent="0" marL="0">
              <a:buNone/>
            </a:pPr>
            <a:r>
              <a:rPr lang="en-US" sz="1400" b="1" dirty="0">
                <a:solidFill>
                  <a:srgbClr val="001E3C"/>
                </a:solidFill>
                <a:latin typeface="Meiryo" pitchFamily="34" charset="0"/>
                <a:ea typeface="Meiryo" pitchFamily="34" charset="-122"/>
                <a:cs typeface="Meiryo" pitchFamily="34" charset="-120"/>
              </a:rPr>
              <a:t>開発環境の作り方</a:t>
            </a:r>
            <a:endParaRPr lang="en-US" sz="1400" dirty="0"/>
          </a:p>
        </p:txBody>
      </p:sp>
      <p:sp>
        <p:nvSpPr>
          <p:cNvPr id="20" name="Text 15"/>
          <p:cNvSpPr txBox="1"/>
          <p:nvPr/>
        </p:nvSpPr>
        <p:spPr>
          <a:xfrm>
            <a:off x="6259982" y="2743200"/>
            <a:ext cx="2194560" cy="237744"/>
          </a:xfrm>
          <a:prstGeom prst="rect">
            <a:avLst/>
          </a:prstGeom>
          <a:noFill/>
          <a:ln/>
        </p:spPr>
        <p:txBody>
          <a:bodyPr wrap="square" lIns="0" tIns="0" rIns="0" bIns="0" rtlCol="0" anchor="ctr"/>
          <a:lstStyle/>
          <a:p>
            <a:pPr indent="0" marL="0">
              <a:buNone/>
            </a:pPr>
            <a:r>
              <a:rPr lang="en-US" sz="1100" b="1" dirty="0">
                <a:solidFill>
                  <a:srgbClr val="1A4A70"/>
                </a:solidFill>
                <a:latin typeface="Consolas" pitchFamily="34" charset="0"/>
                <a:ea typeface="Consolas" pitchFamily="34" charset="-122"/>
                <a:cs typeface="Consolas" pitchFamily="34" charset="-120"/>
              </a:rPr>
              <a:t>docs/development.md</a:t>
            </a:r>
            <a:endParaRPr lang="en-US" sz="1100" dirty="0"/>
          </a:p>
        </p:txBody>
      </p:sp>
      <p:sp>
        <p:nvSpPr>
          <p:cNvPr id="21" name="Text 16"/>
          <p:cNvSpPr txBox="1"/>
          <p:nvPr/>
        </p:nvSpPr>
        <p:spPr>
          <a:xfrm>
            <a:off x="6259982" y="3072384"/>
            <a:ext cx="2194560" cy="731520"/>
          </a:xfrm>
          <a:prstGeom prst="rect">
            <a:avLst/>
          </a:prstGeom>
          <a:noFill/>
          <a:ln/>
        </p:spPr>
        <p:txBody>
          <a:bodyPr wrap="square" lIns="0" tIns="0" rIns="0" bIns="0" rtlCol="0" anchor="ctr"/>
          <a:lstStyle/>
          <a:p>
            <a:pPr indent="0" marL="0">
              <a:buNone/>
            </a:pPr>
            <a:r>
              <a:rPr lang="en-US" sz="1050" dirty="0">
                <a:solidFill>
                  <a:srgbClr val="1B2B3A"/>
                </a:solidFill>
                <a:latin typeface="Meiryo" pitchFamily="34" charset="0"/>
                <a:ea typeface="Meiryo" pitchFamily="34" charset="-122"/>
                <a:cs typeface="Meiryo" pitchFamily="34" charset="-120"/>
              </a:rPr>
              <a:t>VS Code ＋ Docker Desktop で揃える</a:t>
            </a:r>
            <a:endParaRPr lang="en-US" sz="1050" dirty="0"/>
          </a:p>
        </p:txBody>
      </p:sp>
      <p:sp>
        <p:nvSpPr>
          <p:cNvPr id="22" name="Text 17"/>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dirty="0">
                <a:solidFill>
                  <a:srgbClr val="B9CAD9"/>
                </a:solidFill>
                <a:latin typeface="Meiryo" pitchFamily="34" charset="0"/>
                <a:ea typeface="Meiryo" pitchFamily="34" charset="-122"/>
                <a:cs typeface="Meiryo" pitchFamily="34" charset="-120"/>
              </a:rPr>
              <a:t>資料と食い違ったときは README.md を正とする。</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WG 立ち上げガイド 04 アプリケーション構成</dc:title>
  <dc:subject>PptxGenJS Presentation</dc:subject>
  <dc:creator>fun IT club</dc:creator>
  <cp:lastModifiedBy>fun IT club</cp:lastModifiedBy>
  <cp:revision>1</cp:revision>
  <dcterms:created xsi:type="dcterms:W3CDTF">2026-09-20T02:23:01Z</dcterms:created>
  <dcterms:modified xsi:type="dcterms:W3CDTF">2026-09-20T02:23:01Z</dcterms:modified>
</cp:coreProperties>
</file>