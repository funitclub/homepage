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funITclub のサイトは Django アプリ 1 つです。公開サイトも編集画面も WG への参加も同じアプリの中にあり、外につながるのは Azure のメール・Google Classroom・GitHub・Key Vault の 4 つだけです。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アプリは Azure App Service 1 台で動いています。DB は hirahira_room と同じ PostgreSQL サーバーですが、データベースは funITclub 専用のものを分けています。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モデルを持つのは news・catalog・edit・home の 4 つだけです。編集する項目を増やすときは catalog と同じ作りでモデル・フォーム・画面を足します。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保護は二段構えです。ミドルウェアで既定をログイン必須にしたうえで、編集の各ビューも LoginRequiredMixin を継承しています。編集画面を足したときに書き忘れても素通りにはなりません。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テーブル名を固定しているのは、万一 DB_NAME が hirahira_room の共有 DB を向いても既存テーブルと衝突しないようにするためです。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ビューは views.py に書いてある、ページの中身を作る処理です。ミドルウェアはその手前に並んだ共通の処理で、全リクエストが必ず順に通ります。遮断 IP の判定を先頭に置いているのは、静的ファイルも含めて何も返さないためです。判定に使う IP は X-Forwarded-For の右端（Azure が付けた値）で、左端はクライアントが詐称できるので見ません。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ミドルウェアは印（login_not_required）の有無だけを見ます。編集画面のビューには印を付けていないので 05 で止まります。加えて各編集ビューは EditorMixin（LoginRequiredMixin）も継承していて、ミドルウェアを外しても閉じたままです。admin は Django が自前のログイン URL を持っているので、/edit/login/ ではなく /admin/login/ に回ります。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掲載内容はすべて DB から読んでいます。お知らせの件数は home.views.IndexView.news_limit で決めています。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「WG に参加」が出るのは、環境変数がそろっていて、かつ WG 紹介の「GitHub のチーム」に wg- で始まる名前が入っているときだけです。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参加フォームは DB に残さず、入力内容をメールで送るだけです。自由記述の欄は意図的に持たせていません。復活させないでください。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自分の IP を遮断してしまったときの逃げ道は 2 つあります。IP_BLOCK_ENABLED と IP_BLOCK_EXEMPT で、どちらも App Service のアプリケーション設定から DB を触らずに直せます。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付け忘れると本番設定で動いて PostgreSQL に繋ぎにいき、接続に失敗します。秘密の値はリポジトリに持たず、手元は .env、本番は App Service のアプリケーション設定から読みます。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公開されるのは動いている Web ページだけで、WG のリポジトリは完成後も非公開のままです。成果物アプリを動かす場所（Container Apps と ghcr.io）はまだ構成案なので、2 の自動公開は準備中です。3 の掲載も WG が自分で行います。ホームページから辿れるようにするための作業で、公開そのものではありません。URL を入れるまでは「作成中」ページ（/coming-soon/）に流れます。いま動いているサブアプリの countdown も、ナビにリンクが無いまま /countdown/ で開きます。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この資料は構成の見取り図です。実際の値や手順は README.md と deploy.txt を見てください。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fun IT club — WG 立ち上げガイド  04 アプリケーション構成</a:t>
            </a:r>
            <a:endParaRPr lang="en-US" sz="1100" dirty="0"/>
          </a:p>
        </p:txBody>
      </p:sp>
      <p:sp>
        <p:nvSpPr>
          <p:cNvPr id="3" name="Text 1"/>
          <p:cNvSpPr txBox="1"/>
          <p:nvPr/>
        </p:nvSpPr>
        <p:spPr>
          <a:xfrm>
            <a:off x="457200" y="960120"/>
            <a:ext cx="4754880" cy="146304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サイトは</a:t>
            </a:r>
            <a:endParaRPr lang="en-US" sz="4000" dirty="0"/>
          </a:p>
          <a:p>
            <a:pPr indent="0" marL="0">
              <a:buNone/>
            </a:pPr>
            <a:r>
              <a:rPr lang="en-US" sz="4000" b="1" dirty="0">
                <a:solidFill>
                  <a:srgbClr val="5BB8FF"/>
                </a:solidFill>
                <a:latin typeface="Meiryo" pitchFamily="34" charset="0"/>
                <a:ea typeface="Meiryo" pitchFamily="34" charset="-122"/>
                <a:cs typeface="Meiryo" pitchFamily="34" charset="-120"/>
              </a:rPr>
              <a:t>こう出来ている。</a:t>
            </a:r>
            <a:endParaRPr lang="en-US" sz="4000" dirty="0"/>
          </a:p>
        </p:txBody>
      </p:sp>
      <p:sp>
        <p:nvSpPr>
          <p:cNvPr id="4" name="Text 2"/>
          <p:cNvSpPr txBox="1"/>
          <p:nvPr/>
        </p:nvSpPr>
        <p:spPr>
          <a:xfrm>
            <a:off x="457200" y="2788920"/>
            <a:ext cx="4572000" cy="822960"/>
          </a:xfrm>
          <a:prstGeom prst="rect">
            <a:avLst/>
          </a:prstGeom>
          <a:noFill/>
          <a:ln/>
        </p:spPr>
        <p:txBody>
          <a:bodyPr wrap="square" lIns="0" tIns="0" rIns="0" bIns="0" rtlCol="0" anchor="ctr"/>
          <a:lstStyle/>
          <a:p>
            <a:pPr indent="0" marL="0">
              <a:buNone/>
            </a:pPr>
            <a:r>
              <a:rPr lang="en-US" sz="1300" dirty="0">
                <a:solidFill>
                  <a:srgbClr val="DDDDDD"/>
                </a:solidFill>
                <a:latin typeface="Meiryo" pitchFamily="34" charset="0"/>
                <a:ea typeface="Meiryo" pitchFamily="34" charset="-122"/>
                <a:cs typeface="Meiryo" pitchFamily="34" charset="-120"/>
              </a:rPr>
              <a:t>公開サイト・編集画面・WG への参加を、1 つの Django アプリで動かしている。その中身と、外につながる先。</a:t>
            </a:r>
            <a:endParaRPr lang="en-US" sz="1300" dirty="0"/>
          </a:p>
        </p:txBody>
      </p:sp>
      <p:sp>
        <p:nvSpPr>
          <p:cNvPr id="5" name="Shape 3"/>
          <p:cNvSpPr/>
          <p:nvPr/>
        </p:nvSpPr>
        <p:spPr>
          <a:xfrm>
            <a:off x="457200" y="3840480"/>
            <a:ext cx="1188720" cy="237744"/>
          </a:xfrm>
          <a:prstGeom prst="rect">
            <a:avLst/>
          </a:prstGeom>
          <a:solidFill>
            <a:srgbClr val="5BB8FF"/>
          </a:solidFill>
          <a:ln w="12700">
            <a:solidFill>
              <a:srgbClr val="5BB8FF"/>
            </a:solidFill>
            <a:prstDash val="solid"/>
          </a:ln>
        </p:spPr>
      </p:sp>
      <p:sp>
        <p:nvSpPr>
          <p:cNvPr id="6" name="Text 4"/>
          <p:cNvSpPr txBox="1"/>
          <p:nvPr/>
        </p:nvSpPr>
        <p:spPr>
          <a:xfrm>
            <a:off x="457200" y="3840480"/>
            <a:ext cx="118872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メンバー全員</a:t>
            </a:r>
            <a:endParaRPr lang="en-US" sz="900" dirty="0"/>
          </a:p>
        </p:txBody>
      </p:sp>
      <p:sp>
        <p:nvSpPr>
          <p:cNvPr id="7" name="Text 5"/>
          <p:cNvSpPr txBox="1"/>
          <p:nvPr/>
        </p:nvSpPr>
        <p:spPr>
          <a:xfrm>
            <a:off x="457200" y="4434840"/>
            <a:ext cx="4572000" cy="274320"/>
          </a:xfrm>
          <a:prstGeom prst="rect">
            <a:avLst/>
          </a:prstGeom>
          <a:noFill/>
          <a:ln/>
        </p:spPr>
        <p:txBody>
          <a:bodyPr wrap="square" lIns="0" tIns="0" rIns="0" bIns="0" rtlCol="0" anchor="ctr"/>
          <a:lstStyle/>
          <a:p>
            <a:pPr indent="0" marL="0">
              <a:buNone/>
            </a:pPr>
            <a:r>
              <a:rPr lang="en-US" sz="1000" dirty="0">
                <a:solidFill>
                  <a:srgbClr val="B9CAD9"/>
                </a:solidFill>
                <a:latin typeface="Consolas" pitchFamily="34" charset="0"/>
                <a:ea typeface="Consolas" pitchFamily="34" charset="-122"/>
                <a:cs typeface="Consolas" pitchFamily="34" charset="-120"/>
              </a:rPr>
              <a:t>2026-09  ·  fun IT club 運営</a:t>
            </a:r>
            <a:endParaRPr lang="en-US" sz="1000" dirty="0"/>
          </a:p>
        </p:txBody>
      </p:sp>
      <p:sp>
        <p:nvSpPr>
          <p:cNvPr id="8" name="Shape 6"/>
          <p:cNvSpPr/>
          <p:nvPr/>
        </p:nvSpPr>
        <p:spPr>
          <a:xfrm>
            <a:off x="5394960" y="1051560"/>
            <a:ext cx="3291840" cy="3017520"/>
          </a:xfrm>
          <a:prstGeom prst="rect">
            <a:avLst/>
          </a:prstGeom>
          <a:solidFill>
            <a:srgbClr val="1A4A70"/>
          </a:solidFill>
          <a:ln w="12700">
            <a:solidFill>
              <a:srgbClr val="1A4A70"/>
            </a:solidFill>
            <a:prstDash val="solid"/>
          </a:ln>
        </p:spPr>
      </p:sp>
      <p:sp>
        <p:nvSpPr>
          <p:cNvPr id="9" name="Text 7"/>
          <p:cNvSpPr txBox="1"/>
          <p:nvPr/>
        </p:nvSpPr>
        <p:spPr>
          <a:xfrm>
            <a:off x="5623560" y="1234440"/>
            <a:ext cx="2834640" cy="27432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 この資料の中身</a:t>
            </a:r>
            <a:endParaRPr lang="en-US" sz="1000" dirty="0"/>
          </a:p>
        </p:txBody>
      </p:sp>
      <p:sp>
        <p:nvSpPr>
          <p:cNvPr id="10" name="Text 8"/>
          <p:cNvSpPr txBox="1"/>
          <p:nvPr/>
        </p:nvSpPr>
        <p:spPr>
          <a:xfrm>
            <a:off x="5623560" y="1627632"/>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01</a:t>
            </a:r>
            <a:endParaRPr lang="en-US" sz="1300" dirty="0"/>
          </a:p>
        </p:txBody>
      </p:sp>
      <p:sp>
        <p:nvSpPr>
          <p:cNvPr id="11" name="Text 9"/>
          <p:cNvSpPr txBox="1"/>
          <p:nvPr/>
        </p:nvSpPr>
        <p:spPr>
          <a:xfrm>
            <a:off x="6035040" y="1627632"/>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全体像と Django アプリ</a:t>
            </a:r>
            <a:endParaRPr lang="en-US" sz="1150" dirty="0"/>
          </a:p>
        </p:txBody>
      </p:sp>
      <p:sp>
        <p:nvSpPr>
          <p:cNvPr id="12" name="Text 10"/>
          <p:cNvSpPr txBox="1"/>
          <p:nvPr/>
        </p:nvSpPr>
        <p:spPr>
          <a:xfrm>
            <a:off x="6035040" y="1874520"/>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何がどこにあるか</a:t>
            </a:r>
            <a:endParaRPr lang="en-US" sz="900" dirty="0"/>
          </a:p>
        </p:txBody>
      </p:sp>
      <p:sp>
        <p:nvSpPr>
          <p:cNvPr id="13" name="Text 11"/>
          <p:cNvSpPr txBox="1"/>
          <p:nvPr/>
        </p:nvSpPr>
        <p:spPr>
          <a:xfrm>
            <a:off x="5623560" y="2231136"/>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02</a:t>
            </a:r>
            <a:endParaRPr lang="en-US" sz="1300" dirty="0"/>
          </a:p>
        </p:txBody>
      </p:sp>
      <p:sp>
        <p:nvSpPr>
          <p:cNvPr id="14" name="Text 12"/>
          <p:cNvSpPr txBox="1"/>
          <p:nvPr/>
        </p:nvSpPr>
        <p:spPr>
          <a:xfrm>
            <a:off x="6035040" y="2231136"/>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URL・データ・通り道</a:t>
            </a:r>
            <a:endParaRPr lang="en-US" sz="1150" dirty="0"/>
          </a:p>
        </p:txBody>
      </p:sp>
      <p:sp>
        <p:nvSpPr>
          <p:cNvPr id="15" name="Text 13"/>
          <p:cNvSpPr txBox="1"/>
          <p:nvPr/>
        </p:nvSpPr>
        <p:spPr>
          <a:xfrm>
            <a:off x="6035040" y="2478024"/>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公開範囲とミドルウェア</a:t>
            </a:r>
            <a:endParaRPr lang="en-US" sz="900" dirty="0"/>
          </a:p>
        </p:txBody>
      </p:sp>
      <p:sp>
        <p:nvSpPr>
          <p:cNvPr id="16" name="Text 14"/>
          <p:cNvSpPr txBox="1"/>
          <p:nvPr/>
        </p:nvSpPr>
        <p:spPr>
          <a:xfrm>
            <a:off x="5623560" y="2834640"/>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03</a:t>
            </a:r>
            <a:endParaRPr lang="en-US" sz="1300" dirty="0"/>
          </a:p>
        </p:txBody>
      </p:sp>
      <p:sp>
        <p:nvSpPr>
          <p:cNvPr id="17" name="Text 15"/>
          <p:cNvSpPr txBox="1"/>
          <p:nvPr/>
        </p:nvSpPr>
        <p:spPr>
          <a:xfrm>
            <a:off x="6035040" y="2834640"/>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WG への参加とメール</a:t>
            </a:r>
            <a:endParaRPr lang="en-US" sz="1150" dirty="0"/>
          </a:p>
        </p:txBody>
      </p:sp>
      <p:sp>
        <p:nvSpPr>
          <p:cNvPr id="18" name="Text 16"/>
          <p:cNvSpPr txBox="1"/>
          <p:nvPr/>
        </p:nvSpPr>
        <p:spPr>
          <a:xfrm>
            <a:off x="6035040" y="3081528"/>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外とつながるしくみ</a:t>
            </a:r>
            <a:endParaRPr lang="en-US" sz="900" dirty="0"/>
          </a:p>
        </p:txBody>
      </p:sp>
      <p:sp>
        <p:nvSpPr>
          <p:cNvPr id="19" name="Text 17"/>
          <p:cNvSpPr txBox="1"/>
          <p:nvPr/>
        </p:nvSpPr>
        <p:spPr>
          <a:xfrm>
            <a:off x="5623560" y="3438144"/>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04</a:t>
            </a:r>
            <a:endParaRPr lang="en-US" sz="1300" dirty="0"/>
          </a:p>
        </p:txBody>
      </p:sp>
      <p:sp>
        <p:nvSpPr>
          <p:cNvPr id="20" name="Text 18"/>
          <p:cNvSpPr txBox="1"/>
          <p:nvPr/>
        </p:nvSpPr>
        <p:spPr>
          <a:xfrm>
            <a:off x="6035040" y="3438144"/>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設定と、成果の公表</a:t>
            </a:r>
            <a:endParaRPr lang="en-US" sz="1150" dirty="0"/>
          </a:p>
        </p:txBody>
      </p:sp>
      <p:sp>
        <p:nvSpPr>
          <p:cNvPr id="21" name="Text 19"/>
          <p:cNvSpPr txBox="1"/>
          <p:nvPr/>
        </p:nvSpPr>
        <p:spPr>
          <a:xfrm>
            <a:off x="6035040" y="3685032"/>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作ったものが世に出るまで</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全体像</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1 つの Django アプリと、外の 4 つ</a:t>
            </a:r>
            <a:endParaRPr lang="en-US" sz="2600" dirty="0"/>
          </a:p>
        </p:txBody>
      </p:sp>
      <p:sp>
        <p:nvSpPr>
          <p:cNvPr id="4" name="Shape 2"/>
          <p:cNvSpPr/>
          <p:nvPr/>
        </p:nvSpPr>
        <p:spPr>
          <a:xfrm>
            <a:off x="45720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利用者のブラウザ</a:t>
            </a:r>
            <a:endParaRPr lang="en-US" sz="1400" dirty="0"/>
          </a:p>
        </p:txBody>
      </p:sp>
      <p:sp>
        <p:nvSpPr>
          <p:cNvPr id="6" name="Text 4"/>
          <p:cNvSpPr txBox="1"/>
          <p:nvPr/>
        </p:nvSpPr>
        <p:spPr>
          <a:xfrm>
            <a:off x="68580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在学生・受験を考えている人・運営。ログインなしで見られる。</a:t>
            </a:r>
            <a:endParaRPr lang="en-US" sz="1050" dirty="0"/>
          </a:p>
        </p:txBody>
      </p:sp>
      <p:sp>
        <p:nvSpPr>
          <p:cNvPr id="7" name="Text 5"/>
          <p:cNvSpPr txBox="1"/>
          <p:nvPr/>
        </p:nvSpPr>
        <p:spPr>
          <a:xfrm>
            <a:off x="286207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200400" y="1371600"/>
            <a:ext cx="2743200" cy="141732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29000" y="1572768"/>
            <a:ext cx="2286000" cy="237744"/>
          </a:xfrm>
          <a:prstGeom prst="rect">
            <a:avLst/>
          </a:prstGeom>
          <a:noFill/>
          <a:ln/>
        </p:spPr>
        <p:txBody>
          <a:bodyPr wrap="square" lIns="0" tIns="0" rIns="0" bIns="0" rtlCol="0" anchor="ctr"/>
          <a:lstStyle/>
          <a:p>
            <a:pPr indent="0" marL="0">
              <a:buNone/>
            </a:pPr>
            <a:r>
              <a:rPr lang="en-US" sz="1200" b="1" dirty="0">
                <a:solidFill>
                  <a:srgbClr val="5BB8FF"/>
                </a:solidFill>
                <a:latin typeface="Consolas" pitchFamily="34" charset="0"/>
                <a:ea typeface="Consolas" pitchFamily="34" charset="-122"/>
                <a:cs typeface="Consolas" pitchFamily="34" charset="-120"/>
              </a:rPr>
              <a:t>Azure App Service</a:t>
            </a:r>
            <a:endParaRPr lang="en-US" sz="1200" dirty="0"/>
          </a:p>
        </p:txBody>
      </p:sp>
      <p:sp>
        <p:nvSpPr>
          <p:cNvPr id="10" name="Text 8"/>
          <p:cNvSpPr txBox="1"/>
          <p:nvPr/>
        </p:nvSpPr>
        <p:spPr>
          <a:xfrm>
            <a:off x="3429000" y="1819656"/>
            <a:ext cx="2286000" cy="219456"/>
          </a:xfrm>
          <a:prstGeom prst="rect">
            <a:avLst/>
          </a:prstGeom>
          <a:noFill/>
          <a:ln/>
        </p:spPr>
        <p:txBody>
          <a:bodyPr wrap="square" lIns="0" tIns="0" rIns="0" bIns="0" rtlCol="0" anchor="ctr"/>
          <a:lstStyle/>
          <a:p>
            <a:pPr indent="0" marL="0">
              <a:buNone/>
            </a:pPr>
            <a:r>
              <a:rPr lang="en-US" sz="1000" dirty="0">
                <a:solidFill>
                  <a:srgbClr val="B9CAD9"/>
                </a:solidFill>
                <a:latin typeface="Meiryo" pitchFamily="34" charset="0"/>
                <a:ea typeface="Meiryo" pitchFamily="34" charset="-122"/>
                <a:cs typeface="Meiryo" pitchFamily="34" charset="-120"/>
              </a:rPr>
              <a:t>funITclub</a:t>
            </a:r>
            <a:endParaRPr lang="en-US" sz="1000" dirty="0"/>
          </a:p>
        </p:txBody>
      </p:sp>
      <p:sp>
        <p:nvSpPr>
          <p:cNvPr id="11" name="Text 9"/>
          <p:cNvSpPr txBox="1"/>
          <p:nvPr/>
        </p:nvSpPr>
        <p:spPr>
          <a:xfrm>
            <a:off x="3429000" y="2130552"/>
            <a:ext cx="2286000" cy="548640"/>
          </a:xfrm>
          <a:prstGeom prst="rect">
            <a:avLst/>
          </a:prstGeom>
          <a:noFill/>
          <a:ln/>
        </p:spPr>
        <p:txBody>
          <a:bodyPr wrap="square" lIns="0" tIns="0" rIns="0" bIns="0" rtlCol="0" anchor="ctr"/>
          <a:lstStyle/>
          <a:p>
            <a:pPr indent="0" marL="0">
              <a:buNone/>
            </a:pPr>
            <a:r>
              <a:rPr lang="en-US" sz="1050" dirty="0">
                <a:solidFill>
                  <a:srgbClr val="DDDDDD"/>
                </a:solidFill>
                <a:latin typeface="Meiryo" pitchFamily="34" charset="0"/>
                <a:ea typeface="Meiryo" pitchFamily="34" charset="-122"/>
                <a:cs typeface="Meiryo" pitchFamily="34" charset="-120"/>
              </a:rPr>
              <a:t>gunicorn → Django 5.2</a:t>
            </a:r>
            <a:endParaRPr lang="en-US" sz="1050" dirty="0"/>
          </a:p>
          <a:p>
            <a:pPr indent="0" marL="0">
              <a:buNone/>
            </a:pPr>
            <a:r>
              <a:rPr lang="en-US" sz="1050" dirty="0">
                <a:solidFill>
                  <a:srgbClr val="DDDDDD"/>
                </a:solidFill>
                <a:latin typeface="Meiryo" pitchFamily="34" charset="0"/>
                <a:ea typeface="Meiryo" pitchFamily="34" charset="-122"/>
                <a:cs typeface="Meiryo" pitchFamily="34" charset="-120"/>
              </a:rPr>
              <a:t>静的ファイルは WhiteNoise</a:t>
            </a:r>
            <a:endParaRPr lang="en-US" sz="1050" dirty="0"/>
          </a:p>
        </p:txBody>
      </p:sp>
      <p:sp>
        <p:nvSpPr>
          <p:cNvPr id="12" name="Text 10"/>
          <p:cNvSpPr txBox="1"/>
          <p:nvPr/>
        </p:nvSpPr>
        <p:spPr>
          <a:xfrm>
            <a:off x="601675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35508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58368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PostgreSQL</a:t>
            </a:r>
            <a:endParaRPr lang="en-US" sz="1400" dirty="0"/>
          </a:p>
        </p:txBody>
      </p:sp>
      <p:sp>
        <p:nvSpPr>
          <p:cNvPr id="15" name="Text 13"/>
          <p:cNvSpPr txBox="1"/>
          <p:nvPr/>
        </p:nvSpPr>
        <p:spPr>
          <a:xfrm>
            <a:off x="658368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funITclub 専用のデータベース。掲載内容と運営の連絡先だけを置く。</a:t>
            </a:r>
            <a:endParaRPr lang="en-US" sz="1050" dirty="0"/>
          </a:p>
        </p:txBody>
      </p:sp>
      <p:sp>
        <p:nvSpPr>
          <p:cNvPr id="16" name="Text 14"/>
          <p:cNvSpPr txBox="1"/>
          <p:nvPr/>
        </p:nvSpPr>
        <p:spPr>
          <a:xfrm>
            <a:off x="457200" y="2971800"/>
            <a:ext cx="8229600" cy="237744"/>
          </a:xfrm>
          <a:prstGeom prst="rect">
            <a:avLst/>
          </a:prstGeom>
          <a:noFill/>
          <a:ln/>
        </p:spPr>
        <p:txBody>
          <a:bodyPr wrap="square" lIns="0" tIns="0" rIns="0" bIns="0" rtlCol="0" anchor="ctr"/>
          <a:lstStyle/>
          <a:p>
            <a:pPr indent="0" marL="0">
              <a:buNone/>
            </a:pPr>
            <a:r>
              <a:rPr lang="en-US" sz="1050" dirty="0">
                <a:solidFill>
                  <a:srgbClr val="1A4A70"/>
                </a:solidFill>
                <a:latin typeface="Consolas" pitchFamily="34" charset="0"/>
                <a:ea typeface="Consolas" pitchFamily="34" charset="-122"/>
                <a:cs typeface="Consolas" pitchFamily="34" charset="-120"/>
              </a:rPr>
              <a:t>// App Service から呼ぶ外部サービス</a:t>
            </a:r>
            <a:endParaRPr lang="en-US" sz="1050" dirty="0"/>
          </a:p>
        </p:txBody>
      </p:sp>
      <p:sp>
        <p:nvSpPr>
          <p:cNvPr id="17" name="Shape 15"/>
          <p:cNvSpPr/>
          <p:nvPr/>
        </p:nvSpPr>
        <p:spPr>
          <a:xfrm>
            <a:off x="4572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Shape 16"/>
          <p:cNvSpPr/>
          <p:nvPr/>
        </p:nvSpPr>
        <p:spPr>
          <a:xfrm>
            <a:off x="640080" y="3438144"/>
            <a:ext cx="402336" cy="402336"/>
          </a:xfrm>
          <a:prstGeom prst="ellipse">
            <a:avLst/>
          </a:prstGeom>
          <a:solidFill>
            <a:srgbClr val="001E3C"/>
          </a:solidFill>
          <a:ln w="12700">
            <a:solidFill>
              <a:srgbClr val="001E3C"/>
            </a:solidFill>
            <a:prstDash val="solid"/>
          </a:ln>
        </p:spPr>
      </p:sp>
      <p:pic>
        <p:nvPicPr>
          <p:cNvPr id="19" name="Image 0" descr="preencoded.png">    </p:cNvPr>
          <p:cNvPicPr>
            <a:picLocks noChangeAspect="1"/>
          </p:cNvPicPr>
          <p:nvPr/>
        </p:nvPicPr>
        <p:blipFill>
          <a:blip r:embed="rId1"/>
          <a:stretch>
            <a:fillRect/>
          </a:stretch>
        </p:blipFill>
        <p:spPr>
          <a:xfrm>
            <a:off x="744687" y="3542751"/>
            <a:ext cx="193121" cy="193121"/>
          </a:xfrm>
          <a:prstGeom prst="rect">
            <a:avLst/>
          </a:prstGeom>
        </p:spPr>
      </p:pic>
      <p:sp>
        <p:nvSpPr>
          <p:cNvPr id="20" name="Text 17"/>
          <p:cNvSpPr txBox="1"/>
          <p:nvPr/>
        </p:nvSpPr>
        <p:spPr>
          <a:xfrm>
            <a:off x="6400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Communication Services</a:t>
            </a:r>
            <a:endParaRPr lang="en-US" sz="1050" dirty="0"/>
          </a:p>
        </p:txBody>
      </p:sp>
      <p:sp>
        <p:nvSpPr>
          <p:cNvPr id="21" name="Text 18"/>
          <p:cNvSpPr txBox="1"/>
          <p:nvPr/>
        </p:nvSpPr>
        <p:spPr>
          <a:xfrm>
            <a:off x="6400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Azure のメール。SMTP リレー</a:t>
            </a:r>
            <a:endParaRPr lang="en-US" sz="900" dirty="0"/>
          </a:p>
        </p:txBody>
      </p:sp>
      <p:sp>
        <p:nvSpPr>
          <p:cNvPr id="22" name="Shape 19"/>
          <p:cNvSpPr/>
          <p:nvPr/>
        </p:nvSpPr>
        <p:spPr>
          <a:xfrm>
            <a:off x="26289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20"/>
          <p:cNvSpPr/>
          <p:nvPr/>
        </p:nvSpPr>
        <p:spPr>
          <a:xfrm>
            <a:off x="2811780" y="3438144"/>
            <a:ext cx="402336" cy="402336"/>
          </a:xfrm>
          <a:prstGeom prst="ellipse">
            <a:avLst/>
          </a:prstGeom>
          <a:solidFill>
            <a:srgbClr val="5BB8FF"/>
          </a:solidFill>
          <a:ln w="12700">
            <a:solidFill>
              <a:srgbClr val="5BB8FF"/>
            </a:solidFill>
            <a:prstDash val="solid"/>
          </a:ln>
        </p:spPr>
      </p:sp>
      <p:pic>
        <p:nvPicPr>
          <p:cNvPr id="24" name="Image 1" descr="preencoded.png">    </p:cNvPr>
          <p:cNvPicPr>
            <a:picLocks noChangeAspect="1"/>
          </p:cNvPicPr>
          <p:nvPr/>
        </p:nvPicPr>
        <p:blipFill>
          <a:blip r:embed="rId2"/>
          <a:stretch>
            <a:fillRect/>
          </a:stretch>
        </p:blipFill>
        <p:spPr>
          <a:xfrm>
            <a:off x="2916387" y="3542751"/>
            <a:ext cx="193121" cy="193121"/>
          </a:xfrm>
          <a:prstGeom prst="rect">
            <a:avLst/>
          </a:prstGeom>
        </p:spPr>
      </p:pic>
      <p:sp>
        <p:nvSpPr>
          <p:cNvPr id="25" name="Text 21"/>
          <p:cNvSpPr txBox="1"/>
          <p:nvPr/>
        </p:nvSpPr>
        <p:spPr>
          <a:xfrm>
            <a:off x="28117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Google Classroom</a:t>
            </a:r>
            <a:endParaRPr lang="en-US" sz="1050" dirty="0"/>
          </a:p>
        </p:txBody>
      </p:sp>
      <p:sp>
        <p:nvSpPr>
          <p:cNvPr id="26" name="Text 22"/>
          <p:cNvSpPr txBox="1"/>
          <p:nvPr/>
        </p:nvSpPr>
        <p:spPr>
          <a:xfrm>
            <a:off x="28117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クラブの名簿を引く</a:t>
            </a:r>
            <a:endParaRPr lang="en-US" sz="900" dirty="0"/>
          </a:p>
        </p:txBody>
      </p:sp>
      <p:sp>
        <p:nvSpPr>
          <p:cNvPr id="27" name="Shape 23"/>
          <p:cNvSpPr/>
          <p:nvPr/>
        </p:nvSpPr>
        <p:spPr>
          <a:xfrm>
            <a:off x="48006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8" name="Shape 24"/>
          <p:cNvSpPr/>
          <p:nvPr/>
        </p:nvSpPr>
        <p:spPr>
          <a:xfrm>
            <a:off x="4983480" y="3438144"/>
            <a:ext cx="402336" cy="402336"/>
          </a:xfrm>
          <a:prstGeom prst="ellipse">
            <a:avLst/>
          </a:prstGeom>
          <a:solidFill>
            <a:srgbClr val="001E3C"/>
          </a:solidFill>
          <a:ln w="12700">
            <a:solidFill>
              <a:srgbClr val="001E3C"/>
            </a:solidFill>
            <a:prstDash val="solid"/>
          </a:ln>
        </p:spPr>
      </p:sp>
      <p:pic>
        <p:nvPicPr>
          <p:cNvPr id="29" name="Image 2" descr="preencoded.png">    </p:cNvPr>
          <p:cNvPicPr>
            <a:picLocks noChangeAspect="1"/>
          </p:cNvPicPr>
          <p:nvPr/>
        </p:nvPicPr>
        <p:blipFill>
          <a:blip r:embed="rId3"/>
          <a:stretch>
            <a:fillRect/>
          </a:stretch>
        </p:blipFill>
        <p:spPr>
          <a:xfrm>
            <a:off x="5088087" y="3542751"/>
            <a:ext cx="193121" cy="193121"/>
          </a:xfrm>
          <a:prstGeom prst="rect">
            <a:avLst/>
          </a:prstGeom>
        </p:spPr>
      </p:pic>
      <p:sp>
        <p:nvSpPr>
          <p:cNvPr id="30" name="Text 25"/>
          <p:cNvSpPr txBox="1"/>
          <p:nvPr/>
        </p:nvSpPr>
        <p:spPr>
          <a:xfrm>
            <a:off x="49834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GitHub App</a:t>
            </a:r>
            <a:endParaRPr lang="en-US" sz="1050" dirty="0"/>
          </a:p>
        </p:txBody>
      </p:sp>
      <p:sp>
        <p:nvSpPr>
          <p:cNvPr id="31" name="Text 26"/>
          <p:cNvSpPr txBox="1"/>
          <p:nvPr/>
        </p:nvSpPr>
        <p:spPr>
          <a:xfrm>
            <a:off x="49834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WG のチームに人を追加する</a:t>
            </a:r>
            <a:endParaRPr lang="en-US" sz="900" dirty="0"/>
          </a:p>
        </p:txBody>
      </p:sp>
      <p:sp>
        <p:nvSpPr>
          <p:cNvPr id="32" name="Shape 27"/>
          <p:cNvSpPr/>
          <p:nvPr/>
        </p:nvSpPr>
        <p:spPr>
          <a:xfrm>
            <a:off x="69723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3" name="Shape 28"/>
          <p:cNvSpPr/>
          <p:nvPr/>
        </p:nvSpPr>
        <p:spPr>
          <a:xfrm>
            <a:off x="7155180" y="3438144"/>
            <a:ext cx="402336" cy="402336"/>
          </a:xfrm>
          <a:prstGeom prst="ellipse">
            <a:avLst/>
          </a:prstGeom>
          <a:solidFill>
            <a:srgbClr val="5BB8FF"/>
          </a:solidFill>
          <a:ln w="12700">
            <a:solidFill>
              <a:srgbClr val="5BB8FF"/>
            </a:solidFill>
            <a:prstDash val="solid"/>
          </a:ln>
        </p:spPr>
      </p:sp>
      <p:pic>
        <p:nvPicPr>
          <p:cNvPr id="34" name="Image 3" descr="preencoded.png">    </p:cNvPr>
          <p:cNvPicPr>
            <a:picLocks noChangeAspect="1"/>
          </p:cNvPicPr>
          <p:nvPr/>
        </p:nvPicPr>
        <p:blipFill>
          <a:blip r:embed="rId4"/>
          <a:stretch>
            <a:fillRect/>
          </a:stretch>
        </p:blipFill>
        <p:spPr>
          <a:xfrm>
            <a:off x="7259787" y="3542751"/>
            <a:ext cx="193121" cy="193121"/>
          </a:xfrm>
          <a:prstGeom prst="rect">
            <a:avLst/>
          </a:prstGeom>
        </p:spPr>
      </p:pic>
      <p:sp>
        <p:nvSpPr>
          <p:cNvPr id="35" name="Text 29"/>
          <p:cNvSpPr txBox="1"/>
          <p:nvPr/>
        </p:nvSpPr>
        <p:spPr>
          <a:xfrm>
            <a:off x="71551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Azure Key Vault</a:t>
            </a:r>
            <a:endParaRPr lang="en-US" sz="1050" dirty="0"/>
          </a:p>
        </p:txBody>
      </p:sp>
      <p:sp>
        <p:nvSpPr>
          <p:cNvPr id="36" name="Text 30"/>
          <p:cNvSpPr txBox="1"/>
          <p:nvPr/>
        </p:nvSpPr>
        <p:spPr>
          <a:xfrm>
            <a:off x="71551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シークレットの置き場</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ディレクトリ</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8 つのまとまりで出来ている</a:t>
            </a:r>
            <a:endParaRPr lang="en-US" sz="2600" dirty="0"/>
          </a:p>
        </p:txBody>
      </p:sp>
      <p:sp>
        <p:nvSpPr>
          <p:cNvPr id="4" name="Shape 2"/>
          <p:cNvSpPr/>
          <p:nvPr/>
        </p:nvSpPr>
        <p:spPr>
          <a:xfrm>
            <a:off x="45720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config/</a:t>
            </a:r>
            <a:endParaRPr lang="en-US" sz="1250" dirty="0"/>
          </a:p>
        </p:txBody>
      </p:sp>
      <p:sp>
        <p:nvSpPr>
          <p:cNvPr id="6" name="Text 4"/>
          <p:cNvSpPr txBox="1"/>
          <p:nvPr/>
        </p:nvSpPr>
        <p:spPr>
          <a:xfrm>
            <a:off x="71323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設定（共通・本番・開発）、URL の入口、ミドルウェア</a:t>
            </a:r>
            <a:endParaRPr lang="en-US" sz="1050" dirty="0"/>
          </a:p>
        </p:txBody>
      </p:sp>
      <p:sp>
        <p:nvSpPr>
          <p:cNvPr id="7" name="Shape 5"/>
          <p:cNvSpPr/>
          <p:nvPr/>
        </p:nvSpPr>
        <p:spPr>
          <a:xfrm>
            <a:off x="45720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71323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a:t>
            </a:r>
            <a:endParaRPr lang="en-US" sz="1250" dirty="0"/>
          </a:p>
        </p:txBody>
      </p:sp>
      <p:sp>
        <p:nvSpPr>
          <p:cNvPr id="9" name="Text 7"/>
          <p:cNvSpPr txBox="1"/>
          <p:nvPr/>
        </p:nvSpPr>
        <p:spPr>
          <a:xfrm>
            <a:off x="71323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 6 ページ・参加フォーム・作成中ページ</a:t>
            </a:r>
            <a:endParaRPr lang="en-US" sz="1050" dirty="0"/>
          </a:p>
        </p:txBody>
      </p:sp>
      <p:sp>
        <p:nvSpPr>
          <p:cNvPr id="10" name="Shape 8"/>
          <p:cNvSpPr/>
          <p:nvPr/>
        </p:nvSpPr>
        <p:spPr>
          <a:xfrm>
            <a:off x="45720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1323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a:t>
            </a:r>
            <a:endParaRPr lang="en-US" sz="1250" dirty="0"/>
          </a:p>
        </p:txBody>
      </p:sp>
      <p:sp>
        <p:nvSpPr>
          <p:cNvPr id="12" name="Text 10"/>
          <p:cNvSpPr txBox="1"/>
          <p:nvPr/>
        </p:nvSpPr>
        <p:spPr>
          <a:xfrm>
            <a:off x="71323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お知らせ。モデルと編集画面を持つ</a:t>
            </a:r>
            <a:endParaRPr lang="en-US" sz="1050" dirty="0"/>
          </a:p>
        </p:txBody>
      </p:sp>
      <p:sp>
        <p:nvSpPr>
          <p:cNvPr id="13" name="Shape 11"/>
          <p:cNvSpPr/>
          <p:nvPr/>
        </p:nvSpPr>
        <p:spPr>
          <a:xfrm>
            <a:off x="45720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1323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a:t>
            </a:r>
            <a:endParaRPr lang="en-US" sz="1250" dirty="0"/>
          </a:p>
        </p:txBody>
      </p:sp>
      <p:sp>
        <p:nvSpPr>
          <p:cNvPr id="15" name="Text 13"/>
          <p:cNvSpPr txBox="1"/>
          <p:nvPr/>
        </p:nvSpPr>
        <p:spPr>
          <a:xfrm>
            <a:off x="71323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紹介と成果物紹介。モデルと編集画面を持つ</a:t>
            </a:r>
            <a:endParaRPr lang="en-US" sz="1050" dirty="0"/>
          </a:p>
        </p:txBody>
      </p:sp>
      <p:sp>
        <p:nvSpPr>
          <p:cNvPr id="16" name="Shape 14"/>
          <p:cNvSpPr/>
          <p:nvPr/>
        </p:nvSpPr>
        <p:spPr>
          <a:xfrm>
            <a:off x="466344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491947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t>
            </a:r>
            <a:endParaRPr lang="en-US" sz="1250" dirty="0"/>
          </a:p>
        </p:txBody>
      </p:sp>
      <p:sp>
        <p:nvSpPr>
          <p:cNvPr id="18" name="Text 16"/>
          <p:cNvSpPr txBox="1"/>
          <p:nvPr/>
        </p:nvSpPr>
        <p:spPr>
          <a:xfrm>
            <a:off x="491947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編集画面の枠、管理者（連絡先）、通知、定期点検</a:t>
            </a:r>
            <a:endParaRPr lang="en-US" sz="1050" dirty="0"/>
          </a:p>
        </p:txBody>
      </p:sp>
      <p:sp>
        <p:nvSpPr>
          <p:cNvPr id="19" name="Shape 17"/>
          <p:cNvSpPr/>
          <p:nvPr/>
        </p:nvSpPr>
        <p:spPr>
          <a:xfrm>
            <a:off x="466344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wgjoin/</a:t>
            </a:r>
            <a:endParaRPr lang="en-US" sz="1250" dirty="0"/>
          </a:p>
        </p:txBody>
      </p:sp>
      <p:sp>
        <p:nvSpPr>
          <p:cNvPr id="21" name="Text 19"/>
          <p:cNvSpPr txBox="1"/>
          <p:nvPr/>
        </p:nvSpPr>
        <p:spPr>
          <a:xfrm>
            <a:off x="491947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への参加。Classroom と GitHub をつなぐ</a:t>
            </a:r>
            <a:endParaRPr lang="en-US" sz="1050" dirty="0"/>
          </a:p>
        </p:txBody>
      </p:sp>
      <p:sp>
        <p:nvSpPr>
          <p:cNvPr id="22" name="Shape 20"/>
          <p:cNvSpPr/>
          <p:nvPr/>
        </p:nvSpPr>
        <p:spPr>
          <a:xfrm>
            <a:off x="466344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Text 21"/>
          <p:cNvSpPr txBox="1"/>
          <p:nvPr/>
        </p:nvSpPr>
        <p:spPr>
          <a:xfrm>
            <a:off x="491947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works/  wg/</a:t>
            </a:r>
            <a:endParaRPr lang="en-US" sz="1250" dirty="0"/>
          </a:p>
        </p:txBody>
      </p:sp>
      <p:sp>
        <p:nvSpPr>
          <p:cNvPr id="24" name="Text 22"/>
          <p:cNvSpPr txBox="1"/>
          <p:nvPr/>
        </p:nvSpPr>
        <p:spPr>
          <a:xfrm>
            <a:off x="491947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公表した成果物（countdown・fe）と、作っている途中の WG のアプリ</a:t>
            </a:r>
            <a:endParaRPr lang="en-US" sz="1050" dirty="0"/>
          </a:p>
        </p:txBody>
      </p:sp>
      <p:sp>
        <p:nvSpPr>
          <p:cNvPr id="25" name="Shape 23"/>
          <p:cNvSpPr/>
          <p:nvPr/>
        </p:nvSpPr>
        <p:spPr>
          <a:xfrm>
            <a:off x="466344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491947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templates/ static/</a:t>
            </a:r>
            <a:endParaRPr lang="en-US" sz="1250" dirty="0"/>
          </a:p>
        </p:txBody>
      </p:sp>
      <p:sp>
        <p:nvSpPr>
          <p:cNvPr id="27" name="Text 25"/>
          <p:cNvSpPr txBox="1"/>
          <p:nvPr/>
        </p:nvSpPr>
        <p:spPr>
          <a:xfrm>
            <a:off x="491947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公開サイトの共通レイアウトとデザイン一式</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URL</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認証が要るのは編集画面だけ</a:t>
            </a:r>
            <a:endParaRPr lang="en-US" sz="2600" dirty="0"/>
          </a:p>
        </p:txBody>
      </p:sp>
      <p:sp>
        <p:nvSpPr>
          <p:cNvPr id="4" name="Shape 2"/>
          <p:cNvSpPr/>
          <p:nvPr/>
        </p:nvSpPr>
        <p:spPr>
          <a:xfrm>
            <a:off x="45720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627632"/>
            <a:ext cx="493776" cy="493776"/>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9902" y="1756014"/>
            <a:ext cx="237012" cy="237012"/>
          </a:xfrm>
          <a:prstGeom prst="rect">
            <a:avLst/>
          </a:prstGeom>
        </p:spPr>
      </p:pic>
      <p:sp>
        <p:nvSpPr>
          <p:cNvPr id="7" name="Text 4"/>
          <p:cNvSpPr txBox="1"/>
          <p:nvPr/>
        </p:nvSpPr>
        <p:spPr>
          <a:xfrm>
            <a:off x="141732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認証なし（公開）</a:t>
            </a:r>
            <a:endParaRPr lang="en-US" sz="1700" dirty="0"/>
          </a:p>
        </p:txBody>
      </p:sp>
      <p:sp>
        <p:nvSpPr>
          <p:cNvPr id="8" name="Text 5"/>
          <p:cNvSpPr txBox="1"/>
          <p:nvPr/>
        </p:nvSpPr>
        <p:spPr>
          <a:xfrm>
            <a:off x="73152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t>
            </a:r>
            <a:endParaRPr lang="en-US" sz="950" dirty="0"/>
          </a:p>
        </p:txBody>
      </p:sp>
      <p:sp>
        <p:nvSpPr>
          <p:cNvPr id="9" name="Text 6"/>
          <p:cNvSpPr txBox="1"/>
          <p:nvPr/>
        </p:nvSpPr>
        <p:spPr>
          <a:xfrm>
            <a:off x="73152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TOP。ヒーロー・活動サマリ・お知らせ 3 件</a:t>
            </a:r>
            <a:endParaRPr lang="en-US" sz="850" dirty="0"/>
          </a:p>
        </p:txBody>
      </p:sp>
      <p:sp>
        <p:nvSpPr>
          <p:cNvPr id="10" name="Text 7"/>
          <p:cNvSpPr txBox="1"/>
          <p:nvPr/>
        </p:nvSpPr>
        <p:spPr>
          <a:xfrm>
            <a:off x="73152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/news/</a:t>
            </a:r>
            <a:endParaRPr lang="en-US" sz="950" dirty="0"/>
          </a:p>
        </p:txBody>
      </p:sp>
      <p:sp>
        <p:nvSpPr>
          <p:cNvPr id="11" name="Text 8"/>
          <p:cNvSpPr txBox="1"/>
          <p:nvPr/>
        </p:nvSpPr>
        <p:spPr>
          <a:xfrm>
            <a:off x="73152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お知らせの一覧</a:t>
            </a:r>
            <a:endParaRPr lang="en-US" sz="850" dirty="0"/>
          </a:p>
        </p:txBody>
      </p:sp>
      <p:sp>
        <p:nvSpPr>
          <p:cNvPr id="12" name="Text 9"/>
          <p:cNvSpPr txBox="1"/>
          <p:nvPr/>
        </p:nvSpPr>
        <p:spPr>
          <a:xfrm>
            <a:off x="73152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  /works/</a:t>
            </a:r>
            <a:endParaRPr lang="en-US" sz="950" dirty="0"/>
          </a:p>
        </p:txBody>
      </p:sp>
      <p:sp>
        <p:nvSpPr>
          <p:cNvPr id="13" name="Text 10"/>
          <p:cNvSpPr txBox="1"/>
          <p:nvPr/>
        </p:nvSpPr>
        <p:spPr>
          <a:xfrm>
            <a:off x="73152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一覧・成果物一覧</a:t>
            </a:r>
            <a:endParaRPr lang="en-US" sz="850" dirty="0"/>
          </a:p>
        </p:txBody>
      </p:sp>
      <p:sp>
        <p:nvSpPr>
          <p:cNvPr id="14" name="Text 11"/>
          <p:cNvSpPr txBox="1"/>
          <p:nvPr/>
        </p:nvSpPr>
        <p:spPr>
          <a:xfrm>
            <a:off x="73152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/join/  /join/apply/</a:t>
            </a:r>
            <a:endParaRPr lang="en-US" sz="950" dirty="0"/>
          </a:p>
        </p:txBody>
      </p:sp>
      <p:sp>
        <p:nvSpPr>
          <p:cNvPr id="15" name="Text 12"/>
          <p:cNvSpPr txBox="1"/>
          <p:nvPr/>
        </p:nvSpPr>
        <p:spPr>
          <a:xfrm>
            <a:off x="73152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参加の案内と申し込みフォーム</a:t>
            </a:r>
            <a:endParaRPr lang="en-US" sz="850" dirty="0"/>
          </a:p>
        </p:txBody>
      </p:sp>
      <p:sp>
        <p:nvSpPr>
          <p:cNvPr id="16" name="Text 13"/>
          <p:cNvSpPr txBox="1"/>
          <p:nvPr/>
        </p:nvSpPr>
        <p:spPr>
          <a:xfrm>
            <a:off x="73152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/wg/&lt;id&gt;/join/</a:t>
            </a:r>
            <a:endParaRPr lang="en-US" sz="950" dirty="0"/>
          </a:p>
        </p:txBody>
      </p:sp>
      <p:sp>
        <p:nvSpPr>
          <p:cNvPr id="17" name="Text 14"/>
          <p:cNvSpPr txBox="1"/>
          <p:nvPr/>
        </p:nvSpPr>
        <p:spPr>
          <a:xfrm>
            <a:off x="73152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への参加（設定がそろったときだけ）</a:t>
            </a:r>
            <a:endParaRPr lang="en-US" sz="850" dirty="0"/>
          </a:p>
        </p:txBody>
      </p:sp>
      <p:sp>
        <p:nvSpPr>
          <p:cNvPr id="18" name="Text 15"/>
          <p:cNvSpPr txBox="1"/>
          <p:nvPr/>
        </p:nvSpPr>
        <p:spPr>
          <a:xfrm>
            <a:off x="731520" y="36118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/guide/</a:t>
            </a:r>
            <a:endParaRPr lang="en-US" sz="950" dirty="0"/>
          </a:p>
        </p:txBody>
      </p:sp>
      <p:sp>
        <p:nvSpPr>
          <p:cNvPr id="19" name="Text 16"/>
          <p:cNvSpPr txBox="1"/>
          <p:nvPr/>
        </p:nvSpPr>
        <p:spPr>
          <a:xfrm>
            <a:off x="731520" y="37490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立ち上げガイドの資料。参加のあとに案内する</a:t>
            </a:r>
            <a:endParaRPr lang="en-US" sz="850" dirty="0"/>
          </a:p>
        </p:txBody>
      </p:sp>
      <p:sp>
        <p:nvSpPr>
          <p:cNvPr id="20" name="Text 17"/>
          <p:cNvSpPr txBox="1"/>
          <p:nvPr/>
        </p:nvSpPr>
        <p:spPr>
          <a:xfrm>
            <a:off x="731520" y="38862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/countdown/  /fe/  /protein/</a:t>
            </a:r>
            <a:endParaRPr lang="en-US" sz="950" dirty="0"/>
          </a:p>
        </p:txBody>
      </p:sp>
      <p:sp>
        <p:nvSpPr>
          <p:cNvPr id="21" name="Text 18"/>
          <p:cNvSpPr txBox="1"/>
          <p:nvPr/>
        </p:nvSpPr>
        <p:spPr>
          <a:xfrm>
            <a:off x="731520" y="40233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サブアプリ。一覧から辿ったときだけ開く</a:t>
            </a:r>
            <a:endParaRPr lang="en-US" sz="850" dirty="0"/>
          </a:p>
        </p:txBody>
      </p:sp>
      <p:sp>
        <p:nvSpPr>
          <p:cNvPr id="22" name="Text 19"/>
          <p:cNvSpPr txBox="1"/>
          <p:nvPr/>
        </p:nvSpPr>
        <p:spPr>
          <a:xfrm>
            <a:off x="731520" y="41605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/coming-soon/</a:t>
            </a:r>
            <a:endParaRPr lang="en-US" sz="950" dirty="0"/>
          </a:p>
        </p:txBody>
      </p:sp>
      <p:sp>
        <p:nvSpPr>
          <p:cNvPr id="23" name="Text 20"/>
          <p:cNvSpPr txBox="1"/>
          <p:nvPr/>
        </p:nvSpPr>
        <p:spPr>
          <a:xfrm>
            <a:off x="731520" y="42976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URL が未設定のリンクの行き先</a:t>
            </a:r>
            <a:endParaRPr lang="en-US" sz="850" dirty="0"/>
          </a:p>
        </p:txBody>
      </p:sp>
      <p:sp>
        <p:nvSpPr>
          <p:cNvPr id="24" name="Shape 21"/>
          <p:cNvSpPr/>
          <p:nvPr/>
        </p:nvSpPr>
        <p:spPr>
          <a:xfrm>
            <a:off x="466344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22"/>
          <p:cNvSpPr/>
          <p:nvPr/>
        </p:nvSpPr>
        <p:spPr>
          <a:xfrm>
            <a:off x="4937760" y="1627632"/>
            <a:ext cx="493776" cy="493776"/>
          </a:xfrm>
          <a:prstGeom prst="ellipse">
            <a:avLst/>
          </a:prstGeom>
          <a:solidFill>
            <a:srgbClr val="5BB8FF"/>
          </a:solidFill>
          <a:ln w="12700">
            <a:solidFill>
              <a:srgbClr val="5BB8FF"/>
            </a:solidFill>
            <a:prstDash val="solid"/>
          </a:ln>
        </p:spPr>
      </p:sp>
      <p:pic>
        <p:nvPicPr>
          <p:cNvPr id="26" name="Image 1" descr="preencoded.png">    </p:cNvPr>
          <p:cNvPicPr>
            <a:picLocks noChangeAspect="1"/>
          </p:cNvPicPr>
          <p:nvPr/>
        </p:nvPicPr>
        <p:blipFill>
          <a:blip r:embed="rId2"/>
          <a:stretch>
            <a:fillRect/>
          </a:stretch>
        </p:blipFill>
        <p:spPr>
          <a:xfrm>
            <a:off x="5066142" y="1756014"/>
            <a:ext cx="237012" cy="237012"/>
          </a:xfrm>
          <a:prstGeom prst="rect">
            <a:avLst/>
          </a:prstGeom>
        </p:spPr>
      </p:pic>
      <p:sp>
        <p:nvSpPr>
          <p:cNvPr id="27" name="Text 23"/>
          <p:cNvSpPr txBox="1"/>
          <p:nvPr/>
        </p:nvSpPr>
        <p:spPr>
          <a:xfrm>
            <a:off x="562356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ログイン必須</a:t>
            </a:r>
            <a:endParaRPr lang="en-US" sz="1700" dirty="0"/>
          </a:p>
        </p:txBody>
      </p:sp>
      <p:sp>
        <p:nvSpPr>
          <p:cNvPr id="28" name="Text 24"/>
          <p:cNvSpPr txBox="1"/>
          <p:nvPr/>
        </p:nvSpPr>
        <p:spPr>
          <a:xfrm>
            <a:off x="493776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a:t>
            </a:r>
            <a:endParaRPr lang="en-US" sz="950" dirty="0"/>
          </a:p>
        </p:txBody>
      </p:sp>
      <p:sp>
        <p:nvSpPr>
          <p:cNvPr id="29" name="Text 25"/>
          <p:cNvSpPr txBox="1"/>
          <p:nvPr/>
        </p:nvSpPr>
        <p:spPr>
          <a:xfrm>
            <a:off x="493776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編集のメニュー</a:t>
            </a:r>
            <a:endParaRPr lang="en-US" sz="850" dirty="0"/>
          </a:p>
        </p:txBody>
      </p:sp>
      <p:sp>
        <p:nvSpPr>
          <p:cNvPr id="30" name="Text 26"/>
          <p:cNvSpPr txBox="1"/>
          <p:nvPr/>
        </p:nvSpPr>
        <p:spPr>
          <a:xfrm>
            <a:off x="493776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/edit/news/</a:t>
            </a:r>
            <a:endParaRPr lang="en-US" sz="950" dirty="0"/>
          </a:p>
        </p:txBody>
      </p:sp>
      <p:sp>
        <p:nvSpPr>
          <p:cNvPr id="31" name="Text 27"/>
          <p:cNvSpPr txBox="1"/>
          <p:nvPr/>
        </p:nvSpPr>
        <p:spPr>
          <a:xfrm>
            <a:off x="493776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お知らせの編集</a:t>
            </a:r>
            <a:endParaRPr lang="en-US" sz="850" dirty="0"/>
          </a:p>
        </p:txBody>
      </p:sp>
      <p:sp>
        <p:nvSpPr>
          <p:cNvPr id="32" name="Text 28"/>
          <p:cNvSpPr txBox="1"/>
          <p:nvPr/>
        </p:nvSpPr>
        <p:spPr>
          <a:xfrm>
            <a:off x="493776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/edit/wg/  /edit/works/</a:t>
            </a:r>
            <a:endParaRPr lang="en-US" sz="950" dirty="0"/>
          </a:p>
        </p:txBody>
      </p:sp>
      <p:sp>
        <p:nvSpPr>
          <p:cNvPr id="33" name="Text 29"/>
          <p:cNvSpPr txBox="1"/>
          <p:nvPr/>
        </p:nvSpPr>
        <p:spPr>
          <a:xfrm>
            <a:off x="493776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紹介・成果物紹介の編集</a:t>
            </a:r>
            <a:endParaRPr lang="en-US" sz="850" dirty="0"/>
          </a:p>
        </p:txBody>
      </p:sp>
      <p:sp>
        <p:nvSpPr>
          <p:cNvPr id="34" name="Text 30"/>
          <p:cNvSpPr txBox="1"/>
          <p:nvPr/>
        </p:nvSpPr>
        <p:spPr>
          <a:xfrm>
            <a:off x="493776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/edit/login/</a:t>
            </a:r>
            <a:endParaRPr lang="en-US" sz="950" dirty="0"/>
          </a:p>
        </p:txBody>
      </p:sp>
      <p:sp>
        <p:nvSpPr>
          <p:cNvPr id="35" name="Text 31"/>
          <p:cNvSpPr txBox="1"/>
          <p:nvPr/>
        </p:nvSpPr>
        <p:spPr>
          <a:xfrm>
            <a:off x="493776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ログイン（公開サイトからはリンクしない）</a:t>
            </a:r>
            <a:endParaRPr lang="en-US" sz="850" dirty="0"/>
          </a:p>
        </p:txBody>
      </p:sp>
      <p:sp>
        <p:nvSpPr>
          <p:cNvPr id="36" name="Text 32"/>
          <p:cNvSpPr txBox="1"/>
          <p:nvPr/>
        </p:nvSpPr>
        <p:spPr>
          <a:xfrm>
            <a:off x="493776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/admin/</a:t>
            </a:r>
            <a:endParaRPr lang="en-US" sz="950" dirty="0"/>
          </a:p>
        </p:txBody>
      </p:sp>
      <p:sp>
        <p:nvSpPr>
          <p:cNvPr id="37" name="Text 33"/>
          <p:cNvSpPr txBox="1"/>
          <p:nvPr/>
        </p:nvSpPr>
        <p:spPr>
          <a:xfrm>
            <a:off x="493776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テーブルの一覧・検索。遮断 IP の解除もここ</a:t>
            </a:r>
            <a:endParaRPr lang="en-US" sz="850" dirty="0"/>
          </a:p>
        </p:txBody>
      </p:sp>
      <p:sp>
        <p:nvSpPr>
          <p:cNvPr id="38" name="Text 34"/>
          <p:cNvSpPr txBox="1"/>
          <p:nvPr/>
        </p:nvSpPr>
        <p:spPr>
          <a:xfrm>
            <a:off x="457200" y="457200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既定はすべての画面がログイン必須。公開ページは login_not_required で外し、サブアプリにはさらに一覧からの通行証が要る（config/gate.py）。</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データ</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DB にあるのは掲載内容と連絡先だけ</a:t>
            </a:r>
            <a:endParaRPr lang="en-US" sz="2600" dirty="0"/>
          </a:p>
        </p:txBody>
      </p:sp>
      <p:sp>
        <p:nvSpPr>
          <p:cNvPr id="4" name="Shape 2"/>
          <p:cNvSpPr/>
          <p:nvPr/>
        </p:nvSpPr>
        <p:spPr>
          <a:xfrm>
            <a:off x="45720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news.News</a:t>
            </a:r>
            <a:endParaRPr lang="en-US" sz="1250" dirty="0"/>
          </a:p>
        </p:txBody>
      </p:sp>
      <p:sp>
        <p:nvSpPr>
          <p:cNvPr id="6" name="Text 4"/>
          <p:cNvSpPr txBox="1"/>
          <p:nvPr/>
        </p:nvSpPr>
        <p:spPr>
          <a:xfrm>
            <a:off x="71323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funitclub_news</a:t>
            </a:r>
            <a:endParaRPr lang="en-US" sz="950" dirty="0"/>
          </a:p>
        </p:txBody>
      </p:sp>
      <p:sp>
        <p:nvSpPr>
          <p:cNvPr id="7" name="Text 5"/>
          <p:cNvSpPr txBox="1"/>
          <p:nvPr/>
        </p:nvSpPr>
        <p:spPr>
          <a:xfrm>
            <a:off x="71323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掲載日・本文・バッジ・公開する。TOP に新しい順で 3 件。掲載日が未来なら出ない</a:t>
            </a:r>
            <a:endParaRPr lang="en-US" sz="1000" dirty="0"/>
          </a:p>
        </p:txBody>
      </p:sp>
      <p:sp>
        <p:nvSpPr>
          <p:cNvPr id="8" name="Shape 6"/>
          <p:cNvSpPr/>
          <p:nvPr/>
        </p:nvSpPr>
        <p:spPr>
          <a:xfrm>
            <a:off x="3230575"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catalog.Wg</a:t>
            </a:r>
            <a:endParaRPr lang="en-US" sz="1250" dirty="0"/>
          </a:p>
        </p:txBody>
      </p:sp>
      <p:sp>
        <p:nvSpPr>
          <p:cNvPr id="10" name="Text 8"/>
          <p:cNvSpPr txBox="1"/>
          <p:nvPr/>
        </p:nvSpPr>
        <p:spPr>
          <a:xfrm>
            <a:off x="3486607"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funitclub_wg</a:t>
            </a:r>
            <a:endParaRPr lang="en-US" sz="950" dirty="0"/>
          </a:p>
        </p:txBody>
      </p:sp>
      <p:sp>
        <p:nvSpPr>
          <p:cNvPr id="11" name="Text 9"/>
          <p:cNvSpPr txBox="1"/>
          <p:nvPr/>
        </p:nvSpPr>
        <p:spPr>
          <a:xfrm>
            <a:off x="3486607"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識別子・名前・説明・状態・アプリの URL・GitHub のチーム・表示順</a:t>
            </a:r>
            <a:endParaRPr lang="en-US" sz="1000" dirty="0"/>
          </a:p>
        </p:txBody>
      </p:sp>
      <p:sp>
        <p:nvSpPr>
          <p:cNvPr id="12" name="Shape 10"/>
          <p:cNvSpPr/>
          <p:nvPr/>
        </p:nvSpPr>
        <p:spPr>
          <a:xfrm>
            <a:off x="600395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catalog.Work</a:t>
            </a:r>
            <a:endParaRPr lang="en-US" sz="1250" dirty="0"/>
          </a:p>
        </p:txBody>
      </p:sp>
      <p:sp>
        <p:nvSpPr>
          <p:cNvPr id="14" name="Text 12"/>
          <p:cNvSpPr txBox="1"/>
          <p:nvPr/>
        </p:nvSpPr>
        <p:spPr>
          <a:xfrm>
            <a:off x="625998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funitclub_work</a:t>
            </a:r>
            <a:endParaRPr lang="en-US" sz="950" dirty="0"/>
          </a:p>
        </p:txBody>
      </p:sp>
      <p:sp>
        <p:nvSpPr>
          <p:cNvPr id="15" name="Text 13"/>
          <p:cNvSpPr txBox="1"/>
          <p:nvPr/>
        </p:nvSpPr>
        <p:spPr>
          <a:xfrm>
            <a:off x="625998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種別・題名・説明・ライセンス・公開先の URL・表示順</a:t>
            </a:r>
            <a:endParaRPr lang="en-US" sz="1000" dirty="0"/>
          </a:p>
        </p:txBody>
      </p:sp>
      <p:sp>
        <p:nvSpPr>
          <p:cNvPr id="16" name="Shape 14"/>
          <p:cNvSpPr/>
          <p:nvPr/>
        </p:nvSpPr>
        <p:spPr>
          <a:xfrm>
            <a:off x="45720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edit.Administrator</a:t>
            </a:r>
            <a:endParaRPr lang="en-US" sz="1250" dirty="0"/>
          </a:p>
        </p:txBody>
      </p:sp>
      <p:sp>
        <p:nvSpPr>
          <p:cNvPr id="18" name="Text 16"/>
          <p:cNvSpPr txBox="1"/>
          <p:nvPr/>
        </p:nvSpPr>
        <p:spPr>
          <a:xfrm>
            <a:off x="71323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運営の連絡先。通知の宛先と、公開ページに出す問い合わせ先はここだけを見る</a:t>
            </a:r>
            <a:endParaRPr lang="en-US" sz="1050" dirty="0"/>
          </a:p>
        </p:txBody>
      </p:sp>
      <p:sp>
        <p:nvSpPr>
          <p:cNvPr id="19" name="Shape 17"/>
          <p:cNvSpPr/>
          <p:nvPr/>
        </p:nvSpPr>
        <p:spPr>
          <a:xfrm>
            <a:off x="466344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home.BlockedIp</a:t>
            </a:r>
            <a:endParaRPr lang="en-US" sz="1250" dirty="0"/>
          </a:p>
        </p:txBody>
      </p:sp>
      <p:sp>
        <p:nvSpPr>
          <p:cNvPr id="21" name="Text 19"/>
          <p:cNvSpPr txBox="1"/>
          <p:nvPr/>
        </p:nvSpPr>
        <p:spPr>
          <a:xfrm>
            <a:off x="491947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遮断した IP・回数・期限。ミドルウェアが毎リクエスト参照する</a:t>
            </a:r>
            <a:endParaRPr lang="en-US" sz="1050" dirty="0"/>
          </a:p>
        </p:txBody>
      </p:sp>
      <p:sp>
        <p:nvSpPr>
          <p:cNvPr id="22" name="Text 2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会員の名簿も、参加の申し込みの内容も持たない。テーブル名は funitclub_ 接頭辞で固定してある。</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公開ページは、5 つとも素通りする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ログインは要らない。login_not_required が付いているため。サブアプリだけは、このあとに通行証の確認が入る。</a:t>
            </a:r>
            <a:endParaRPr lang="en-US" sz="1100" dirty="0"/>
          </a:p>
        </p:txBody>
      </p:sp>
      <p:sp>
        <p:nvSpPr>
          <p:cNvPr id="5" name="Shape 3"/>
          <p:cNvSpPr/>
          <p:nvPr/>
        </p:nvSpPr>
        <p:spPr>
          <a:xfrm>
            <a:off x="45720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2179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a:t>
            </a:r>
            <a:endParaRPr lang="en-US" sz="2200" dirty="0"/>
          </a:p>
        </p:txBody>
      </p:sp>
      <p:sp>
        <p:nvSpPr>
          <p:cNvPr id="7" name="Text 5"/>
          <p:cNvSpPr txBox="1"/>
          <p:nvPr/>
        </p:nvSpPr>
        <p:spPr>
          <a:xfrm>
            <a:off x="62179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遮断 IP か</a:t>
            </a:r>
            <a:endParaRPr lang="en-US" sz="1250" dirty="0"/>
          </a:p>
        </p:txBody>
      </p:sp>
      <p:sp>
        <p:nvSpPr>
          <p:cNvPr id="8" name="Text 6"/>
          <p:cNvSpPr txBox="1"/>
          <p:nvPr/>
        </p:nvSpPr>
        <p:spPr>
          <a:xfrm>
            <a:off x="62179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登録済みの IP はここで 403。先へ進めない</a:t>
            </a:r>
            <a:endParaRPr lang="en-US" sz="950" dirty="0"/>
          </a:p>
        </p:txBody>
      </p:sp>
      <p:sp>
        <p:nvSpPr>
          <p:cNvPr id="9" name="Text 7"/>
          <p:cNvSpPr txBox="1"/>
          <p:nvPr/>
        </p:nvSpPr>
        <p:spPr>
          <a:xfrm>
            <a:off x="62179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0" name="Shape 8"/>
          <p:cNvSpPr/>
          <p:nvPr/>
        </p:nvSpPr>
        <p:spPr>
          <a:xfrm>
            <a:off x="216027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232486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02</a:t>
            </a:r>
            <a:endParaRPr lang="en-US" sz="2200" dirty="0"/>
          </a:p>
        </p:txBody>
      </p:sp>
      <p:sp>
        <p:nvSpPr>
          <p:cNvPr id="12" name="Text 10"/>
          <p:cNvSpPr txBox="1"/>
          <p:nvPr/>
        </p:nvSpPr>
        <p:spPr>
          <a:xfrm>
            <a:off x="232486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毎日の点検</a:t>
            </a:r>
            <a:endParaRPr lang="en-US" sz="1250" dirty="0"/>
          </a:p>
        </p:txBody>
      </p:sp>
      <p:sp>
        <p:nvSpPr>
          <p:cNvPr id="13" name="Text 11"/>
          <p:cNvSpPr txBox="1"/>
          <p:nvPr/>
        </p:nvSpPr>
        <p:spPr>
          <a:xfrm>
            <a:off x="232486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シークレットの期限を調べて通知する</a:t>
            </a:r>
            <a:endParaRPr lang="en-US" sz="950" dirty="0"/>
          </a:p>
        </p:txBody>
      </p:sp>
      <p:sp>
        <p:nvSpPr>
          <p:cNvPr id="14" name="Text 12"/>
          <p:cNvSpPr txBox="1"/>
          <p:nvPr/>
        </p:nvSpPr>
        <p:spPr>
          <a:xfrm>
            <a:off x="232486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5" name="Shape 13"/>
          <p:cNvSpPr/>
          <p:nvPr/>
        </p:nvSpPr>
        <p:spPr>
          <a:xfrm>
            <a:off x="386334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02793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03</a:t>
            </a:r>
            <a:endParaRPr lang="en-US" sz="2200" dirty="0"/>
          </a:p>
        </p:txBody>
      </p:sp>
      <p:sp>
        <p:nvSpPr>
          <p:cNvPr id="17" name="Text 15"/>
          <p:cNvSpPr txBox="1"/>
          <p:nvPr/>
        </p:nvSpPr>
        <p:spPr>
          <a:xfrm>
            <a:off x="402793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セッション</a:t>
            </a:r>
            <a:endParaRPr lang="en-US" sz="1250" dirty="0"/>
          </a:p>
        </p:txBody>
      </p:sp>
      <p:sp>
        <p:nvSpPr>
          <p:cNvPr id="18" name="Text 16"/>
          <p:cNvSpPr txBox="1"/>
          <p:nvPr/>
        </p:nvSpPr>
        <p:spPr>
          <a:xfrm>
            <a:off x="402793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Cookie を読む。本番だけ Secure</a:t>
            </a:r>
            <a:endParaRPr lang="en-US" sz="950" dirty="0"/>
          </a:p>
        </p:txBody>
      </p:sp>
      <p:sp>
        <p:nvSpPr>
          <p:cNvPr id="19" name="Text 17"/>
          <p:cNvSpPr txBox="1"/>
          <p:nvPr/>
        </p:nvSpPr>
        <p:spPr>
          <a:xfrm>
            <a:off x="402793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0" name="Shape 18"/>
          <p:cNvSpPr/>
          <p:nvPr/>
        </p:nvSpPr>
        <p:spPr>
          <a:xfrm>
            <a:off x="556641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573100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04</a:t>
            </a:r>
            <a:endParaRPr lang="en-US" sz="2200" dirty="0"/>
          </a:p>
        </p:txBody>
      </p:sp>
      <p:sp>
        <p:nvSpPr>
          <p:cNvPr id="22" name="Text 20"/>
          <p:cNvSpPr txBox="1"/>
          <p:nvPr/>
        </p:nvSpPr>
        <p:spPr>
          <a:xfrm>
            <a:off x="573100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CSRF と認証</a:t>
            </a:r>
            <a:endParaRPr lang="en-US" sz="1250" dirty="0"/>
          </a:p>
        </p:txBody>
      </p:sp>
      <p:sp>
        <p:nvSpPr>
          <p:cNvPr id="23" name="Text 21"/>
          <p:cNvSpPr txBox="1"/>
          <p:nvPr/>
        </p:nvSpPr>
        <p:spPr>
          <a:xfrm>
            <a:off x="573100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フォームのトークンを確かめる</a:t>
            </a:r>
            <a:endParaRPr lang="en-US" sz="950" dirty="0"/>
          </a:p>
        </p:txBody>
      </p:sp>
      <p:sp>
        <p:nvSpPr>
          <p:cNvPr id="24" name="Text 22"/>
          <p:cNvSpPr txBox="1"/>
          <p:nvPr/>
        </p:nvSpPr>
        <p:spPr>
          <a:xfrm>
            <a:off x="573100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5" name="Shape 23"/>
          <p:cNvSpPr/>
          <p:nvPr/>
        </p:nvSpPr>
        <p:spPr>
          <a:xfrm>
            <a:off x="726948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43407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27" name="Text 25"/>
          <p:cNvSpPr txBox="1"/>
          <p:nvPr/>
        </p:nvSpPr>
        <p:spPr>
          <a:xfrm>
            <a:off x="743407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ログイン判定</a:t>
            </a:r>
            <a:endParaRPr lang="en-US" sz="1250" dirty="0"/>
          </a:p>
        </p:txBody>
      </p:sp>
      <p:sp>
        <p:nvSpPr>
          <p:cNvPr id="28" name="Text 26"/>
          <p:cNvSpPr txBox="1"/>
          <p:nvPr/>
        </p:nvSpPr>
        <p:spPr>
          <a:xfrm>
            <a:off x="743407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印が付いているので素通りする</a:t>
            </a:r>
            <a:endParaRPr lang="en-US" sz="950" dirty="0"/>
          </a:p>
        </p:txBody>
      </p:sp>
      <p:sp>
        <p:nvSpPr>
          <p:cNvPr id="29" name="Text 27"/>
          <p:cNvSpPr txBox="1"/>
          <p:nvPr/>
        </p:nvSpPr>
        <p:spPr>
          <a:xfrm>
            <a:off x="743407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auth.middleware</a:t>
            </a:r>
            <a:endParaRPr lang="en-US" sz="850" dirty="0"/>
          </a:p>
        </p:txBody>
      </p:sp>
      <p:sp>
        <p:nvSpPr>
          <p:cNvPr id="30" name="Text 28"/>
          <p:cNvSpPr txBox="1"/>
          <p:nvPr/>
        </p:nvSpPr>
        <p:spPr>
          <a:xfrm>
            <a:off x="188366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1" name="Text 29"/>
          <p:cNvSpPr txBox="1"/>
          <p:nvPr/>
        </p:nvSpPr>
        <p:spPr>
          <a:xfrm>
            <a:off x="358673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2" name="Text 30"/>
          <p:cNvSpPr txBox="1"/>
          <p:nvPr/>
        </p:nvSpPr>
        <p:spPr>
          <a:xfrm>
            <a:off x="528980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3" name="Text 31"/>
          <p:cNvSpPr txBox="1"/>
          <p:nvPr/>
        </p:nvSpPr>
        <p:spPr>
          <a:xfrm>
            <a:off x="699287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457200" y="4160520"/>
            <a:ext cx="8229600" cy="658368"/>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35" name="Text 33"/>
          <p:cNvSpPr txBox="1"/>
          <p:nvPr/>
        </p:nvSpPr>
        <p:spPr>
          <a:xfrm>
            <a:off x="713232" y="4315968"/>
            <a:ext cx="1188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  ビュー</a:t>
            </a:r>
            <a:endParaRPr lang="en-US" sz="1400" dirty="0"/>
          </a:p>
        </p:txBody>
      </p:sp>
      <p:sp>
        <p:nvSpPr>
          <p:cNvPr id="36" name="Text 34"/>
          <p:cNvSpPr txBox="1"/>
          <p:nvPr/>
        </p:nvSpPr>
        <p:spPr>
          <a:xfrm>
            <a:off x="1965960" y="4352544"/>
            <a:ext cx="2926080" cy="274320"/>
          </a:xfrm>
          <a:prstGeom prst="rect">
            <a:avLst/>
          </a:prstGeom>
          <a:noFill/>
          <a:ln/>
        </p:spPr>
        <p:txBody>
          <a:bodyPr wrap="square" lIns="0" tIns="0" rIns="0" bIns="0" rtlCol="0" anchor="ctr"/>
          <a:lstStyle/>
          <a:p>
            <a:pPr indent="0" marL="0">
              <a:buNone/>
            </a:pPr>
            <a:r>
              <a:rPr lang="en-US" sz="1100" dirty="0">
                <a:solidFill>
                  <a:srgbClr val="DDDDDD"/>
                </a:solidFill>
                <a:latin typeface="Meiryo" pitchFamily="34" charset="0"/>
                <a:ea typeface="Meiryo" pitchFamily="34" charset="-122"/>
                <a:cs typeface="Meiryo" pitchFamily="34" charset="-120"/>
              </a:rPr>
              <a:t>ページの中身を作って返すところ</a:t>
            </a:r>
            <a:endParaRPr lang="en-US" sz="1100" dirty="0"/>
          </a:p>
        </p:txBody>
      </p:sp>
      <p:sp>
        <p:nvSpPr>
          <p:cNvPr id="37" name="Text 35"/>
          <p:cNvSpPr txBox="1"/>
          <p:nvPr/>
        </p:nvSpPr>
        <p:spPr>
          <a:xfrm>
            <a:off x="4754880" y="4370832"/>
            <a:ext cx="3703320" cy="237744"/>
          </a:xfrm>
          <a:prstGeom prst="rect">
            <a:avLst/>
          </a:prstGeom>
          <a:noFill/>
          <a:ln/>
        </p:spPr>
        <p:txBody>
          <a:bodyPr wrap="square" lIns="0" tIns="0" rIns="0" bIns="0" rtlCol="0" anchor="ctr"/>
          <a:lstStyle/>
          <a:p>
            <a:pPr algn="r" indent="0" marL="0">
              <a:buNone/>
            </a:pPr>
            <a:r>
              <a:rPr lang="en-US" sz="1000" dirty="0">
                <a:solidFill>
                  <a:srgbClr val="5BB8FF"/>
                </a:solidFill>
                <a:latin typeface="Consolas" pitchFamily="34" charset="0"/>
                <a:ea typeface="Consolas" pitchFamily="34" charset="-122"/>
                <a:cs typeface="Consolas" pitchFamily="34" charset="-120"/>
              </a:rPr>
              <a:t>home / news / catalog / wgjoin / works / wg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②</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編集画面は、二重に閉じてある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01 〜 04 は公開ページとまったく同じ。違うのは 05 から先だけ。</a:t>
            </a:r>
            <a:endParaRPr lang="en-US" sz="1100" dirty="0"/>
          </a:p>
        </p:txBody>
      </p:sp>
      <p:sp>
        <p:nvSpPr>
          <p:cNvPr id="5" name="Shape 3"/>
          <p:cNvSpPr/>
          <p:nvPr/>
        </p:nvSpPr>
        <p:spPr>
          <a:xfrm>
            <a:off x="457200" y="1600200"/>
            <a:ext cx="21031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13232" y="1810512"/>
            <a:ext cx="173736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 – 04</a:t>
            </a:r>
            <a:endParaRPr lang="en-US" sz="2200" dirty="0"/>
          </a:p>
        </p:txBody>
      </p:sp>
      <p:sp>
        <p:nvSpPr>
          <p:cNvPr id="7" name="Text 5"/>
          <p:cNvSpPr txBox="1"/>
          <p:nvPr/>
        </p:nvSpPr>
        <p:spPr>
          <a:xfrm>
            <a:off x="713232" y="2249424"/>
            <a:ext cx="1682496" cy="292608"/>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ここまでは同じ</a:t>
            </a:r>
            <a:endParaRPr lang="en-US" sz="1250" dirty="0"/>
          </a:p>
        </p:txBody>
      </p:sp>
      <p:sp>
        <p:nvSpPr>
          <p:cNvPr id="8" name="Text 6"/>
          <p:cNvSpPr txBox="1"/>
          <p:nvPr/>
        </p:nvSpPr>
        <p:spPr>
          <a:xfrm>
            <a:off x="713232" y="2615184"/>
            <a:ext cx="1682496" cy="109728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遮断 IP の確認・毎日の点検・セッション・CSRF と認証</a:t>
            </a:r>
            <a:endParaRPr lang="en-US" sz="1000" dirty="0"/>
          </a:p>
        </p:txBody>
      </p:sp>
      <p:sp>
        <p:nvSpPr>
          <p:cNvPr id="9" name="Text 7"/>
          <p:cNvSpPr txBox="1"/>
          <p:nvPr/>
        </p:nvSpPr>
        <p:spPr>
          <a:xfrm>
            <a:off x="2633472" y="26974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3017520" y="1600200"/>
            <a:ext cx="2286000" cy="237744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3273552" y="1810512"/>
            <a:ext cx="91440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12" name="Text 10"/>
          <p:cNvSpPr txBox="1"/>
          <p:nvPr/>
        </p:nvSpPr>
        <p:spPr>
          <a:xfrm>
            <a:off x="3273552" y="2249424"/>
            <a:ext cx="1865376" cy="29260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ログイン判定</a:t>
            </a:r>
            <a:endParaRPr lang="en-US" sz="1250" dirty="0"/>
          </a:p>
        </p:txBody>
      </p:sp>
      <p:sp>
        <p:nvSpPr>
          <p:cNvPr id="13" name="Text 11"/>
          <p:cNvSpPr txBox="1"/>
          <p:nvPr/>
        </p:nvSpPr>
        <p:spPr>
          <a:xfrm>
            <a:off x="3273552" y="2615184"/>
            <a:ext cx="1865376" cy="822960"/>
          </a:xfrm>
          <a:prstGeom prst="rect">
            <a:avLst/>
          </a:prstGeom>
          <a:noFill/>
          <a:ln/>
        </p:spPr>
        <p:txBody>
          <a:bodyPr wrap="square" lIns="0" tIns="0" rIns="0" bIns="0" rtlCol="0" anchor="ctr"/>
          <a:lstStyle/>
          <a:p>
            <a:pPr indent="0" marL="0">
              <a:buNone/>
            </a:pPr>
            <a:r>
              <a:rPr lang="en-US" sz="1000" dirty="0">
                <a:solidFill>
                  <a:srgbClr val="DDDDDD"/>
                </a:solidFill>
                <a:latin typeface="Meiryo" pitchFamily="34" charset="0"/>
                <a:ea typeface="Meiryo" pitchFamily="34" charset="-122"/>
                <a:cs typeface="Meiryo" pitchFamily="34" charset="-120"/>
              </a:rPr>
              <a:t>login_not_required の印が無いので、ここで止められる</a:t>
            </a:r>
            <a:endParaRPr lang="en-US" sz="1000" dirty="0"/>
          </a:p>
        </p:txBody>
      </p:sp>
      <p:sp>
        <p:nvSpPr>
          <p:cNvPr id="14" name="Text 12"/>
          <p:cNvSpPr txBox="1"/>
          <p:nvPr/>
        </p:nvSpPr>
        <p:spPr>
          <a:xfrm>
            <a:off x="3273552" y="3611880"/>
            <a:ext cx="1865376" cy="219456"/>
          </a:xfrm>
          <a:prstGeom prst="rect">
            <a:avLst/>
          </a:prstGeom>
          <a:noFill/>
          <a:ln/>
        </p:spPr>
        <p:txBody>
          <a:bodyPr wrap="square" lIns="0" tIns="0" rIns="0" bIns="0" rtlCol="0" anchor="ctr"/>
          <a:lstStyle/>
          <a:p>
            <a:pPr indent="0" marL="0">
              <a:buNone/>
            </a:pPr>
            <a:r>
              <a:rPr lang="en-US" sz="850" b="1" dirty="0">
                <a:solidFill>
                  <a:srgbClr val="5BB8FF"/>
                </a:solidFill>
                <a:latin typeface="Consolas" pitchFamily="34" charset="0"/>
                <a:ea typeface="Consolas" pitchFamily="34" charset="-122"/>
                <a:cs typeface="Consolas" pitchFamily="34" charset="-120"/>
              </a:rPr>
              <a:t>auth.middleware</a:t>
            </a:r>
            <a:endParaRPr lang="en-US" sz="850" dirty="0"/>
          </a:p>
        </p:txBody>
      </p:sp>
      <p:sp>
        <p:nvSpPr>
          <p:cNvPr id="15" name="Text 13"/>
          <p:cNvSpPr txBox="1"/>
          <p:nvPr/>
        </p:nvSpPr>
        <p:spPr>
          <a:xfrm>
            <a:off x="5440680" y="205740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6" name="Text 14"/>
          <p:cNvSpPr txBox="1"/>
          <p:nvPr/>
        </p:nvSpPr>
        <p:spPr>
          <a:xfrm>
            <a:off x="5440680" y="33832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5852160" y="160020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6108192" y="178308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未ログインなら</a:t>
            </a:r>
            <a:endParaRPr lang="en-US" sz="1300" dirty="0"/>
          </a:p>
        </p:txBody>
      </p:sp>
      <p:sp>
        <p:nvSpPr>
          <p:cNvPr id="19" name="Text 17"/>
          <p:cNvSpPr txBox="1"/>
          <p:nvPr/>
        </p:nvSpPr>
        <p:spPr>
          <a:xfrm>
            <a:off x="6108192" y="210312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/edit/login/?next=... へ送る。公開サイトには戻さない</a:t>
            </a:r>
            <a:endParaRPr lang="en-US" sz="1000" dirty="0"/>
          </a:p>
        </p:txBody>
      </p:sp>
      <p:sp>
        <p:nvSpPr>
          <p:cNvPr id="20" name="Shape 18"/>
          <p:cNvSpPr/>
          <p:nvPr/>
        </p:nvSpPr>
        <p:spPr>
          <a:xfrm>
            <a:off x="5852160" y="292608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6108192" y="310896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ログイン済みなら</a:t>
            </a:r>
            <a:endParaRPr lang="en-US" sz="1300" dirty="0"/>
          </a:p>
        </p:txBody>
      </p:sp>
      <p:sp>
        <p:nvSpPr>
          <p:cNvPr id="22" name="Text 20"/>
          <p:cNvSpPr txBox="1"/>
          <p:nvPr/>
        </p:nvSpPr>
        <p:spPr>
          <a:xfrm>
            <a:off x="6108192" y="342900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編集画面のビューへ。そこで EditorMixin がもう一度確かめる</a:t>
            </a:r>
            <a:endParaRPr lang="en-US" sz="1000" dirty="0"/>
          </a:p>
        </p:txBody>
      </p:sp>
      <p:sp>
        <p:nvSpPr>
          <p:cNvPr id="23" name="Text 21"/>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二重にしているのは、編集画面を足したときに保護を書き忘れても素通りにならないようにするため。</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掲載内容</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直す場所は 1 つ、HTML は触らない</a:t>
            </a:r>
            <a:endParaRPr lang="en-US" sz="2600" dirty="0"/>
          </a:p>
        </p:txBody>
      </p:sp>
      <p:sp>
        <p:nvSpPr>
          <p:cNvPr id="4" name="Shape 2"/>
          <p:cNvSpPr/>
          <p:nvPr/>
        </p:nvSpPr>
        <p:spPr>
          <a:xfrm>
            <a:off x="457200" y="1371600"/>
            <a:ext cx="256032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572768"/>
            <a:ext cx="210312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編集画面</a:t>
            </a:r>
            <a:endParaRPr lang="en-US" sz="1500" dirty="0"/>
          </a:p>
        </p:txBody>
      </p:sp>
      <p:sp>
        <p:nvSpPr>
          <p:cNvPr id="6" name="Text 4"/>
          <p:cNvSpPr txBox="1"/>
          <p:nvPr/>
        </p:nvSpPr>
        <p:spPr>
          <a:xfrm>
            <a:off x="685800" y="1856232"/>
            <a:ext cx="210312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/edit/</a:t>
            </a:r>
            <a:endParaRPr lang="en-US" sz="1000" dirty="0"/>
          </a:p>
        </p:txBody>
      </p:sp>
      <p:sp>
        <p:nvSpPr>
          <p:cNvPr id="7" name="Text 5"/>
          <p:cNvSpPr txBox="1"/>
          <p:nvPr/>
        </p:nvSpPr>
        <p:spPr>
          <a:xfrm>
            <a:off x="685800" y="2148840"/>
            <a:ext cx="210312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ログインして、お知らせ・WG 紹介・成果物紹介を直す</a:t>
            </a:r>
            <a:endParaRPr lang="en-US" sz="1050" dirty="0"/>
          </a:p>
        </p:txBody>
      </p:sp>
      <p:sp>
        <p:nvSpPr>
          <p:cNvPr id="8" name="Text 6"/>
          <p:cNvSpPr txBox="1"/>
          <p:nvPr/>
        </p:nvSpPr>
        <p:spPr>
          <a:xfrm>
            <a:off x="310896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3429000" y="1371600"/>
            <a:ext cx="2286000" cy="155448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3657600" y="1572768"/>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データベース</a:t>
            </a:r>
            <a:endParaRPr lang="en-US" sz="1500" dirty="0"/>
          </a:p>
        </p:txBody>
      </p:sp>
      <p:sp>
        <p:nvSpPr>
          <p:cNvPr id="11" name="Text 9"/>
          <p:cNvSpPr txBox="1"/>
          <p:nvPr/>
        </p:nvSpPr>
        <p:spPr>
          <a:xfrm>
            <a:off x="3657600" y="1920240"/>
            <a:ext cx="1828800" cy="77724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funitclub_news</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funitclub_wg</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funitclub_work</a:t>
            </a:r>
            <a:endParaRPr lang="en-US" sz="1000" dirty="0"/>
          </a:p>
        </p:txBody>
      </p:sp>
      <p:sp>
        <p:nvSpPr>
          <p:cNvPr id="12" name="Text 10"/>
          <p:cNvSpPr txBox="1"/>
          <p:nvPr/>
        </p:nvSpPr>
        <p:spPr>
          <a:xfrm>
            <a:off x="589788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217920" y="1371600"/>
            <a:ext cx="246888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572768"/>
            <a:ext cx="201168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公開ページ</a:t>
            </a:r>
            <a:endParaRPr lang="en-US" sz="1500" dirty="0"/>
          </a:p>
        </p:txBody>
      </p:sp>
      <p:sp>
        <p:nvSpPr>
          <p:cNvPr id="15" name="Text 13"/>
          <p:cNvSpPr txBox="1"/>
          <p:nvPr/>
        </p:nvSpPr>
        <p:spPr>
          <a:xfrm>
            <a:off x="6446520" y="1856232"/>
            <a:ext cx="201168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  /wg/  /works/</a:t>
            </a:r>
            <a:endParaRPr lang="en-US" sz="1000" dirty="0"/>
          </a:p>
        </p:txBody>
      </p:sp>
      <p:sp>
        <p:nvSpPr>
          <p:cNvPr id="16" name="Text 14"/>
          <p:cNvSpPr txBox="1"/>
          <p:nvPr/>
        </p:nvSpPr>
        <p:spPr>
          <a:xfrm>
            <a:off x="6446520" y="2148840"/>
            <a:ext cx="201168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開くたびに DB から読み直す。TOP の件数も連動する</a:t>
            </a:r>
            <a:endParaRPr lang="en-US" sz="1050" dirty="0"/>
          </a:p>
        </p:txBody>
      </p:sp>
      <p:sp>
        <p:nvSpPr>
          <p:cNvPr id="17" name="Shape 15"/>
          <p:cNvSpPr/>
          <p:nvPr/>
        </p:nvSpPr>
        <p:spPr>
          <a:xfrm>
            <a:off x="45720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1323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「公開する」を外す</a:t>
            </a:r>
            <a:endParaRPr lang="en-US" sz="1200" dirty="0"/>
          </a:p>
        </p:txBody>
      </p:sp>
      <p:sp>
        <p:nvSpPr>
          <p:cNvPr id="19" name="Text 17"/>
          <p:cNvSpPr txBox="1"/>
          <p:nvPr/>
        </p:nvSpPr>
        <p:spPr>
          <a:xfrm>
            <a:off x="71323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下書き扱い。一覧にも TOP の件数にも出ない</a:t>
            </a:r>
            <a:endParaRPr lang="en-US" sz="1050" dirty="0"/>
          </a:p>
        </p:txBody>
      </p:sp>
      <p:sp>
        <p:nvSpPr>
          <p:cNvPr id="20" name="Shape 18"/>
          <p:cNvSpPr/>
          <p:nvPr/>
        </p:nvSpPr>
        <p:spPr>
          <a:xfrm>
            <a:off x="3230575"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掲載日が未来のお知らせ</a:t>
            </a:r>
            <a:endParaRPr lang="en-US" sz="1200" dirty="0"/>
          </a:p>
        </p:txBody>
      </p:sp>
      <p:sp>
        <p:nvSpPr>
          <p:cNvPr id="22" name="Text 20"/>
          <p:cNvSpPr txBox="1"/>
          <p:nvPr/>
        </p:nvSpPr>
        <p:spPr>
          <a:xfrm>
            <a:off x="3486607"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その日が来るまで出ない。予約投稿に使える</a:t>
            </a:r>
            <a:endParaRPr lang="en-US" sz="1050" dirty="0"/>
          </a:p>
        </p:txBody>
      </p:sp>
      <p:sp>
        <p:nvSpPr>
          <p:cNvPr id="23" name="Shape 21"/>
          <p:cNvSpPr/>
          <p:nvPr/>
        </p:nvSpPr>
        <p:spPr>
          <a:xfrm>
            <a:off x="600395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625998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URL が空欄のリンク</a:t>
            </a:r>
            <a:endParaRPr lang="en-US" sz="1200" dirty="0"/>
          </a:p>
        </p:txBody>
      </p:sp>
      <p:sp>
        <p:nvSpPr>
          <p:cNvPr id="25" name="Text 23"/>
          <p:cNvSpPr txBox="1"/>
          <p:nvPr/>
        </p:nvSpPr>
        <p:spPr>
          <a:xfrm>
            <a:off x="625998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作成中ページ（/coming-soon/）に流れる</a:t>
            </a:r>
            <a:endParaRPr lang="en-US" sz="1050" dirty="0"/>
          </a:p>
        </p:txBody>
      </p:sp>
      <p:sp>
        <p:nvSpPr>
          <p:cNvPr id="26" name="Text 24"/>
          <p:cNvSpPr txBox="1"/>
          <p:nvPr/>
        </p:nvSpPr>
        <p:spPr>
          <a:xfrm>
            <a:off x="457200" y="452628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サブアプリが出来たら、編集画面でその WG・成果物に URL を入れる。テンプレートの修正は要らない。</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への参加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運営の手作業なしで、本人が入る</a:t>
            </a:r>
            <a:endParaRPr lang="en-US" sz="2600" dirty="0"/>
          </a:p>
        </p:txBody>
      </p:sp>
      <p:sp>
        <p:nvSpPr>
          <p:cNvPr id="4" name="Shape 2"/>
          <p:cNvSpPr/>
          <p:nvPr/>
        </p:nvSpPr>
        <p:spPr>
          <a:xfrm>
            <a:off x="45720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01</a:t>
            </a:r>
            <a:endParaRPr lang="en-US" sz="1800" dirty="0"/>
          </a:p>
        </p:txBody>
      </p:sp>
      <p:sp>
        <p:nvSpPr>
          <p:cNvPr id="6" name="Text 4"/>
          <p:cNvSpPr txBox="1"/>
          <p:nvPr/>
        </p:nvSpPr>
        <p:spPr>
          <a:xfrm>
            <a:off x="71323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大学のアドレスを入れる</a:t>
            </a:r>
            <a:endParaRPr lang="en-US" sz="1250" dirty="0"/>
          </a:p>
        </p:txBody>
      </p:sp>
      <p:sp>
        <p:nvSpPr>
          <p:cNvPr id="7" name="Text 5"/>
          <p:cNvSpPr txBox="1"/>
          <p:nvPr/>
        </p:nvSpPr>
        <p:spPr>
          <a:xfrm>
            <a:off x="71323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WG 一覧の「WG に参加」から。入力は DB にもログにも残さない</a:t>
            </a:r>
            <a:endParaRPr lang="en-US" sz="1000" dirty="0"/>
          </a:p>
        </p:txBody>
      </p:sp>
      <p:sp>
        <p:nvSpPr>
          <p:cNvPr id="8" name="Shape 6"/>
          <p:cNvSpPr/>
          <p:nvPr/>
        </p:nvSpPr>
        <p:spPr>
          <a:xfrm>
            <a:off x="3230575"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02</a:t>
            </a:r>
            <a:endParaRPr lang="en-US" sz="1800" dirty="0"/>
          </a:p>
        </p:txBody>
      </p:sp>
      <p:sp>
        <p:nvSpPr>
          <p:cNvPr id="10" name="Text 8"/>
          <p:cNvSpPr txBox="1"/>
          <p:nvPr/>
        </p:nvSpPr>
        <p:spPr>
          <a:xfrm>
            <a:off x="3486607"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Classroom で名簿を引く</a:t>
            </a:r>
            <a:endParaRPr lang="en-US" sz="1250" dirty="0"/>
          </a:p>
        </p:txBody>
      </p:sp>
      <p:sp>
        <p:nvSpPr>
          <p:cNvPr id="11" name="Text 9"/>
          <p:cNvSpPr txBox="1"/>
          <p:nvPr/>
        </p:nvSpPr>
        <p:spPr>
          <a:xfrm>
            <a:off x="3486607"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運営の権限で、クラブのクラスに居るかをアドレスで 1 人ずつ確かめる</a:t>
            </a:r>
            <a:endParaRPr lang="en-US" sz="1000" dirty="0"/>
          </a:p>
        </p:txBody>
      </p:sp>
      <p:sp>
        <p:nvSpPr>
          <p:cNvPr id="12" name="Shape 10"/>
          <p:cNvSpPr/>
          <p:nvPr/>
        </p:nvSpPr>
        <p:spPr>
          <a:xfrm>
            <a:off x="600395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03</a:t>
            </a:r>
            <a:endParaRPr lang="en-US" sz="1800" dirty="0"/>
          </a:p>
        </p:txBody>
      </p:sp>
      <p:sp>
        <p:nvSpPr>
          <p:cNvPr id="14" name="Text 12"/>
          <p:cNvSpPr txBox="1"/>
          <p:nvPr/>
        </p:nvSpPr>
        <p:spPr>
          <a:xfrm>
            <a:off x="625998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メールを送る</a:t>
            </a:r>
            <a:endParaRPr lang="en-US" sz="1250" dirty="0"/>
          </a:p>
        </p:txBody>
      </p:sp>
      <p:sp>
        <p:nvSpPr>
          <p:cNvPr id="15" name="Text 13"/>
          <p:cNvSpPr txBox="1"/>
          <p:nvPr/>
        </p:nvSpPr>
        <p:spPr>
          <a:xfrm>
            <a:off x="625998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画面はどちらも「送りました」。他人のアドレスでメンバーかを探れないように</a:t>
            </a:r>
            <a:endParaRPr lang="en-US" sz="1000" dirty="0"/>
          </a:p>
        </p:txBody>
      </p:sp>
      <p:sp>
        <p:nvSpPr>
          <p:cNvPr id="16" name="Shape 14"/>
          <p:cNvSpPr/>
          <p:nvPr/>
        </p:nvSpPr>
        <p:spPr>
          <a:xfrm>
            <a:off x="45720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04</a:t>
            </a:r>
            <a:endParaRPr lang="en-US" sz="1800" dirty="0"/>
          </a:p>
        </p:txBody>
      </p:sp>
      <p:sp>
        <p:nvSpPr>
          <p:cNvPr id="18" name="Text 16"/>
          <p:cNvSpPr txBox="1"/>
          <p:nvPr/>
        </p:nvSpPr>
        <p:spPr>
          <a:xfrm>
            <a:off x="71323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本人がリンクを開く</a:t>
            </a:r>
            <a:endParaRPr lang="en-US" sz="1250" dirty="0"/>
          </a:p>
        </p:txBody>
      </p:sp>
      <p:sp>
        <p:nvSpPr>
          <p:cNvPr id="19" name="Text 17"/>
          <p:cNvSpPr txBox="1"/>
          <p:nvPr/>
        </p:nvSpPr>
        <p:spPr>
          <a:xfrm>
            <a:off x="71323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署名付きで 1 時間だけ有効。使い捨て。アドレスは入れない</a:t>
            </a:r>
            <a:endParaRPr lang="en-US" sz="1000" dirty="0"/>
          </a:p>
        </p:txBody>
      </p:sp>
      <p:sp>
        <p:nvSpPr>
          <p:cNvPr id="20" name="Shape 18"/>
          <p:cNvSpPr/>
          <p:nvPr/>
        </p:nvSpPr>
        <p:spPr>
          <a:xfrm>
            <a:off x="3230575"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05</a:t>
            </a:r>
            <a:endParaRPr lang="en-US" sz="1800" dirty="0"/>
          </a:p>
        </p:txBody>
      </p:sp>
      <p:sp>
        <p:nvSpPr>
          <p:cNvPr id="22" name="Text 20"/>
          <p:cNvSpPr txBox="1"/>
          <p:nvPr/>
        </p:nvSpPr>
        <p:spPr>
          <a:xfrm>
            <a:off x="3486607"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GitHub でログイン</a:t>
            </a:r>
            <a:endParaRPr lang="en-US" sz="1250" dirty="0"/>
          </a:p>
        </p:txBody>
      </p:sp>
      <p:sp>
        <p:nvSpPr>
          <p:cNvPr id="23" name="Text 21"/>
          <p:cNvSpPr txBox="1"/>
          <p:nvPr/>
        </p:nvSpPr>
        <p:spPr>
          <a:xfrm>
            <a:off x="3486607"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GitHub App が WG のチームに追加する。wg- で始まるチームだけ</a:t>
            </a:r>
            <a:endParaRPr lang="en-US" sz="1000" dirty="0"/>
          </a:p>
        </p:txBody>
      </p:sp>
      <p:sp>
        <p:nvSpPr>
          <p:cNvPr id="24" name="Shape 22"/>
          <p:cNvSpPr/>
          <p:nvPr/>
        </p:nvSpPr>
        <p:spPr>
          <a:xfrm>
            <a:off x="600395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5998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06</a:t>
            </a:r>
            <a:endParaRPr lang="en-US" sz="1800" dirty="0"/>
          </a:p>
        </p:txBody>
      </p:sp>
      <p:sp>
        <p:nvSpPr>
          <p:cNvPr id="26" name="Text 24"/>
          <p:cNvSpPr txBox="1"/>
          <p:nvPr/>
        </p:nvSpPr>
        <p:spPr>
          <a:xfrm>
            <a:off x="625998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Chat へ案内する</a:t>
            </a:r>
            <a:endParaRPr lang="en-US" sz="1250" dirty="0"/>
          </a:p>
        </p:txBody>
      </p:sp>
      <p:sp>
        <p:nvSpPr>
          <p:cNvPr id="27" name="Text 25"/>
          <p:cNvSpPr txBox="1"/>
          <p:nvPr/>
        </p:nvSpPr>
        <p:spPr>
          <a:xfrm>
            <a:off x="625998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スペースのリンクは Classroom の授業にある。サイトは Chat に何もしない</a:t>
            </a:r>
            <a:endParaRPr lang="en-US" sz="1000" dirty="0"/>
          </a:p>
        </p:txBody>
      </p:sp>
      <p:sp>
        <p:nvSpPr>
          <p:cNvPr id="28" name="Text 26"/>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会員の情報はサイトに持たない。名簿は Classroom、参加の状態は GitHub のチームで分かる。</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メール</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独自ドメインから、2 通に分けて送る</a:t>
            </a:r>
            <a:endParaRPr lang="en-US" sz="2600" dirty="0"/>
          </a:p>
        </p:txBody>
      </p:sp>
      <p:sp>
        <p:nvSpPr>
          <p:cNvPr id="4" name="Shape 2"/>
          <p:cNvSpPr/>
          <p:nvPr/>
        </p:nvSpPr>
        <p:spPr>
          <a:xfrm>
            <a:off x="45720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554480"/>
            <a:ext cx="457200" cy="45720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txBox="1"/>
          <p:nvPr/>
        </p:nvSpPr>
        <p:spPr>
          <a:xfrm>
            <a:off x="137160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送信の経路</a:t>
            </a:r>
            <a:endParaRPr lang="en-US" sz="1500" dirty="0"/>
          </a:p>
        </p:txBody>
      </p:sp>
      <p:sp>
        <p:nvSpPr>
          <p:cNvPr id="8" name="Text 5"/>
          <p:cNvSpPr txBox="1"/>
          <p:nvPr/>
        </p:nvSpPr>
        <p:spPr>
          <a:xfrm>
            <a:off x="73152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Azure Communication Services の SMTP リレー</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差出人は no-reply@funitclub.org（独自ドメイン）</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認証は Entra アプリ。大学アカウントからは送れない</a:t>
            </a:r>
            <a:endParaRPr lang="en-US" sz="1050" dirty="0"/>
          </a:p>
        </p:txBody>
      </p:sp>
      <p:sp>
        <p:nvSpPr>
          <p:cNvPr id="9" name="Shape 6"/>
          <p:cNvSpPr/>
          <p:nvPr/>
        </p:nvSpPr>
        <p:spPr>
          <a:xfrm>
            <a:off x="466344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554480"/>
            <a:ext cx="457200" cy="45720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56632" y="1673352"/>
            <a:ext cx="219456" cy="219456"/>
          </a:xfrm>
          <a:prstGeom prst="rect">
            <a:avLst/>
          </a:prstGeom>
        </p:spPr>
      </p:pic>
      <p:sp>
        <p:nvSpPr>
          <p:cNvPr id="12" name="Text 8"/>
          <p:cNvSpPr txBox="1"/>
          <p:nvPr/>
        </p:nvSpPr>
        <p:spPr>
          <a:xfrm>
            <a:off x="557784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申し込み 1 件につき 2 通</a:t>
            </a:r>
            <a:endParaRPr lang="en-US" sz="1500" dirty="0"/>
          </a:p>
        </p:txBody>
      </p:sp>
      <p:sp>
        <p:nvSpPr>
          <p:cNvPr id="13" name="Text 9"/>
          <p:cNvSpPr txBox="1"/>
          <p:nvPr/>
        </p:nvSpPr>
        <p:spPr>
          <a:xfrm>
            <a:off x="493776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事務局あての通知。Reply-To は申込者</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申込者あての控え。Reply-To は事務局</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控えには「心当たりがない場合」の案内を必ず入れる</a:t>
            </a:r>
            <a:endParaRPr lang="en-US" sz="1050" dirty="0"/>
          </a:p>
        </p:txBody>
      </p:sp>
      <p:sp>
        <p:nvSpPr>
          <p:cNvPr id="14" name="Shape 10"/>
          <p:cNvSpPr/>
          <p:nvPr/>
        </p:nvSpPr>
        <p:spPr>
          <a:xfrm>
            <a:off x="45720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1"/>
          <p:cNvSpPr txBox="1"/>
          <p:nvPr/>
        </p:nvSpPr>
        <p:spPr>
          <a:xfrm>
            <a:off x="71323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秘密は Key Vault に置く</a:t>
            </a:r>
            <a:endParaRPr lang="en-US" sz="1200" dirty="0"/>
          </a:p>
        </p:txBody>
      </p:sp>
      <p:sp>
        <p:nvSpPr>
          <p:cNvPr id="16" name="Text 12"/>
          <p:cNvSpPr txBox="1"/>
          <p:nvPr/>
        </p:nvSpPr>
        <p:spPr>
          <a:xfrm>
            <a:off x="71323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App Service には参照だけを書く。取り出せるのはマネージド ID だけ</a:t>
            </a:r>
            <a:endParaRPr lang="en-US" sz="1000" dirty="0"/>
          </a:p>
        </p:txBody>
      </p:sp>
      <p:sp>
        <p:nvSpPr>
          <p:cNvPr id="17" name="Shape 13"/>
          <p:cNvSpPr/>
          <p:nvPr/>
        </p:nvSpPr>
        <p:spPr>
          <a:xfrm>
            <a:off x="3230575"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4"/>
          <p:cNvSpPr txBox="1"/>
          <p:nvPr/>
        </p:nvSpPr>
        <p:spPr>
          <a:xfrm>
            <a:off x="3486607"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なりすまし対策</a:t>
            </a:r>
            <a:endParaRPr lang="en-US" sz="1200" dirty="0"/>
          </a:p>
        </p:txBody>
      </p:sp>
      <p:sp>
        <p:nvSpPr>
          <p:cNvPr id="19" name="Text 15"/>
          <p:cNvSpPr txBox="1"/>
          <p:nvPr/>
        </p:nvSpPr>
        <p:spPr>
          <a:xfrm>
            <a:off x="3486607"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SPF・DKIM に加えて DMARC（p=none）を設定済み</a:t>
            </a:r>
            <a:endParaRPr lang="en-US" sz="1000" dirty="0"/>
          </a:p>
        </p:txBody>
      </p:sp>
      <p:sp>
        <p:nvSpPr>
          <p:cNvPr id="20" name="Shape 16"/>
          <p:cNvSpPr/>
          <p:nvPr/>
        </p:nvSpPr>
        <p:spPr>
          <a:xfrm>
            <a:off x="600395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7"/>
          <p:cNvSpPr txBox="1"/>
          <p:nvPr/>
        </p:nvSpPr>
        <p:spPr>
          <a:xfrm>
            <a:off x="625998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期限が来たら通知する</a:t>
            </a:r>
            <a:endParaRPr lang="en-US" sz="1200" dirty="0"/>
          </a:p>
        </p:txBody>
      </p:sp>
      <p:sp>
        <p:nvSpPr>
          <p:cNvPr id="22" name="Text 18"/>
          <p:cNvSpPr txBox="1"/>
          <p:nvPr/>
        </p:nvSpPr>
        <p:spPr>
          <a:xfrm>
            <a:off x="625998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シークレットは 2028-08-19 に失効。1 日 1 回の点検で知らせる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守りの設計</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持たない・通さない・気づく</a:t>
            </a:r>
            <a:endParaRPr lang="en-US" sz="2600" dirty="0"/>
          </a:p>
        </p:txBody>
      </p:sp>
      <p:sp>
        <p:nvSpPr>
          <p:cNvPr id="4" name="Shape 2"/>
          <p:cNvSpPr/>
          <p:nvPr/>
        </p:nvSpPr>
        <p:spPr>
          <a:xfrm>
            <a:off x="45720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73736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74166" y="1880006"/>
            <a:ext cx="263347" cy="263347"/>
          </a:xfrm>
          <a:prstGeom prst="rect">
            <a:avLst/>
          </a:prstGeom>
        </p:spPr>
      </p:pic>
      <p:sp>
        <p:nvSpPr>
          <p:cNvPr id="7" name="Text 4"/>
          <p:cNvSpPr txBox="1"/>
          <p:nvPr/>
        </p:nvSpPr>
        <p:spPr>
          <a:xfrm>
            <a:off x="146304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編集画面は二重に閉じる</a:t>
            </a:r>
            <a:endParaRPr lang="en-US" sz="1400" dirty="0"/>
          </a:p>
        </p:txBody>
      </p:sp>
      <p:sp>
        <p:nvSpPr>
          <p:cNvPr id="8" name="Text 5"/>
          <p:cNvSpPr txBox="1"/>
          <p:nvPr/>
        </p:nvSpPr>
        <p:spPr>
          <a:xfrm>
            <a:off x="146304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ミドルウェアで既定を閉じ、編集の各ビューも Mixin で重ねる。公開ページだけ外してある</a:t>
            </a:r>
            <a:endParaRPr lang="en-US" sz="1100" dirty="0"/>
          </a:p>
        </p:txBody>
      </p:sp>
      <p:sp>
        <p:nvSpPr>
          <p:cNvPr id="9" name="Shape 6"/>
          <p:cNvSpPr/>
          <p:nvPr/>
        </p:nvSpPr>
        <p:spPr>
          <a:xfrm>
            <a:off x="466344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737360"/>
            <a:ext cx="548640" cy="54864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80406" y="1880006"/>
            <a:ext cx="263347" cy="263347"/>
          </a:xfrm>
          <a:prstGeom prst="rect">
            <a:avLst/>
          </a:prstGeom>
        </p:spPr>
      </p:pic>
      <p:sp>
        <p:nvSpPr>
          <p:cNvPr id="12" name="Text 8"/>
          <p:cNvSpPr txBox="1"/>
          <p:nvPr/>
        </p:nvSpPr>
        <p:spPr>
          <a:xfrm>
            <a:off x="566928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連続送信した IP を遮断</a:t>
            </a:r>
            <a:endParaRPr lang="en-US" sz="1400" dirty="0"/>
          </a:p>
        </p:txBody>
      </p:sp>
      <p:sp>
        <p:nvSpPr>
          <p:cNvPr id="13" name="Text 9"/>
          <p:cNvSpPr txBox="1"/>
          <p:nvPr/>
        </p:nvSpPr>
        <p:spPr>
          <a:xfrm>
            <a:off x="566928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24 時間 → 7 日 → 恒久。判定は X-Forwarded-For の右端</a:t>
            </a:r>
            <a:endParaRPr lang="en-US" sz="1100" dirty="0"/>
          </a:p>
        </p:txBody>
      </p:sp>
      <p:sp>
        <p:nvSpPr>
          <p:cNvPr id="14" name="Shape 10"/>
          <p:cNvSpPr/>
          <p:nvPr/>
        </p:nvSpPr>
        <p:spPr>
          <a:xfrm>
            <a:off x="45720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731520" y="3383280"/>
            <a:ext cx="548640" cy="548640"/>
          </a:xfrm>
          <a:prstGeom prst="ellipse">
            <a:avLst/>
          </a:prstGeom>
          <a:solidFill>
            <a:srgbClr val="001E3C"/>
          </a:solidFill>
          <a:ln w="12700">
            <a:solidFill>
              <a:srgbClr val="001E3C"/>
            </a:solidFill>
            <a:prstDash val="solid"/>
          </a:ln>
        </p:spPr>
      </p:sp>
      <p:pic>
        <p:nvPicPr>
          <p:cNvPr id="16" name="Image 2" descr="preencoded.png">    </p:cNvPr>
          <p:cNvPicPr>
            <a:picLocks noChangeAspect="1"/>
          </p:cNvPicPr>
          <p:nvPr/>
        </p:nvPicPr>
        <p:blipFill>
          <a:blip r:embed="rId3"/>
          <a:stretch>
            <a:fillRect/>
          </a:stretch>
        </p:blipFill>
        <p:spPr>
          <a:xfrm>
            <a:off x="874166" y="3525926"/>
            <a:ext cx="263347" cy="263347"/>
          </a:xfrm>
          <a:prstGeom prst="rect">
            <a:avLst/>
          </a:prstGeom>
        </p:spPr>
      </p:pic>
      <p:sp>
        <p:nvSpPr>
          <p:cNvPr id="17" name="Text 12"/>
          <p:cNvSpPr txBox="1"/>
          <p:nvPr/>
        </p:nvSpPr>
        <p:spPr>
          <a:xfrm>
            <a:off x="146304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個人の情報を持たない</a:t>
            </a:r>
            <a:endParaRPr lang="en-US" sz="1400" dirty="0"/>
          </a:p>
        </p:txBody>
      </p:sp>
      <p:sp>
        <p:nvSpPr>
          <p:cNvPr id="18" name="Text 13"/>
          <p:cNvSpPr txBox="1"/>
          <p:nvPr/>
        </p:nvSpPr>
        <p:spPr>
          <a:xfrm>
            <a:off x="146304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申し込みも WG への参加も DB に残さない。名簿は Classroom にある</a:t>
            </a:r>
            <a:endParaRPr lang="en-US" sz="1100" dirty="0"/>
          </a:p>
        </p:txBody>
      </p:sp>
      <p:sp>
        <p:nvSpPr>
          <p:cNvPr id="19" name="Shape 14"/>
          <p:cNvSpPr/>
          <p:nvPr/>
        </p:nvSpPr>
        <p:spPr>
          <a:xfrm>
            <a:off x="466344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4937760" y="3383280"/>
            <a:ext cx="548640" cy="548640"/>
          </a:xfrm>
          <a:prstGeom prst="ellipse">
            <a:avLst/>
          </a:prstGeom>
          <a:solidFill>
            <a:srgbClr val="5BB8FF"/>
          </a:solidFill>
          <a:ln w="12700">
            <a:solidFill>
              <a:srgbClr val="5BB8FF"/>
            </a:solidFill>
            <a:prstDash val="solid"/>
          </a:ln>
        </p:spPr>
      </p:sp>
      <p:pic>
        <p:nvPicPr>
          <p:cNvPr id="21" name="Image 3" descr="preencoded.png">    </p:cNvPr>
          <p:cNvPicPr>
            <a:picLocks noChangeAspect="1"/>
          </p:cNvPicPr>
          <p:nvPr/>
        </p:nvPicPr>
        <p:blipFill>
          <a:blip r:embed="rId4"/>
          <a:stretch>
            <a:fillRect/>
          </a:stretch>
        </p:blipFill>
        <p:spPr>
          <a:xfrm>
            <a:off x="5080406" y="3525926"/>
            <a:ext cx="263347" cy="263347"/>
          </a:xfrm>
          <a:prstGeom prst="rect">
            <a:avLst/>
          </a:prstGeom>
        </p:spPr>
      </p:pic>
      <p:sp>
        <p:nvSpPr>
          <p:cNvPr id="22" name="Text 16"/>
          <p:cNvSpPr txBox="1"/>
          <p:nvPr/>
        </p:nvSpPr>
        <p:spPr>
          <a:xfrm>
            <a:off x="566928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異常は運営に届く</a:t>
            </a:r>
            <a:endParaRPr lang="en-US" sz="1400" dirty="0"/>
          </a:p>
        </p:txBody>
      </p:sp>
      <p:sp>
        <p:nvSpPr>
          <p:cNvPr id="23" name="Text 17"/>
          <p:cNvSpPr txBox="1"/>
          <p:nvPr/>
        </p:nvSpPr>
        <p:spPr>
          <a:xfrm>
            <a:off x="566928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IP 遮断・ログイン失敗・500。宛先は管理者テーブルから引く</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設定</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3 ファイルに分け、既定は本番</a:t>
            </a:r>
            <a:endParaRPr lang="en-US" sz="2600" dirty="0"/>
          </a:p>
        </p:txBody>
      </p:sp>
      <p:sp>
        <p:nvSpPr>
          <p:cNvPr id="4" name="Shape 2"/>
          <p:cNvSpPr/>
          <p:nvPr/>
        </p:nvSpPr>
        <p:spPr>
          <a:xfrm>
            <a:off x="45720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設定ファイル</a:t>
            </a:r>
            <a:endParaRPr lang="en-US" sz="1500" dirty="0"/>
          </a:p>
        </p:txBody>
      </p:sp>
      <p:sp>
        <p:nvSpPr>
          <p:cNvPr id="6" name="Text 4"/>
          <p:cNvSpPr txBox="1"/>
          <p:nvPr/>
        </p:nvSpPr>
        <p:spPr>
          <a:xfrm>
            <a:off x="731520" y="210312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config/settings_common.py</a:t>
            </a:r>
            <a:endParaRPr lang="en-US" sz="1100" dirty="0"/>
          </a:p>
        </p:txBody>
      </p:sp>
      <p:sp>
        <p:nvSpPr>
          <p:cNvPr id="7" name="Text 5"/>
          <p:cNvSpPr txBox="1"/>
          <p:nvPr/>
        </p:nvSpPr>
        <p:spPr>
          <a:xfrm>
            <a:off x="731520" y="235915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両方が読む共通部分。アプリ・ミドルウェア・テンプレート</a:t>
            </a:r>
            <a:endParaRPr lang="en-US" sz="1000" dirty="0"/>
          </a:p>
        </p:txBody>
      </p:sp>
      <p:sp>
        <p:nvSpPr>
          <p:cNvPr id="8" name="Shape 6"/>
          <p:cNvSpPr/>
          <p:nvPr/>
        </p:nvSpPr>
        <p:spPr>
          <a:xfrm>
            <a:off x="731520" y="2761488"/>
            <a:ext cx="3474720" cy="0"/>
          </a:xfrm>
          <a:prstGeom prst="line">
            <a:avLst/>
          </a:prstGeom>
          <a:noFill/>
          <a:ln w="9525">
            <a:solidFill>
              <a:srgbClr val="DDDDDD"/>
            </a:solidFill>
            <a:prstDash val="solid"/>
          </a:ln>
        </p:spPr>
      </p:sp>
      <p:sp>
        <p:nvSpPr>
          <p:cNvPr id="9" name="Text 7"/>
          <p:cNvSpPr txBox="1"/>
          <p:nvPr/>
        </p:nvSpPr>
        <p:spPr>
          <a:xfrm>
            <a:off x="731520" y="288036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config/settings.py</a:t>
            </a:r>
            <a:endParaRPr lang="en-US" sz="1100" dirty="0"/>
          </a:p>
        </p:txBody>
      </p:sp>
      <p:sp>
        <p:nvSpPr>
          <p:cNvPr id="10" name="Text 8"/>
          <p:cNvSpPr txBox="1"/>
          <p:nvPr/>
        </p:nvSpPr>
        <p:spPr>
          <a:xfrm>
            <a:off x="731520" y="313639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本番（既定）。PostgreSQL・WhiteNoise・Secure Cookie</a:t>
            </a:r>
            <a:endParaRPr lang="en-US" sz="1000" dirty="0"/>
          </a:p>
        </p:txBody>
      </p:sp>
      <p:sp>
        <p:nvSpPr>
          <p:cNvPr id="11" name="Shape 9"/>
          <p:cNvSpPr/>
          <p:nvPr/>
        </p:nvSpPr>
        <p:spPr>
          <a:xfrm>
            <a:off x="731520" y="3538728"/>
            <a:ext cx="3474720" cy="0"/>
          </a:xfrm>
          <a:prstGeom prst="line">
            <a:avLst/>
          </a:prstGeom>
          <a:noFill/>
          <a:ln w="9525">
            <a:solidFill>
              <a:srgbClr val="DDDDDD"/>
            </a:solidFill>
            <a:prstDash val="solid"/>
          </a:ln>
        </p:spPr>
      </p:sp>
      <p:sp>
        <p:nvSpPr>
          <p:cNvPr id="12" name="Text 10"/>
          <p:cNvSpPr txBox="1"/>
          <p:nvPr/>
        </p:nvSpPr>
        <p:spPr>
          <a:xfrm>
            <a:off x="731520" y="365760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config/settings_dev.py</a:t>
            </a:r>
            <a:endParaRPr lang="en-US" sz="1100" dirty="0"/>
          </a:p>
        </p:txBody>
      </p:sp>
      <p:sp>
        <p:nvSpPr>
          <p:cNvPr id="13" name="Text 11"/>
          <p:cNvSpPr txBox="1"/>
          <p:nvPr/>
        </p:nvSpPr>
        <p:spPr>
          <a:xfrm>
            <a:off x="731520" y="391363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開発。SQLite・DEBUG・.env の読み込み</a:t>
            </a:r>
            <a:endParaRPr lang="en-US" sz="1000" dirty="0"/>
          </a:p>
        </p:txBody>
      </p:sp>
      <p:sp>
        <p:nvSpPr>
          <p:cNvPr id="14" name="Shape 12"/>
          <p:cNvSpPr/>
          <p:nvPr/>
        </p:nvSpPr>
        <p:spPr>
          <a:xfrm>
            <a:off x="466344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493776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開発と本番のちがい</a:t>
            </a:r>
            <a:endParaRPr lang="en-US" sz="1500" dirty="0"/>
          </a:p>
        </p:txBody>
      </p:sp>
      <p:sp>
        <p:nvSpPr>
          <p:cNvPr id="16" name="Text 14"/>
          <p:cNvSpPr txBox="1"/>
          <p:nvPr/>
        </p:nvSpPr>
        <p:spPr>
          <a:xfrm>
            <a:off x="4937760" y="2148840"/>
            <a:ext cx="1234440" cy="237744"/>
          </a:xfrm>
          <a:prstGeom prst="rect">
            <a:avLst/>
          </a:prstGeom>
          <a:noFill/>
          <a:ln/>
        </p:spPr>
        <p:txBody>
          <a:bodyPr wrap="square" lIns="0" tIns="0" rIns="0" bIns="0" rtlCol="0" anchor="ctr"/>
          <a:lstStyle/>
          <a:p>
            <a:pPr indent="0" marL="0">
              <a:buNone/>
            </a:pPr>
            <a:endParaRPr lang="en-US" sz="1050" dirty="0"/>
          </a:p>
        </p:txBody>
      </p:sp>
      <p:sp>
        <p:nvSpPr>
          <p:cNvPr id="17" name="Text 15"/>
          <p:cNvSpPr txBox="1"/>
          <p:nvPr/>
        </p:nvSpPr>
        <p:spPr>
          <a:xfrm>
            <a:off x="6217920" y="2148840"/>
            <a:ext cx="109728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開発（手元）</a:t>
            </a:r>
            <a:endParaRPr lang="en-US" sz="1000" dirty="0"/>
          </a:p>
        </p:txBody>
      </p:sp>
      <p:sp>
        <p:nvSpPr>
          <p:cNvPr id="18" name="Text 16"/>
          <p:cNvSpPr txBox="1"/>
          <p:nvPr/>
        </p:nvSpPr>
        <p:spPr>
          <a:xfrm>
            <a:off x="7360920" y="2148840"/>
            <a:ext cx="118872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本番（Azure）</a:t>
            </a:r>
            <a:endParaRPr lang="en-US" sz="1000" dirty="0"/>
          </a:p>
        </p:txBody>
      </p:sp>
      <p:sp>
        <p:nvSpPr>
          <p:cNvPr id="19" name="Shape 17"/>
          <p:cNvSpPr/>
          <p:nvPr/>
        </p:nvSpPr>
        <p:spPr>
          <a:xfrm>
            <a:off x="4937760" y="2423160"/>
            <a:ext cx="3566160" cy="0"/>
          </a:xfrm>
          <a:prstGeom prst="line">
            <a:avLst/>
          </a:prstGeom>
          <a:noFill/>
          <a:ln w="9525">
            <a:solidFill>
              <a:srgbClr val="DDDDDD"/>
            </a:solidFill>
            <a:prstDash val="solid"/>
          </a:ln>
        </p:spPr>
      </p:sp>
      <p:sp>
        <p:nvSpPr>
          <p:cNvPr id="20" name="Text 18"/>
          <p:cNvSpPr txBox="1"/>
          <p:nvPr/>
        </p:nvSpPr>
        <p:spPr>
          <a:xfrm>
            <a:off x="4937760" y="251460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データベース</a:t>
            </a:r>
            <a:endParaRPr lang="en-US" sz="1050" dirty="0"/>
          </a:p>
        </p:txBody>
      </p:sp>
      <p:sp>
        <p:nvSpPr>
          <p:cNvPr id="21" name="Text 19"/>
          <p:cNvSpPr txBox="1"/>
          <p:nvPr/>
        </p:nvSpPr>
        <p:spPr>
          <a:xfrm>
            <a:off x="6217920" y="251460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SQLite</a:t>
            </a:r>
            <a:endParaRPr lang="en-US" sz="1000" dirty="0"/>
          </a:p>
        </p:txBody>
      </p:sp>
      <p:sp>
        <p:nvSpPr>
          <p:cNvPr id="22" name="Text 20"/>
          <p:cNvSpPr txBox="1"/>
          <p:nvPr/>
        </p:nvSpPr>
        <p:spPr>
          <a:xfrm>
            <a:off x="7360920" y="251460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PostgreSQL</a:t>
            </a:r>
            <a:endParaRPr lang="en-US" sz="1000" dirty="0"/>
          </a:p>
        </p:txBody>
      </p:sp>
      <p:sp>
        <p:nvSpPr>
          <p:cNvPr id="23" name="Text 21"/>
          <p:cNvSpPr txBox="1"/>
          <p:nvPr/>
        </p:nvSpPr>
        <p:spPr>
          <a:xfrm>
            <a:off x="4937760" y="288036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静的ファイル</a:t>
            </a:r>
            <a:endParaRPr lang="en-US" sz="1050" dirty="0"/>
          </a:p>
        </p:txBody>
      </p:sp>
      <p:sp>
        <p:nvSpPr>
          <p:cNvPr id="24" name="Text 22"/>
          <p:cNvSpPr txBox="1"/>
          <p:nvPr/>
        </p:nvSpPr>
        <p:spPr>
          <a:xfrm>
            <a:off x="6217920" y="288036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runserver</a:t>
            </a:r>
            <a:endParaRPr lang="en-US" sz="1000" dirty="0"/>
          </a:p>
        </p:txBody>
      </p:sp>
      <p:sp>
        <p:nvSpPr>
          <p:cNvPr id="25" name="Text 23"/>
          <p:cNvSpPr txBox="1"/>
          <p:nvPr/>
        </p:nvSpPr>
        <p:spPr>
          <a:xfrm>
            <a:off x="7360920" y="288036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WhiteNoise</a:t>
            </a:r>
            <a:endParaRPr lang="en-US" sz="1000" dirty="0"/>
          </a:p>
        </p:txBody>
      </p:sp>
      <p:sp>
        <p:nvSpPr>
          <p:cNvPr id="26" name="Text 24"/>
          <p:cNvSpPr txBox="1"/>
          <p:nvPr/>
        </p:nvSpPr>
        <p:spPr>
          <a:xfrm>
            <a:off x="4937760" y="324612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DEBUG</a:t>
            </a:r>
            <a:endParaRPr lang="en-US" sz="1050" dirty="0"/>
          </a:p>
        </p:txBody>
      </p:sp>
      <p:sp>
        <p:nvSpPr>
          <p:cNvPr id="27" name="Text 25"/>
          <p:cNvSpPr txBox="1"/>
          <p:nvPr/>
        </p:nvSpPr>
        <p:spPr>
          <a:xfrm>
            <a:off x="6217920" y="324612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True</a:t>
            </a:r>
            <a:endParaRPr lang="en-US" sz="1000" dirty="0"/>
          </a:p>
        </p:txBody>
      </p:sp>
      <p:sp>
        <p:nvSpPr>
          <p:cNvPr id="28" name="Text 26"/>
          <p:cNvSpPr txBox="1"/>
          <p:nvPr/>
        </p:nvSpPr>
        <p:spPr>
          <a:xfrm>
            <a:off x="7360920" y="324612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False</a:t>
            </a:r>
            <a:endParaRPr lang="en-US" sz="1000" dirty="0"/>
          </a:p>
        </p:txBody>
      </p:sp>
      <p:sp>
        <p:nvSpPr>
          <p:cNvPr id="29" name="Text 27"/>
          <p:cNvSpPr txBox="1"/>
          <p:nvPr/>
        </p:nvSpPr>
        <p:spPr>
          <a:xfrm>
            <a:off x="4937760" y="361188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Cookie</a:t>
            </a:r>
            <a:endParaRPr lang="en-US" sz="1050" dirty="0"/>
          </a:p>
        </p:txBody>
      </p:sp>
      <p:sp>
        <p:nvSpPr>
          <p:cNvPr id="30" name="Text 28"/>
          <p:cNvSpPr txBox="1"/>
          <p:nvPr/>
        </p:nvSpPr>
        <p:spPr>
          <a:xfrm>
            <a:off x="6217920" y="361188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通常</a:t>
            </a:r>
            <a:endParaRPr lang="en-US" sz="1000" dirty="0"/>
          </a:p>
        </p:txBody>
      </p:sp>
      <p:sp>
        <p:nvSpPr>
          <p:cNvPr id="31" name="Text 29"/>
          <p:cNvSpPr txBox="1"/>
          <p:nvPr/>
        </p:nvSpPr>
        <p:spPr>
          <a:xfrm>
            <a:off x="7360920" y="361188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Secure</a:t>
            </a:r>
            <a:endParaRPr lang="en-US" sz="1000" dirty="0"/>
          </a:p>
        </p:txBody>
      </p:sp>
      <p:sp>
        <p:nvSpPr>
          <p:cNvPr id="32" name="Text 30"/>
          <p:cNvSpPr txBox="1"/>
          <p:nvPr/>
        </p:nvSpPr>
        <p:spPr>
          <a:xfrm>
            <a:off x="4937760" y="397764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ログ</a:t>
            </a:r>
            <a:endParaRPr lang="en-US" sz="1050" dirty="0"/>
          </a:p>
        </p:txBody>
      </p:sp>
      <p:sp>
        <p:nvSpPr>
          <p:cNvPr id="33" name="Text 31"/>
          <p:cNvSpPr txBox="1"/>
          <p:nvPr/>
        </p:nvSpPr>
        <p:spPr>
          <a:xfrm>
            <a:off x="6217920" y="397764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DEBUG・詳細</a:t>
            </a:r>
            <a:endParaRPr lang="en-US" sz="1000" dirty="0"/>
          </a:p>
        </p:txBody>
      </p:sp>
      <p:sp>
        <p:nvSpPr>
          <p:cNvPr id="34" name="Text 32"/>
          <p:cNvSpPr txBox="1"/>
          <p:nvPr/>
        </p:nvSpPr>
        <p:spPr>
          <a:xfrm>
            <a:off x="7360920" y="397764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INFO</a:t>
            </a:r>
            <a:endParaRPr lang="en-US" sz="1000" dirty="0"/>
          </a:p>
        </p:txBody>
      </p:sp>
      <p:sp>
        <p:nvSpPr>
          <p:cNvPr id="35" name="Text 33"/>
          <p:cNvSpPr txBox="1"/>
          <p:nvPr/>
        </p:nvSpPr>
        <p:spPr>
          <a:xfrm>
            <a:off x="457200" y="4590288"/>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手元で manage.py を叩くときは毎回 --settings=config.settings_dev を付ける（Dev Container の中では不要）。</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の成果</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WG の成果が公表されるまで</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作って、動かして、ホームページから辿れるようにする。人の手が要るのは最後だけ。</a:t>
            </a:r>
            <a:endParaRPr lang="en-US" sz="1100" dirty="0"/>
          </a:p>
        </p:txBody>
      </p:sp>
      <p:sp>
        <p:nvSpPr>
          <p:cNvPr id="5" name="Shape 3"/>
          <p:cNvSpPr/>
          <p:nvPr/>
        </p:nvSpPr>
        <p:spPr>
          <a:xfrm>
            <a:off x="45720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713232" y="1792224"/>
            <a:ext cx="493776" cy="493776"/>
          </a:xfrm>
          <a:prstGeom prst="ellipse">
            <a:avLst/>
          </a:prstGeom>
          <a:solidFill>
            <a:srgbClr val="5BB8FF"/>
          </a:solidFill>
          <a:ln w="12700">
            <a:solidFill>
              <a:srgbClr val="5BB8FF"/>
            </a:solidFill>
            <a:prstDash val="solid"/>
          </a:ln>
        </p:spPr>
      </p:sp>
      <p:pic>
        <p:nvPicPr>
          <p:cNvPr id="7" name="Image 0" descr="preencoded.png">    </p:cNvPr>
          <p:cNvPicPr>
            <a:picLocks noChangeAspect="1"/>
          </p:cNvPicPr>
          <p:nvPr/>
        </p:nvPicPr>
        <p:blipFill>
          <a:blip r:embed="rId1"/>
          <a:stretch>
            <a:fillRect/>
          </a:stretch>
        </p:blipFill>
        <p:spPr>
          <a:xfrm>
            <a:off x="841614" y="1920606"/>
            <a:ext cx="237012" cy="237012"/>
          </a:xfrm>
          <a:prstGeom prst="rect">
            <a:avLst/>
          </a:prstGeom>
        </p:spPr>
      </p:pic>
      <p:sp>
        <p:nvSpPr>
          <p:cNvPr id="8" name="Text 5"/>
          <p:cNvSpPr txBox="1"/>
          <p:nvPr/>
        </p:nvSpPr>
        <p:spPr>
          <a:xfrm>
            <a:off x="137160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開発</a:t>
            </a:r>
            <a:endParaRPr lang="en-US" sz="1600" dirty="0"/>
          </a:p>
        </p:txBody>
      </p:sp>
      <p:sp>
        <p:nvSpPr>
          <p:cNvPr id="9" name="Shape 6"/>
          <p:cNvSpPr/>
          <p:nvPr/>
        </p:nvSpPr>
        <p:spPr>
          <a:xfrm>
            <a:off x="713232" y="2414016"/>
            <a:ext cx="566928" cy="237744"/>
          </a:xfrm>
          <a:prstGeom prst="rect">
            <a:avLst/>
          </a:prstGeom>
          <a:solidFill>
            <a:srgbClr val="5BB8FF"/>
          </a:solidFill>
          <a:ln w="12700">
            <a:solidFill>
              <a:srgbClr val="5BB8FF"/>
            </a:solidFill>
            <a:prstDash val="solid"/>
          </a:ln>
        </p:spPr>
      </p:sp>
      <p:sp>
        <p:nvSpPr>
          <p:cNvPr id="10" name="Text 7"/>
          <p:cNvSpPr txBox="1"/>
          <p:nvPr/>
        </p:nvSpPr>
        <p:spPr>
          <a:xfrm>
            <a:off x="71323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11" name="Text 8"/>
          <p:cNvSpPr txBox="1"/>
          <p:nvPr/>
        </p:nvSpPr>
        <p:spPr>
          <a:xfrm>
            <a:off x="71323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WG のリポジトリで作る。ブランチを切ってプルリクエストを出し、レビューを通してマージする。</a:t>
            </a:r>
            <a:endParaRPr lang="en-US" sz="1050" dirty="0"/>
          </a:p>
        </p:txBody>
      </p:sp>
      <p:sp>
        <p:nvSpPr>
          <p:cNvPr id="12" name="Shape 9"/>
          <p:cNvSpPr/>
          <p:nvPr/>
        </p:nvSpPr>
        <p:spPr>
          <a:xfrm>
            <a:off x="329184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Shape 10"/>
          <p:cNvSpPr/>
          <p:nvPr/>
        </p:nvSpPr>
        <p:spPr>
          <a:xfrm>
            <a:off x="3547872" y="1792224"/>
            <a:ext cx="493776" cy="493776"/>
          </a:xfrm>
          <a:prstGeom prst="ellipse">
            <a:avLst/>
          </a:prstGeom>
          <a:solidFill>
            <a:srgbClr val="5BB8FF"/>
          </a:solidFill>
          <a:ln w="12700">
            <a:solidFill>
              <a:srgbClr val="5BB8FF"/>
            </a:solidFill>
            <a:prstDash val="solid"/>
          </a:ln>
        </p:spPr>
      </p:sp>
      <p:pic>
        <p:nvPicPr>
          <p:cNvPr id="14" name="Image 1" descr="preencoded.png">    </p:cNvPr>
          <p:cNvPicPr>
            <a:picLocks noChangeAspect="1"/>
          </p:cNvPicPr>
          <p:nvPr/>
        </p:nvPicPr>
        <p:blipFill>
          <a:blip r:embed="rId2"/>
          <a:stretch>
            <a:fillRect/>
          </a:stretch>
        </p:blipFill>
        <p:spPr>
          <a:xfrm>
            <a:off x="3676254" y="1920606"/>
            <a:ext cx="237012" cy="237012"/>
          </a:xfrm>
          <a:prstGeom prst="rect">
            <a:avLst/>
          </a:prstGeom>
        </p:spPr>
      </p:pic>
      <p:sp>
        <p:nvSpPr>
          <p:cNvPr id="15" name="Text 11"/>
          <p:cNvSpPr txBox="1"/>
          <p:nvPr/>
        </p:nvSpPr>
        <p:spPr>
          <a:xfrm>
            <a:off x="420624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公開</a:t>
            </a:r>
            <a:endParaRPr lang="en-US" sz="1600" dirty="0"/>
          </a:p>
        </p:txBody>
      </p:sp>
      <p:sp>
        <p:nvSpPr>
          <p:cNvPr id="16" name="Shape 12"/>
          <p:cNvSpPr/>
          <p:nvPr/>
        </p:nvSpPr>
        <p:spPr>
          <a:xfrm>
            <a:off x="3547872" y="2414016"/>
            <a:ext cx="1371600" cy="237744"/>
          </a:xfrm>
          <a:prstGeom prst="rect">
            <a:avLst/>
          </a:prstGeom>
          <a:solidFill>
            <a:srgbClr val="5BB8FF"/>
          </a:solidFill>
          <a:ln w="12700">
            <a:solidFill>
              <a:srgbClr val="5BB8FF"/>
            </a:solidFill>
            <a:prstDash val="solid"/>
          </a:ln>
        </p:spPr>
      </p:sp>
      <p:sp>
        <p:nvSpPr>
          <p:cNvPr id="17" name="Text 13"/>
          <p:cNvSpPr txBox="1"/>
          <p:nvPr/>
        </p:nvSpPr>
        <p:spPr>
          <a:xfrm>
            <a:off x="3547872" y="2414016"/>
            <a:ext cx="137160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自動</a:t>
            </a:r>
            <a:endParaRPr lang="en-US" sz="900" dirty="0"/>
          </a:p>
        </p:txBody>
      </p:sp>
      <p:sp>
        <p:nvSpPr>
          <p:cNvPr id="18" name="Text 14"/>
          <p:cNvSpPr txBox="1"/>
          <p:nvPr/>
        </p:nvSpPr>
        <p:spPr>
          <a:xfrm>
            <a:off x="354787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マージすると homepage に取り込まれて公開される。ソースは非公開のまま。URL 直打ちでは開かず、一覧から辿る。</a:t>
            </a:r>
            <a:endParaRPr lang="en-US" sz="1050" dirty="0"/>
          </a:p>
        </p:txBody>
      </p:sp>
      <p:sp>
        <p:nvSpPr>
          <p:cNvPr id="19" name="Shape 15"/>
          <p:cNvSpPr/>
          <p:nvPr/>
        </p:nvSpPr>
        <p:spPr>
          <a:xfrm>
            <a:off x="612648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6"/>
          <p:cNvSpPr/>
          <p:nvPr/>
        </p:nvSpPr>
        <p:spPr>
          <a:xfrm>
            <a:off x="6382512" y="1792224"/>
            <a:ext cx="493776" cy="493776"/>
          </a:xfrm>
          <a:prstGeom prst="ellipse">
            <a:avLst/>
          </a:prstGeom>
          <a:solidFill>
            <a:srgbClr val="5BB8FF"/>
          </a:solidFill>
          <a:ln w="12700">
            <a:solidFill>
              <a:srgbClr val="5BB8FF"/>
            </a:solidFill>
            <a:prstDash val="solid"/>
          </a:ln>
        </p:spPr>
      </p:sp>
      <p:pic>
        <p:nvPicPr>
          <p:cNvPr id="21" name="Image 2" descr="preencoded.png">    </p:cNvPr>
          <p:cNvPicPr>
            <a:picLocks noChangeAspect="1"/>
          </p:cNvPicPr>
          <p:nvPr/>
        </p:nvPicPr>
        <p:blipFill>
          <a:blip r:embed="rId3"/>
          <a:stretch>
            <a:fillRect/>
          </a:stretch>
        </p:blipFill>
        <p:spPr>
          <a:xfrm>
            <a:off x="6510894" y="1920606"/>
            <a:ext cx="237012" cy="237012"/>
          </a:xfrm>
          <a:prstGeom prst="rect">
            <a:avLst/>
          </a:prstGeom>
        </p:spPr>
      </p:pic>
      <p:sp>
        <p:nvSpPr>
          <p:cNvPr id="22" name="Text 17"/>
          <p:cNvSpPr txBox="1"/>
          <p:nvPr/>
        </p:nvSpPr>
        <p:spPr>
          <a:xfrm>
            <a:off x="704088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掲載</a:t>
            </a:r>
            <a:endParaRPr lang="en-US" sz="1600" dirty="0"/>
          </a:p>
        </p:txBody>
      </p:sp>
      <p:sp>
        <p:nvSpPr>
          <p:cNvPr id="23" name="Shape 18"/>
          <p:cNvSpPr/>
          <p:nvPr/>
        </p:nvSpPr>
        <p:spPr>
          <a:xfrm>
            <a:off x="6382512" y="2414016"/>
            <a:ext cx="566928" cy="237744"/>
          </a:xfrm>
          <a:prstGeom prst="rect">
            <a:avLst/>
          </a:prstGeom>
          <a:solidFill>
            <a:srgbClr val="5BB8FF"/>
          </a:solidFill>
          <a:ln w="12700">
            <a:solidFill>
              <a:srgbClr val="5BB8FF"/>
            </a:solidFill>
            <a:prstDash val="solid"/>
          </a:ln>
        </p:spPr>
      </p:sp>
      <p:sp>
        <p:nvSpPr>
          <p:cNvPr id="24" name="Text 19"/>
          <p:cNvSpPr txBox="1"/>
          <p:nvPr/>
        </p:nvSpPr>
        <p:spPr>
          <a:xfrm>
            <a:off x="638251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25" name="Text 20"/>
          <p:cNvSpPr txBox="1"/>
          <p:nvPr/>
        </p:nvSpPr>
        <p:spPr>
          <a:xfrm>
            <a:off x="638251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ホームページの編集画面（/edit/）で、WG と成果物に URL を入れる。一覧から辿れるようになる。</a:t>
            </a:r>
            <a:endParaRPr lang="en-US" sz="1050" dirty="0"/>
          </a:p>
        </p:txBody>
      </p:sp>
      <p:sp>
        <p:nvSpPr>
          <p:cNvPr id="26" name="Text 21"/>
          <p:cNvSpPr txBox="1"/>
          <p:nvPr/>
        </p:nvSpPr>
        <p:spPr>
          <a:xfrm>
            <a:off x="304495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7" name="Text 22"/>
          <p:cNvSpPr txBox="1"/>
          <p:nvPr/>
        </p:nvSpPr>
        <p:spPr>
          <a:xfrm>
            <a:off x="587959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8" name="Shape 23"/>
          <p:cNvSpPr/>
          <p:nvPr/>
        </p:nvSpPr>
        <p:spPr>
          <a:xfrm>
            <a:off x="457200" y="4114800"/>
            <a:ext cx="8229600" cy="713232"/>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29" name="Text 24"/>
          <p:cNvSpPr txBox="1"/>
          <p:nvPr/>
        </p:nvSpPr>
        <p:spPr>
          <a:xfrm>
            <a:off x="713232" y="4224528"/>
            <a:ext cx="2926080" cy="27432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ホームページ自身の更新</a:t>
            </a:r>
            <a:endParaRPr lang="en-US" sz="1300" dirty="0"/>
          </a:p>
        </p:txBody>
      </p:sp>
      <p:sp>
        <p:nvSpPr>
          <p:cNvPr id="30" name="Text 25"/>
          <p:cNvSpPr txBox="1"/>
          <p:nvPr/>
        </p:nvSpPr>
        <p:spPr>
          <a:xfrm>
            <a:off x="4023360" y="4251960"/>
            <a:ext cx="4434840" cy="256032"/>
          </a:xfrm>
          <a:prstGeom prst="rect">
            <a:avLst/>
          </a:prstGeom>
          <a:noFill/>
          <a:ln/>
        </p:spPr>
        <p:txBody>
          <a:bodyPr wrap="square" lIns="0" tIns="0" rIns="0" bIns="0" rtlCol="0" anchor="ctr"/>
          <a:lstStyle/>
          <a:p>
            <a:pPr algn="r" indent="0" marL="0">
              <a:buNone/>
            </a:pPr>
            <a:r>
              <a:rPr lang="en-US" sz="1050" dirty="0">
                <a:solidFill>
                  <a:srgbClr val="5BB8FF"/>
                </a:solidFill>
                <a:latin typeface="Consolas" pitchFamily="34" charset="0"/>
                <a:ea typeface="Consolas" pitchFamily="34" charset="-122"/>
                <a:cs typeface="Consolas" pitchFamily="34" charset="-120"/>
              </a:rPr>
              <a:t>main に push  →  GitHub Actions  →  App Service</a:t>
            </a:r>
            <a:endParaRPr lang="en-US" sz="1050" dirty="0"/>
          </a:p>
        </p:txBody>
      </p:sp>
      <p:sp>
        <p:nvSpPr>
          <p:cNvPr id="31" name="Text 26"/>
          <p:cNvSpPr txBox="1"/>
          <p:nvPr/>
        </p:nvSpPr>
        <p:spPr>
          <a:xfrm>
            <a:off x="713232" y="4517136"/>
            <a:ext cx="7726680" cy="256032"/>
          </a:xfrm>
          <a:prstGeom prst="rect">
            <a:avLst/>
          </a:prstGeom>
          <a:noFill/>
          <a:ln/>
        </p:spPr>
        <p:txBody>
          <a:bodyPr wrap="square" lIns="0" tIns="0" rIns="0" bIns="0" rtlCol="0" anchor="ctr"/>
          <a:lstStyle/>
          <a:p>
            <a:pPr indent="0" marL="0">
              <a:buNone/>
            </a:pPr>
            <a:r>
              <a:rPr lang="en-US" sz="950" dirty="0">
                <a:solidFill>
                  <a:srgbClr val="B9CAD9"/>
                </a:solidFill>
                <a:latin typeface="Meiryo" pitchFamily="34" charset="0"/>
                <a:ea typeface="Meiryo" pitchFamily="34" charset="-122"/>
                <a:cs typeface="Meiryo" pitchFamily="34" charset="-120"/>
              </a:rPr>
              <a:t>こちらは運営が行う。掲載（3）は DB に入るだけなので、次のデプロイを待たずにすぐ公開ページへ出る。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まとめ</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迷ったら、ここを見る</a:t>
            </a:r>
            <a:endParaRPr lang="en-US" sz="2600" dirty="0"/>
          </a:p>
        </p:txBody>
      </p:sp>
      <p:sp>
        <p:nvSpPr>
          <p:cNvPr id="4" name="Shape 2"/>
          <p:cNvSpPr/>
          <p:nvPr/>
        </p:nvSpPr>
        <p:spPr>
          <a:xfrm>
            <a:off x="45720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13232" y="169164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5878" y="1834286"/>
            <a:ext cx="263347" cy="263347"/>
          </a:xfrm>
          <a:prstGeom prst="rect">
            <a:avLst/>
          </a:prstGeom>
        </p:spPr>
      </p:pic>
      <p:sp>
        <p:nvSpPr>
          <p:cNvPr id="7" name="Text 4"/>
          <p:cNvSpPr txBox="1"/>
          <p:nvPr/>
        </p:nvSpPr>
        <p:spPr>
          <a:xfrm>
            <a:off x="71323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仕様と決めごと</a:t>
            </a:r>
            <a:endParaRPr lang="en-US" sz="1400" dirty="0"/>
          </a:p>
        </p:txBody>
      </p:sp>
      <p:sp>
        <p:nvSpPr>
          <p:cNvPr id="8" name="Text 5"/>
          <p:cNvSpPr txBox="1"/>
          <p:nvPr/>
        </p:nvSpPr>
        <p:spPr>
          <a:xfrm>
            <a:off x="71323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README.md</a:t>
            </a:r>
            <a:endParaRPr lang="en-US" sz="1100" dirty="0"/>
          </a:p>
        </p:txBody>
      </p:sp>
      <p:sp>
        <p:nvSpPr>
          <p:cNvPr id="9" name="Text 6"/>
          <p:cNvSpPr txBox="1"/>
          <p:nvPr/>
        </p:nvSpPr>
        <p:spPr>
          <a:xfrm>
            <a:off x="71323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何をなぜそうしたかは、すべてここに書いてある</a:t>
            </a:r>
            <a:endParaRPr lang="en-US" sz="1050" dirty="0"/>
          </a:p>
        </p:txBody>
      </p:sp>
      <p:sp>
        <p:nvSpPr>
          <p:cNvPr id="10" name="Shape 7"/>
          <p:cNvSpPr/>
          <p:nvPr/>
        </p:nvSpPr>
        <p:spPr>
          <a:xfrm>
            <a:off x="3230575"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86607" y="1691640"/>
            <a:ext cx="548640" cy="548640"/>
          </a:xfrm>
          <a:prstGeom prst="ellipse">
            <a:avLst/>
          </a:prstGeom>
          <a:solidFill>
            <a:srgbClr val="5BB8FF"/>
          </a:solidFill>
          <a:ln w="12700">
            <a:solidFill>
              <a:srgbClr val="5BB8FF"/>
            </a:solidFill>
            <a:prstDash val="solid"/>
          </a:ln>
        </p:spPr>
      </p:sp>
      <p:pic>
        <p:nvPicPr>
          <p:cNvPr id="12" name="Image 1" descr="preencoded.png">    </p:cNvPr>
          <p:cNvPicPr>
            <a:picLocks noChangeAspect="1"/>
          </p:cNvPicPr>
          <p:nvPr/>
        </p:nvPicPr>
        <p:blipFill>
          <a:blip r:embed="rId2"/>
          <a:stretch>
            <a:fillRect/>
          </a:stretch>
        </p:blipFill>
        <p:spPr>
          <a:xfrm>
            <a:off x="3629254" y="1834286"/>
            <a:ext cx="263347" cy="263347"/>
          </a:xfrm>
          <a:prstGeom prst="rect">
            <a:avLst/>
          </a:prstGeom>
        </p:spPr>
      </p:pic>
      <p:sp>
        <p:nvSpPr>
          <p:cNvPr id="13" name="Text 9"/>
          <p:cNvSpPr txBox="1"/>
          <p:nvPr/>
        </p:nvSpPr>
        <p:spPr>
          <a:xfrm>
            <a:off x="3486607"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Azure と本番設定</a:t>
            </a:r>
            <a:endParaRPr lang="en-US" sz="1400" dirty="0"/>
          </a:p>
        </p:txBody>
      </p:sp>
      <p:sp>
        <p:nvSpPr>
          <p:cNvPr id="14" name="Text 10"/>
          <p:cNvSpPr txBox="1"/>
          <p:nvPr/>
        </p:nvSpPr>
        <p:spPr>
          <a:xfrm>
            <a:off x="3486607"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deploy.txt</a:t>
            </a:r>
            <a:endParaRPr lang="en-US" sz="1100" dirty="0"/>
          </a:p>
        </p:txBody>
      </p:sp>
      <p:sp>
        <p:nvSpPr>
          <p:cNvPr id="15" name="Text 11"/>
          <p:cNvSpPr txBox="1"/>
          <p:nvPr/>
        </p:nvSpPr>
        <p:spPr>
          <a:xfrm>
            <a:off x="3486607"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リソースの作成手順と az コマンド一式</a:t>
            </a:r>
            <a:endParaRPr lang="en-US" sz="1050" dirty="0"/>
          </a:p>
        </p:txBody>
      </p:sp>
      <p:sp>
        <p:nvSpPr>
          <p:cNvPr id="16" name="Shape 12"/>
          <p:cNvSpPr/>
          <p:nvPr/>
        </p:nvSpPr>
        <p:spPr>
          <a:xfrm>
            <a:off x="600395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259982" y="1691640"/>
            <a:ext cx="548640" cy="548640"/>
          </a:xfrm>
          <a:prstGeom prst="ellipse">
            <a:avLst/>
          </a:prstGeom>
          <a:solidFill>
            <a:srgbClr val="001E3C"/>
          </a:solidFill>
          <a:ln w="12700">
            <a:solidFill>
              <a:srgbClr val="001E3C"/>
            </a:solidFill>
            <a:prstDash val="solid"/>
          </a:ln>
        </p:spPr>
      </p:sp>
      <p:pic>
        <p:nvPicPr>
          <p:cNvPr id="18" name="Image 2" descr="preencoded.png">    </p:cNvPr>
          <p:cNvPicPr>
            <a:picLocks noChangeAspect="1"/>
          </p:cNvPicPr>
          <p:nvPr/>
        </p:nvPicPr>
        <p:blipFill>
          <a:blip r:embed="rId3"/>
          <a:stretch>
            <a:fillRect/>
          </a:stretch>
        </p:blipFill>
        <p:spPr>
          <a:xfrm>
            <a:off x="6402629" y="1834286"/>
            <a:ext cx="263347" cy="263347"/>
          </a:xfrm>
          <a:prstGeom prst="rect">
            <a:avLst/>
          </a:prstGeom>
        </p:spPr>
      </p:pic>
      <p:sp>
        <p:nvSpPr>
          <p:cNvPr id="19" name="Text 14"/>
          <p:cNvSpPr txBox="1"/>
          <p:nvPr/>
        </p:nvSpPr>
        <p:spPr>
          <a:xfrm>
            <a:off x="625998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開発環境の作り方</a:t>
            </a:r>
            <a:endParaRPr lang="en-US" sz="1400" dirty="0"/>
          </a:p>
        </p:txBody>
      </p:sp>
      <p:sp>
        <p:nvSpPr>
          <p:cNvPr id="20" name="Text 15"/>
          <p:cNvSpPr txBox="1"/>
          <p:nvPr/>
        </p:nvSpPr>
        <p:spPr>
          <a:xfrm>
            <a:off x="625998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docs/development.md</a:t>
            </a:r>
            <a:endParaRPr lang="en-US" sz="1100" dirty="0"/>
          </a:p>
        </p:txBody>
      </p:sp>
      <p:sp>
        <p:nvSpPr>
          <p:cNvPr id="21" name="Text 16"/>
          <p:cNvSpPr txBox="1"/>
          <p:nvPr/>
        </p:nvSpPr>
        <p:spPr>
          <a:xfrm>
            <a:off x="625998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VS Code ＋ Docker Desktop で揃える</a:t>
            </a:r>
            <a:endParaRPr lang="en-US" sz="1050" dirty="0"/>
          </a:p>
        </p:txBody>
      </p:sp>
      <p:sp>
        <p:nvSpPr>
          <p:cNvPr id="22" name="Text 17"/>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100" dirty="0">
                <a:solidFill>
                  <a:srgbClr val="B9CAD9"/>
                </a:solidFill>
                <a:latin typeface="Meiryo" pitchFamily="34" charset="0"/>
                <a:ea typeface="Meiryo" pitchFamily="34" charset="-122"/>
                <a:cs typeface="Meiryo" pitchFamily="34" charset="-120"/>
              </a:rPr>
              <a:t>資料と食い違ったときは README.md を正とする。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WG 立ち上げガイド 04 アプリケーション構成</dc:title>
  <dc:subject>PptxGenJS Presentation</dc:subject>
  <dc:creator>fun IT club</dc:creator>
  <cp:lastModifiedBy>fun IT club</cp:lastModifiedBy>
  <cp:revision>1</cp:revision>
  <dcterms:created xsi:type="dcterms:W3CDTF">2026-09-20T02:23:01Z</dcterms:created>
  <dcterms:modified xsi:type="dcterms:W3CDTF">2026-09-20T02:23:01Z</dcterms:modified>
</cp:coreProperties>
</file>