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8"/>
    <p:sldId id="268" r:id="rId19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3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運営向けの資料です。WG が立ち上がるたびに、この順番で作業します。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が立ち上がったら、まずサイトに「準備中」で載せます。アプリがまだでも構いません。リポジトリとチームが用意できたら、WG紹介にチーム名を入れて、メンバーが自分で参加できるようにします。main を守る仕組みはテンプレートに入っているので、運営の作業はありません。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は立ち上がった時点で、アプリがまだでも「準備中」で載せます。掲示しておくと、ほかのメンバーが活動を知って参加できます。「GitHub のチーム」を入れた WG にだけ「WG に参加」が出ます。「活動中」の WG だけが TOP の「活動中のWG」の件数に入ります。Webアプリの URL が空欄のうちは「作成中」ページに繋がります。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Owner を自分の個人アカウントのままにすると、org の外にリポジトリができてしまいます。作り直しになるので、必ず funITclub を選んでください。org のメンバーの基本権限は No permission にしてあるので、非公開のリポジトリは WG のチームの人だけが見られます。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のリポジトリは非公開にしています。無料プランでは非公開のリポジトリに main を守るルールを掛けられないので、開発環境の側でうっかりを防ぎます。プルリクエスト、レビュー、テストはそのまま使えます。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 があれば、ブランチを作って送り、プルリクエストを出してマージできます。リポジトリの設定を変えられる Maintain や Admin は付けません。チームの名前はリポジトリと同じ wg-&lt;名前&gt; にそろえます。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チーム名を入れるまで「WG に参加」は出ません。リポジトリとチームを作ってから入れてください。状態が「準備中」でも参加はできます。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メンバーかどうかは Classroom のクラブのクラスの名簿で決まります。クラブに登録するときに Classroom に入れておけば、その人は自分で WG に参加できます。卒業・退部した人は Classroom からも外してください。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homepage 側の登録と、できたかの確かめ方です。wg-apps.yml に 1 行足して push すると、次のデプロイから取り込まれます。アプリができたら /edit/ で URL を入れ、状態を「活動中」に。公表のときは as を works に変えるだけで、URL は変わりません。確かめるときは、WG の Actions（10 秒ほどで緑）と homepage の Actions（5〜9 分）の両方を見ます。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まだ用意していない構成案です。WG のアプリは Container Apps で動かし、イメージは GitHub のコンテナレジストリ（ghcr.io）に置きます。WG ごとにリソースグループ（RG）を分け、homepage と DB がある hirahira には入れません。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homepage の自動デプロイも、権限を App Service 1 つに絞り、RG の hirahira には付けていません。WG でも同じ考え方で、GitHub Actions から届く範囲を WG の RG に閉じます。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9-1.png"/><Relationship Id="rId3" Type="http://schemas.openxmlformats.org/officeDocument/2006/relationships/image" Target="../media/image-9-2.png"/><Relationship Id="rId4" Type="http://schemas.openxmlformats.org/officeDocument/2006/relationships/notesSlide" Target="../notesSlides/notesSlide9.xml"/><Relationship Id="rId5" Type="http://schemas.openxmlformats.org/officeDocument/2006/relationships/image" Target="../media/image-8-4.png"/><Relationship Id="rId6" Type="http://schemas.openxmlformats.org/officeDocument/2006/relationships/image" Target="../media/image-2-1.png"/><Relationship Id="rId7" Type="http://schemas.openxmlformats.org/officeDocument/2006/relationships/image" Target="../media/image1.png"/><Relationship Id="rId8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9-1.png"/><Relationship Id="rId3" Type="http://schemas.openxmlformats.org/officeDocument/2006/relationships/image" Target="../media/image-9-2.png"/><Relationship Id="rId4" Type="http://schemas.openxmlformats.org/officeDocument/2006/relationships/notesSlide" Target="../notesSlides/notesSlide9.xml"/><Relationship Id="rId5" Type="http://schemas.openxmlformats.org/officeDocument/2006/relationships/image" Target="../media/image-8-4.png"/><Relationship Id="rId6" Type="http://schemas.openxmlformats.org/officeDocument/2006/relationships/image" Target="../media/image-2-1.png"/><Relationship Id="rId7" Type="http://schemas.openxmlformats.org/officeDocument/2006/relationships/image" Target="../media/image2.png"/><Relationship Id="rId8" Type="http://schemas.openxmlformats.org/officeDocument/2006/relationships/image" Target="../media/image4.png"/><Relationship Id="rId9" Type="http://schemas.openxmlformats.org/officeDocument/2006/relationships/image" Target="../media/image5.png"/><Relationship Id="rId10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fun IT club — WG 立ち上げガイド  01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リポジトリを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作って見守る。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889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DDDD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のリポジトリの作り方（非公開）、main の守り方、WG のチーム、サイトへの掲載、メンバーの交代と終了。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3840480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38404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2026-09  ·  fun IT club 運営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94960" y="868680"/>
            <a:ext cx="3291840" cy="3520440"/>
          </a:xfrm>
          <a:prstGeom prst="rect">
            <a:avLst/>
          </a:prstGeom>
          <a:solidFill>
            <a:srgbClr val="1A4A70"/>
          </a:solidFill>
          <a:ln w="12700">
            <a:solidFill>
              <a:srgbClr val="1A4A7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23560" y="10241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資料は 5 本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623560" y="1417320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41732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概要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66420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486400" y="1965960"/>
            <a:ext cx="3108960" cy="54864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23560" y="2020824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02082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リポジトリの作り方と運用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035040" y="226771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5623560" y="2624328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035040" y="262432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パソコンの準備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2871216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全員・初回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5623560" y="32278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322783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開発の進め方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47472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5623560" y="3831336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035040" y="383133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アプリケーション構成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6035040" y="407822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運営の作業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が立ち上がったらやること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21792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4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8176" y="1709928"/>
            <a:ext cx="292608" cy="2926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21792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載せる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立ち上げたらすぐ、サイトに「準備中」で載せる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1792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21792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すぐ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139696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304288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304288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40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0672" y="1709928"/>
            <a:ext cx="292608" cy="292608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2304288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作る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2304288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テンプレートからリポジトリを作る（非公開）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2304288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304288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一度だけ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3822192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3986784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986784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400" dirty="0"/>
          </a:p>
        </p:txBody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3168" y="1709928"/>
            <a:ext cx="292608" cy="29260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3986784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</a:t>
            </a:r>
            <a:endParaRPr lang="en-US" sz="1600" dirty="0"/>
          </a:p>
        </p:txBody>
      </p:sp>
      <p:sp>
        <p:nvSpPr>
          <p:cNvPr id="25" name="Text 20"/>
          <p:cNvSpPr txBox="1"/>
          <p:nvPr/>
        </p:nvSpPr>
        <p:spPr>
          <a:xfrm>
            <a:off x="3986784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のチームを作り、リポジトリに Write を付ける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3986784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3986784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一度だけ</a:t>
            </a:r>
            <a:endParaRPr lang="en-US" sz="900" dirty="0"/>
          </a:p>
        </p:txBody>
      </p:sp>
      <p:sp>
        <p:nvSpPr>
          <p:cNvPr id="28" name="Shape 23"/>
          <p:cNvSpPr/>
          <p:nvPr/>
        </p:nvSpPr>
        <p:spPr>
          <a:xfrm>
            <a:off x="5504688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5669280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5669280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400" dirty="0"/>
          </a:p>
        </p:txBody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5664" y="1709928"/>
            <a:ext cx="292608" cy="29260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5669280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つなぐ</a:t>
            </a:r>
            <a:endParaRPr lang="en-US" sz="1600" dirty="0"/>
          </a:p>
        </p:txBody>
      </p:sp>
      <p:sp>
        <p:nvSpPr>
          <p:cNvPr id="33" name="Text 27"/>
          <p:cNvSpPr txBox="1"/>
          <p:nvPr/>
        </p:nvSpPr>
        <p:spPr>
          <a:xfrm>
            <a:off x="5669280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WG紹介にチーム名を入れる。参加ボタンが出る</a:t>
            </a:r>
            <a:endParaRPr lang="en-US" sz="1100" dirty="0"/>
          </a:p>
        </p:txBody>
      </p:sp>
      <p:sp>
        <p:nvSpPr>
          <p:cNvPr id="34" name="Shape 28"/>
          <p:cNvSpPr/>
          <p:nvPr/>
        </p:nvSpPr>
        <p:spPr>
          <a:xfrm>
            <a:off x="5669280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5669280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一度だけ</a:t>
            </a:r>
            <a:endParaRPr lang="en-US" sz="900" dirty="0"/>
          </a:p>
        </p:txBody>
      </p:sp>
      <p:sp>
        <p:nvSpPr>
          <p:cNvPr id="36" name="Shape 30"/>
          <p:cNvSpPr/>
          <p:nvPr/>
        </p:nvSpPr>
        <p:spPr>
          <a:xfrm>
            <a:off x="7187184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7" name="Shape 31"/>
          <p:cNvSpPr/>
          <p:nvPr/>
        </p:nvSpPr>
        <p:spPr>
          <a:xfrm>
            <a:off x="7351776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7351776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400" dirty="0"/>
          </a:p>
        </p:txBody>
      </p:sp>
      <p:pic>
        <p:nvPicPr>
          <p:cNvPr id="3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0" y="1709928"/>
            <a:ext cx="292608" cy="292608"/>
          </a:xfrm>
          <a:prstGeom prst="rect">
            <a:avLst/>
          </a:prstGeom>
        </p:spPr>
      </p:pic>
      <p:sp>
        <p:nvSpPr>
          <p:cNvPr id="40" name="Text 33"/>
          <p:cNvSpPr txBox="1"/>
          <p:nvPr/>
        </p:nvSpPr>
        <p:spPr>
          <a:xfrm>
            <a:off x="7351776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見守る</a:t>
            </a:r>
            <a:endParaRPr lang="en-US" sz="1600" dirty="0"/>
          </a:p>
        </p:txBody>
      </p:sp>
      <p:sp>
        <p:nvSpPr>
          <p:cNvPr id="41" name="Text 34"/>
          <p:cNvSpPr txBox="1"/>
          <p:nvPr/>
        </p:nvSpPr>
        <p:spPr>
          <a:xfrm>
            <a:off x="7351776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抜けた人を外し、終わったらアーカイブ</a:t>
            </a:r>
            <a:endParaRPr lang="en-US" sz="1100" dirty="0"/>
          </a:p>
        </p:txBody>
      </p:sp>
      <p:sp>
        <p:nvSpPr>
          <p:cNvPr id="42" name="Shape 35"/>
          <p:cNvSpPr/>
          <p:nvPr/>
        </p:nvSpPr>
        <p:spPr>
          <a:xfrm>
            <a:off x="7351776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7351776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そのつど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1  ·  載せる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まずサイトに「準備中」で載せる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funitclub.org/edit/ にログイン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編集画面は公開サイトからリンクしていない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「WG紹介」→「WGを追加」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266090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右のように入れる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92608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状態は「準備中」。GitHub のチームは空欄のまま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330098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「追加する」を押す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56616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一覧に「準備中」のカードが出る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96112" y="39410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チーム名はあとで入れる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420624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リポジトリとチームを作ってから（手順 4）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892040" y="1371600"/>
            <a:ext cx="37947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892040" y="1371600"/>
            <a:ext cx="379476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005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8464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4924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577840" y="1371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funitclub.org/edit/wg/add/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5120640" y="17830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識別子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355080" y="1801368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19088" y="1801368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WG-04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5120640" y="211226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6355080" y="2130552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19088" y="2130552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カウントダウン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5120640" y="244144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説明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355080" y="2459736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419088" y="2459736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2〜3 行で、何を作る WG か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5120640" y="277063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6355080" y="2788920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419088" y="2788920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準備中  ▾</a:t>
            </a:r>
            <a:endParaRPr lang="en-US" sz="850" dirty="0"/>
          </a:p>
        </p:txBody>
      </p:sp>
      <p:sp>
        <p:nvSpPr>
          <p:cNvPr id="41" name="Text 39"/>
          <p:cNvSpPr txBox="1"/>
          <p:nvPr/>
        </p:nvSpPr>
        <p:spPr>
          <a:xfrm>
            <a:off x="5120640" y="3099816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Webアプリの URL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6355080" y="3118104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19088" y="3118104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（空欄のまま）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5120640" y="342900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追加リンクの名前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355080" y="3447288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419088" y="3447288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5120640" y="375818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のチーム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6355080" y="3776472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419088" y="3776472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（あとで入れる）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5120640" y="4133088"/>
            <a:ext cx="155448" cy="15544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pic>
        <p:nvPicPr>
          <p:cNvPr id="5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48072" y="4160520"/>
            <a:ext cx="100584" cy="100584"/>
          </a:xfrm>
          <a:prstGeom prst="rect">
            <a:avLst/>
          </a:prstGeom>
        </p:spPr>
      </p:pic>
      <p:sp>
        <p:nvSpPr>
          <p:cNvPr id="52" name="Text 49"/>
          <p:cNvSpPr txBox="1"/>
          <p:nvPr/>
        </p:nvSpPr>
        <p:spPr>
          <a:xfrm>
            <a:off x="5367528" y="411480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公開する</a:t>
            </a:r>
            <a:endParaRPr lang="en-US" sz="950" dirty="0"/>
          </a:p>
        </p:txBody>
      </p:sp>
      <p:sp>
        <p:nvSpPr>
          <p:cNvPr id="53" name="Shape 50"/>
          <p:cNvSpPr/>
          <p:nvPr/>
        </p:nvSpPr>
        <p:spPr>
          <a:xfrm>
            <a:off x="7589520" y="4187952"/>
            <a:ext cx="868680" cy="292608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7589520" y="4187952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追加する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2  ·  作る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テンプレートからリポジトリを作る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wg-template を開く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github.com/funITclub/wg-template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「Use this template」を押す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28600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右上の緑のボタン →「Create a new repository」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66090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Owner を funITclub にする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2608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自分のアカウントのままにしない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30098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名前を wg-&lt;名前&gt; にする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56616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英小文字とハイフン（例 wg-countdown）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9410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Private を選んで作る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20624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のチームの人だけが見られる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892040" y="1371600"/>
            <a:ext cx="37947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892040" y="1371600"/>
            <a:ext cx="379476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005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8464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4924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577840" y="1371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Create a new repository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120640" y="17373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 new repository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120640" y="210312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 *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120640" y="2322576"/>
            <a:ext cx="123444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193792" y="2322576"/>
            <a:ext cx="1088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funITclub  ▾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6382512" y="2322576"/>
            <a:ext cx="137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37960" y="210312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Repository name *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537960" y="2322576"/>
            <a:ext cx="192024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11112" y="2322576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wg-countdown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5120640" y="2697480"/>
            <a:ext cx="3337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Description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120640" y="2916936"/>
            <a:ext cx="3337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193792" y="2916936"/>
            <a:ext cx="3191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63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カウントダウンのアプリを作る WG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138928" y="3364992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367528" y="331927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138928" y="3657600"/>
            <a:ext cx="146304" cy="146304"/>
          </a:xfrm>
          <a:prstGeom prst="ellipse">
            <a:avLst/>
          </a:prstGeom>
          <a:solidFill>
            <a:srgbClr val="FFFFFF"/>
          </a:solidFill>
          <a:ln w="50800">
            <a:solidFill>
              <a:srgbClr val="0078D4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367528" y="361188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7178040" y="4160520"/>
            <a:ext cx="1280160" cy="274320"/>
          </a:xfrm>
          <a:prstGeom prst="rect">
            <a:avLst/>
          </a:prstGeom>
          <a:solidFill>
            <a:srgbClr val="1F883D"/>
          </a:solidFill>
          <a:ln w="12700">
            <a:solidFill>
              <a:srgbClr val="1F883D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178040" y="4160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repository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補足  ·  main の守り方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はテンプレートの仕組みで守る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00200"/>
            <a:ext cx="502920" cy="5029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6559" y="1730959"/>
            <a:ext cx="241402" cy="24140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25880" y="1627632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の設定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2402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のままコミットしようとすると、新しいブランチを作るように促す。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271576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.vscode/settings.json（git.branchProtection）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663440" y="137160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892040" y="1600200"/>
            <a:ext cx="502920" cy="5029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2799" y="1730959"/>
            <a:ext cx="241402" cy="24140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532120" y="1627632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 のフック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4892040" y="22402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への push を、送る前に手元で止める。作業部屋を作るときに自動で有効になる。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4892040" y="271576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.githooks/pre-push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457200" y="3246120"/>
            <a:ext cx="82296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85800" y="33649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運営の作業はない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685800" y="367588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どちらも wg-template に入っているので、テンプレートから作れば最初から効いている。GitHub の側で強制するルール（Rulesets）は、無料プランでは非公開のリポジトリに掛けられない。有料の Team プラン（教育機関向けの無料アップグレードもある）にしたら足す（手順は wg-template の README）。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" y="459028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どちらも外そうと思えば外せる。「うっかり main に入れる」を防ぐためのもの。PR・レビュー・テストはそのまま使える。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3  ·  チーム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のチームを作って権限を付ける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チームを作る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org の「Teams」→「New team」。名前は wg-&lt;名前&gt;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公開範囲は Visible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28600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作った運営は maintainer で入る。そのままでよい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66090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リポジトリにチームを付ける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2608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Settings →「Collaborators and teams」→「Add teams」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30098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役割は「Write」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56616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チームを選び、Write で追加する（右の画面）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9410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メンバーは入れない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20624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本人がサイトの「WG に参加」から入る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892040" y="1371600"/>
            <a:ext cx="3794760" cy="297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892040" y="1371600"/>
            <a:ext cx="379476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005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8464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4924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577840" y="1371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Settings › Collaborators and teams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1206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 access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903720" y="1783080"/>
            <a:ext cx="749808" cy="256032"/>
          </a:xfrm>
          <a:prstGeom prst="rect">
            <a:avLst/>
          </a:prstGeom>
          <a:solidFill>
            <a:srgbClr val="F6F8FA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903720" y="178308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people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726680" y="1783080"/>
            <a:ext cx="749808" cy="256032"/>
          </a:xfrm>
          <a:prstGeom prst="rect">
            <a:avLst/>
          </a:prstGeom>
          <a:solidFill>
            <a:srgbClr val="1F883D"/>
          </a:solidFill>
          <a:ln w="12700">
            <a:solidFill>
              <a:srgbClr val="1F883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26680" y="178308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teams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5120640" y="2240280"/>
            <a:ext cx="3337560" cy="658368"/>
          </a:xfrm>
          <a:prstGeom prst="rect">
            <a:avLst/>
          </a:prstGeom>
          <a:solidFill>
            <a:srgbClr val="DDF4FF"/>
          </a:solidFill>
          <a:ln w="12700">
            <a:solidFill>
              <a:srgbClr val="54AEFF"/>
            </a:solidFill>
            <a:prstDash val="solid"/>
          </a:ln>
        </p:spPr>
      </p:sp>
      <p:pic>
        <p:nvPicPr>
          <p:cNvPr id="3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39512" y="2404872"/>
            <a:ext cx="274320" cy="274320"/>
          </a:xfrm>
          <a:prstGeom prst="rect">
            <a:avLst/>
          </a:prstGeom>
        </p:spPr>
      </p:pic>
      <p:sp>
        <p:nvSpPr>
          <p:cNvPr id="37" name="Text 34"/>
          <p:cNvSpPr txBox="1"/>
          <p:nvPr/>
        </p:nvSpPr>
        <p:spPr>
          <a:xfrm>
            <a:off x="5623560" y="230428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wg-countdown</a:t>
            </a:r>
            <a:endParaRPr lang="en-US" sz="1000" dirty="0"/>
          </a:p>
        </p:txBody>
      </p:sp>
      <p:sp>
        <p:nvSpPr>
          <p:cNvPr id="38" name="Text 35"/>
          <p:cNvSpPr txBox="1"/>
          <p:nvPr/>
        </p:nvSpPr>
        <p:spPr>
          <a:xfrm>
            <a:off x="5623560" y="2560320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· 3 members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7452360" y="2432304"/>
            <a:ext cx="91440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452360" y="243230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Role: Write  ▾</a:t>
            </a:r>
            <a:endParaRPr lang="en-US" sz="850" dirty="0"/>
          </a:p>
        </p:txBody>
      </p:sp>
      <p:sp>
        <p:nvSpPr>
          <p:cNvPr id="41" name="Text 38"/>
          <p:cNvSpPr txBox="1"/>
          <p:nvPr/>
        </p:nvSpPr>
        <p:spPr>
          <a:xfrm>
            <a:off x="5120640" y="306324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人ごとではなく、チームに 1 回だけ付ける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5120640" y="338328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メンバーは本人が「WG に参加」から入る。運営はチームに人を入れない。</a:t>
            </a:r>
            <a:endParaRPr lang="en-US" sz="950" dirty="0"/>
          </a:p>
        </p:txBody>
      </p:sp>
      <p:sp>
        <p:nvSpPr>
          <p:cNvPr id="43" name="Text 40"/>
          <p:cNvSpPr txBox="1"/>
          <p:nvPr/>
        </p:nvSpPr>
        <p:spPr>
          <a:xfrm>
            <a:off x="457200" y="464515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抜けた人・卒業した人を外すのは運営（手順 5）。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4  ·  つなぐ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WG紹介にチーム名を入れる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42646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「WG紹介」→ その WG の「編集」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91640"/>
            <a:ext cx="3858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funitclub.org/edit/ にログインして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48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15798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「GitHub のチーム」を入れる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423160"/>
            <a:ext cx="3858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手順 3 で作ったチームの名前（例 wg-countdown）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8803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8803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88950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「保存する」を押す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154680"/>
            <a:ext cx="3858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カードに「WG に参加」が出る（右）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6118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611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62102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アプリができたら直す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886200"/>
            <a:ext cx="3858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状態を「活動中」、Webアプリの URL を入れる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983480" y="1417320"/>
            <a:ext cx="37033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983480" y="1417320"/>
            <a:ext cx="370332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11496" y="1508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276088" y="1508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40680" y="1508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669280" y="141732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funitclub.org/wg/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166360" y="1828800"/>
            <a:ext cx="3337560" cy="242316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0" y="2103120"/>
            <a:ext cx="269748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69280" y="2340864"/>
            <a:ext cx="91440" cy="91440"/>
          </a:xfrm>
          <a:prstGeom prst="ellipse">
            <a:avLst/>
          </a:prstGeom>
          <a:solidFill>
            <a:srgbClr val="B9CAD9"/>
          </a:solidFill>
          <a:ln w="12700">
            <a:solidFill>
              <a:srgbClr val="B9CAD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833872" y="224942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準備中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0" y="256032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WG-04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5669280" y="281635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カウントダウン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5669280" y="3163824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2〜3 行で、何を作る WG か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0" y="3429000"/>
            <a:ext cx="2331720" cy="347472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669280" y="342900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に参加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0" y="4023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← チーム名を入れると出る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4617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「準備中」のままでも参加できる。アプリができたら「活動中」に変える（TOP の件数もここで連動する）。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参加のしくみ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メンバーの参加は自動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920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600200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1719072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219456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アドレスを入れる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51460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本人が「WG に参加」で大学のアドレスを入れる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2404872" y="233172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2560320" y="1417320"/>
            <a:ext cx="1920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2743200" y="1600200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72" y="1719072"/>
            <a:ext cx="219456" cy="21945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743200" y="219456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名簿で確かめる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2743200" y="251460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Classroom のクラブのクラスにいるか（運営の許可で読む）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4507992" y="233172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4663440" y="1417320"/>
            <a:ext cx="1920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846320" y="1600200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5192" y="1719072"/>
            <a:ext cx="219456" cy="21945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4846320" y="219456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メールのリンク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4846320" y="251460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アドレスの持ち主だと確かめる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6611112" y="233172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6766560" y="1417320"/>
            <a:ext cx="1920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949440" y="1600200"/>
            <a:ext cx="457200" cy="45720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312" y="1719072"/>
            <a:ext cx="219456" cy="219456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949440" y="219456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チームに追加</a:t>
            </a:r>
            <a:endParaRPr lang="en-US" sz="1300" dirty="0"/>
          </a:p>
        </p:txBody>
      </p:sp>
      <p:sp>
        <p:nvSpPr>
          <p:cNvPr id="26" name="Text 20"/>
          <p:cNvSpPr txBox="1"/>
          <p:nvPr/>
        </p:nvSpPr>
        <p:spPr>
          <a:xfrm>
            <a:off x="6949440" y="251460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でログイン。org にいなければ招待が届く</a:t>
            </a:r>
            <a:endParaRPr lang="en-US" sz="950" dirty="0"/>
          </a:p>
        </p:txBody>
      </p:sp>
      <p:sp>
        <p:nvSpPr>
          <p:cNvPr id="27" name="Shape 21"/>
          <p:cNvSpPr/>
          <p:nvPr/>
        </p:nvSpPr>
        <p:spPr>
          <a:xfrm>
            <a:off x="457200" y="3429000"/>
            <a:ext cx="2624328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640080" y="3538728"/>
            <a:ext cx="225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運営の作業はない</a:t>
            </a:r>
            <a:endParaRPr lang="en-US" sz="1100" dirty="0"/>
          </a:p>
        </p:txBody>
      </p:sp>
      <p:sp>
        <p:nvSpPr>
          <p:cNvPr id="29" name="Text 23"/>
          <p:cNvSpPr txBox="1"/>
          <p:nvPr/>
        </p:nvSpPr>
        <p:spPr>
          <a:xfrm>
            <a:off x="640080" y="3840480"/>
            <a:ext cx="2304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チームを作ってサイトに登録しておけば、あとは本人が進める。Chat は Classroom の授業のリンクから本人が入る。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3259836" y="3429000"/>
            <a:ext cx="2624328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3442716" y="3538728"/>
            <a:ext cx="225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個人の情報は残らない</a:t>
            </a:r>
            <a:endParaRPr lang="en-US" sz="1100" dirty="0"/>
          </a:p>
        </p:txBody>
      </p:sp>
      <p:sp>
        <p:nvSpPr>
          <p:cNvPr id="32" name="Text 26"/>
          <p:cNvSpPr txBox="1"/>
          <p:nvPr/>
        </p:nvSpPr>
        <p:spPr>
          <a:xfrm>
            <a:off x="3442716" y="3840480"/>
            <a:ext cx="2304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アドレスも GitHub のユーザー名も、サイトは保存もログ出力もしない。メンバーかどうかは画面に出さず、メールで本人にだけ伝える。</a:t>
            </a:r>
            <a:endParaRPr lang="en-US" sz="900" dirty="0"/>
          </a:p>
        </p:txBody>
      </p:sp>
      <p:sp>
        <p:nvSpPr>
          <p:cNvPr id="33" name="Shape 27"/>
          <p:cNvSpPr/>
          <p:nvPr/>
        </p:nvSpPr>
        <p:spPr>
          <a:xfrm>
            <a:off x="6062472" y="3429000"/>
            <a:ext cx="2624328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6245352" y="3538728"/>
            <a:ext cx="225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運営が替わったら</a:t>
            </a:r>
            <a:endParaRPr lang="en-US" sz="1100" dirty="0"/>
          </a:p>
        </p:txBody>
      </p:sp>
      <p:sp>
        <p:nvSpPr>
          <p:cNvPr id="35" name="Text 29"/>
          <p:cNvSpPr txBox="1"/>
          <p:nvPr/>
        </p:nvSpPr>
        <p:spPr>
          <a:xfrm>
            <a:off x="6245352" y="3840480"/>
            <a:ext cx="2304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名簿を読む許可は運営（クラスの先生）のアカウント。替わったら許可し直す（deploy.txt）。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5  ·  見守る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メンバーの交代と、WG の終了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18488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737360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16184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メンバーが抜けたら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85800" y="22860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29514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を抜けた人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124712" y="2560320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チームの「Members」から外す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85800" y="309067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090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309981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卒業・退部なら org から外す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124712" y="3364992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org の「People」→ その人 →「Remove from organization」。チームからも外れる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85800" y="38953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895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124712" y="39044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Classroom からも外す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124712" y="4169664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外さないと「WG に参加」を通れてしまう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66344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892040" y="1618488"/>
            <a:ext cx="457200" cy="45720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1737360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486400" y="16184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が終わったら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4892040" y="22860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892040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5330952" y="229514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サイトの WG 紹介を直す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5330952" y="2560320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記録として残すか、「公開する」を外すか決める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892040" y="309067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892040" y="3090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5330952" y="309981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リポジトリをアーカイブ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5330952" y="3364992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Settings のいちばん下 →「Archive this repository」。チームは消してよい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4892040" y="38953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4892040" y="3895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5330952" y="39044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公開を止める</a:t>
            </a:r>
            <a:endParaRPr lang="en-US" sz="1200" dirty="0"/>
          </a:p>
        </p:txBody>
      </p:sp>
      <p:sp>
        <p:nvSpPr>
          <p:cNvPr id="35" name="Text 31"/>
          <p:cNvSpPr txBox="1"/>
          <p:nvPr/>
        </p:nvSpPr>
        <p:spPr>
          <a:xfrm>
            <a:off x="5330952" y="4169664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homepage の wg-apps.yml から外す。次のデプロイで消える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公開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アプリは homepage の中で動かす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863840" y="777240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0" y="77724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稼働中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256032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18488"/>
            <a:ext cx="292608" cy="2926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78992" y="160020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85800" y="2148840"/>
            <a:ext cx="2103120" cy="603504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222199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wg-&lt;名前&gt;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46888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のリポジトリ（非公開）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1737360" y="2770632"/>
            <a:ext cx="0" cy="237744"/>
          </a:xfrm>
          <a:prstGeom prst="line">
            <a:avLst/>
          </a:prstGeom>
          <a:noFill/>
          <a:ln w="15875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685800" y="3017520"/>
            <a:ext cx="2103120" cy="603504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309067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 Actions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" y="333756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への push で起動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1737360" y="3639312"/>
            <a:ext cx="0" cy="237744"/>
          </a:xfrm>
          <a:prstGeom prst="line">
            <a:avLst/>
          </a:prstGeom>
          <a:noFill/>
          <a:ln w="15875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685800" y="3886200"/>
            <a:ext cx="2103120" cy="603504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2960" y="395935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homepage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420624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取り込んで zip を作る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703320" y="1417320"/>
            <a:ext cx="49834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AD9"/>
            </a:solidFill>
            <a:prstDash val="dash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618488"/>
            <a:ext cx="310896" cy="310896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4343400" y="1600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Azure</a:t>
            </a:r>
            <a:endParaRPr lang="en-US" sz="1500" dirty="0"/>
          </a:p>
        </p:txBody>
      </p:sp>
      <p:sp>
        <p:nvSpPr>
          <p:cNvPr id="23" name="Shape 19"/>
          <p:cNvSpPr/>
          <p:nvPr/>
        </p:nvSpPr>
        <p:spPr>
          <a:xfrm>
            <a:off x="4078224" y="2002536"/>
            <a:ext cx="2331720" cy="2286000"/>
          </a:xfrm>
          <a:prstGeom prst="rect">
            <a:avLst/>
          </a:prstGeom>
          <a:solidFill>
            <a:srgbClr val="CFE8FC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4005072" y="2075688"/>
            <a:ext cx="2331720" cy="2286000"/>
          </a:xfrm>
          <a:prstGeom prst="rect">
            <a:avLst/>
          </a:prstGeom>
          <a:solidFill>
            <a:srgbClr val="CFE8FC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3931920" y="2148840"/>
            <a:ext cx="2331720" cy="2286000"/>
          </a:xfrm>
          <a:prstGeom prst="rect">
            <a:avLst/>
          </a:prstGeom>
          <a:solidFill>
            <a:srgbClr val="E4F2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4096512" y="228600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 Service: funITclub</a:t>
            </a:r>
            <a:endParaRPr lang="en-US" sz="1000" dirty="0"/>
          </a:p>
        </p:txBody>
      </p:sp>
      <p:sp>
        <p:nvSpPr>
          <p:cNvPr id="27" name="Shape 23"/>
          <p:cNvSpPr/>
          <p:nvPr/>
        </p:nvSpPr>
        <p:spPr>
          <a:xfrm>
            <a:off x="4096512" y="2651760"/>
            <a:ext cx="2002536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4206240" y="2743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wg/&lt;名前&gt;/</a:t>
            </a:r>
            <a:endParaRPr lang="en-US" sz="1300" dirty="0"/>
          </a:p>
        </p:txBody>
      </p:sp>
      <p:sp>
        <p:nvSpPr>
          <p:cNvPr id="29" name="Text 25"/>
          <p:cNvSpPr txBox="1"/>
          <p:nvPr/>
        </p:nvSpPr>
        <p:spPr>
          <a:xfrm>
            <a:off x="4206240" y="304495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/&lt;名前&gt;/ で動く。一覧から辿って開く</a:t>
            </a:r>
            <a:endParaRPr lang="en-US" sz="950" dirty="0"/>
          </a:p>
        </p:txBody>
      </p:sp>
      <p:sp>
        <p:nvSpPr>
          <p:cNvPr id="30" name="Text 26"/>
          <p:cNvSpPr txBox="1"/>
          <p:nvPr/>
        </p:nvSpPr>
        <p:spPr>
          <a:xfrm>
            <a:off x="4096512" y="36576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デプロイ時だけ取り込む</a:t>
            </a:r>
            <a:endParaRPr lang="en-US" sz="1100" dirty="0"/>
          </a:p>
        </p:txBody>
      </p:sp>
      <p:sp>
        <p:nvSpPr>
          <p:cNvPr id="31" name="Text 27"/>
          <p:cNvSpPr txBox="1"/>
          <p:nvPr/>
        </p:nvSpPr>
        <p:spPr>
          <a:xfrm>
            <a:off x="4096512" y="39319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公表したら works/ へ移す</a:t>
            </a:r>
            <a:endParaRPr lang="en-US" sz="950" dirty="0"/>
          </a:p>
        </p:txBody>
      </p:sp>
      <p:sp>
        <p:nvSpPr>
          <p:cNvPr id="32" name="Shape 28"/>
          <p:cNvSpPr/>
          <p:nvPr/>
        </p:nvSpPr>
        <p:spPr>
          <a:xfrm>
            <a:off x="6537960" y="2148840"/>
            <a:ext cx="1920240" cy="2286000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702552" y="228600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5A6B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同じアプリの中</a:t>
            </a:r>
            <a:endParaRPr lang="en-US" sz="1000" dirty="0"/>
          </a:p>
        </p:txBody>
      </p:sp>
      <p:sp>
        <p:nvSpPr>
          <p:cNvPr id="34" name="Text 30"/>
          <p:cNvSpPr txBox="1"/>
          <p:nvPr/>
        </p:nvSpPr>
        <p:spPr>
          <a:xfrm>
            <a:off x="6702552" y="265176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homepage の画面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PostgreSQL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Key Vault</a:t>
            </a:r>
            <a:endParaRPr lang="en-US" sz="1100" dirty="0"/>
          </a:p>
        </p:txBody>
      </p:sp>
      <p:pic>
        <p:nvPicPr>
          <p:cNvPr id="3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2552" y="3721608"/>
            <a:ext cx="182880" cy="182880"/>
          </a:xfrm>
          <a:prstGeom prst="rect">
            <a:avLst/>
          </a:prstGeom>
        </p:spPr>
      </p:pic>
      <p:sp>
        <p:nvSpPr>
          <p:cNvPr id="36" name="Text 31"/>
          <p:cNvSpPr txBox="1"/>
          <p:nvPr/>
        </p:nvSpPr>
        <p:spPr>
          <a:xfrm>
            <a:off x="6949440" y="368503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のアプリも同じものを使う</a:t>
            </a:r>
            <a:endParaRPr lang="en-US" sz="1000" dirty="0"/>
          </a:p>
        </p:txBody>
      </p:sp>
      <p:sp>
        <p:nvSpPr>
          <p:cNvPr id="37" name="Shape 32"/>
          <p:cNvSpPr/>
          <p:nvPr/>
        </p:nvSpPr>
        <p:spPr>
          <a:xfrm>
            <a:off x="3035808" y="4187952"/>
            <a:ext cx="877824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9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公開  ·  登録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でやること（WG ごと一度だけ）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85800" y="1618488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1280160" y="16184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アプリをこのリポジトリに入れる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85800" y="22860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685800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29514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org の設定を開く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124712" y="2560320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github.com/funITclub →「Settings」→ 左の下「Developer settings」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85800" y="309067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685800" y="3090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309981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App の設定に入る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124712" y="3364992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「GitHub Apps」→ funitclub-wg-deploy の「Edit」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85800" y="38953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685800" y="3895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124712" y="39044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リポジトリを足す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124712" y="4169664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左の「Install App」→ funITclub の歯車 →「Select repositories」→ 保存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66344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Shape 18"/>
          <p:cNvSpPr/>
          <p:nvPr/>
        </p:nvSpPr>
        <p:spPr>
          <a:xfrm>
            <a:off x="4892040" y="1618488"/>
            <a:ext cx="457200" cy="45720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23" name="Text 19"/>
          <p:cNvSpPr txBox="1"/>
          <p:nvPr/>
        </p:nvSpPr>
        <p:spPr>
          <a:xfrm>
            <a:off x="5486400" y="16184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鍵とシークレットを登録する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4892040" y="22860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25" name="Text 21"/>
          <p:cNvSpPr txBox="1"/>
          <p:nvPr/>
        </p:nvSpPr>
        <p:spPr>
          <a:xfrm>
            <a:off x="4892040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5330952" y="229514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pem を作る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5330952" y="2560320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App の左「Credentials」→「Key pairs」→「New key」。この時だけ落とせる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892040" y="309067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29" name="Text 25"/>
          <p:cNvSpPr txBox="1"/>
          <p:nvPr/>
        </p:nvSpPr>
        <p:spPr>
          <a:xfrm>
            <a:off x="4892040" y="3090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5330952" y="309981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アプリの登録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5330952" y="3364992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の「Settings」→「Secrets and variables」→「Actions」→ HOMEPAGE_DEPLOY_APP_ID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4892040" y="38953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33" name="Text 29"/>
          <p:cNvSpPr txBox="1"/>
          <p:nvPr/>
        </p:nvSpPr>
        <p:spPr>
          <a:xfrm>
            <a:off x="4892040" y="3895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5330952" y="39044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pem の登録</a:t>
            </a:r>
            <a:endParaRPr lang="en-US" sz="1200" dirty="0"/>
          </a:p>
        </p:txBody>
      </p:sp>
      <p:sp>
        <p:nvSpPr>
          <p:cNvPr id="35" name="Text 31"/>
          <p:cNvSpPr txBox="1"/>
          <p:nvPr/>
        </p:nvSpPr>
        <p:spPr>
          <a:xfrm>
            <a:off x="5330952" y="4169664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同じ画面で HOMEPAGE_DEPLOY_PRIVATE_KEY に .pem の中身。入れたら消す</a:t>
            </a:r>
            <a:endParaRPr lang="en-US" sz="1000" dirty="0"/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" y="1737360"/>
            <a:ext cx="219456" cy="21945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457200" y="46817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App ID は App の「General」に出ている数字。鍵は作ったときだけ表示されるので、登録したら手元の .pem は消す。</a:t>
            </a:r>
            <a:endParaRPr lang="en-US" sz="1050" dirty="0"/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10912" y="1737360"/>
            <a:ext cx="219456" cy="21945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9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公開  ·  登録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homepage でやること・確かめ方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85800" y="1618488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1280160" y="16184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homepage でやること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85800" y="22860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685800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29514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wg-apps.yml に 1 行足す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124712" y="2560320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repo・take・as を書いて push。これで /&lt;名前&gt;/ が生える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85800" y="309067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685800" y="3090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309981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Webアプリの URL を入れる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124712" y="3364992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アプリができたら /edit/ の WG紹介に。状態も「活動中」にする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85800" y="38953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685800" y="3895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124712" y="39044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公表するときは works へ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124712" y="4169664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wg-apps.yml の as を works に変える（URL はそのまま）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66344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Shape 18"/>
          <p:cNvSpPr/>
          <p:nvPr/>
        </p:nvSpPr>
        <p:spPr>
          <a:xfrm>
            <a:off x="4892040" y="1618488"/>
            <a:ext cx="457200" cy="45720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23" name="Text 19"/>
          <p:cNvSpPr txBox="1"/>
          <p:nvPr/>
        </p:nvSpPr>
        <p:spPr>
          <a:xfrm>
            <a:off x="5486400" y="16184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できたか確かめる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4892040" y="22860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25" name="Text 21"/>
          <p:cNvSpPr txBox="1"/>
          <p:nvPr/>
        </p:nvSpPr>
        <p:spPr>
          <a:xfrm>
            <a:off x="4892040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5330952" y="229514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 Actions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5330952" y="2560320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マージの 10 秒後に緑。homepage のデプロイを呼べたということ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892040" y="309067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29" name="Text 25"/>
          <p:cNvSpPr txBox="1"/>
          <p:nvPr/>
        </p:nvSpPr>
        <p:spPr>
          <a:xfrm>
            <a:off x="4892040" y="3090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5330952" y="309981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homepage の Actions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5330952" y="3364992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5〜9 分で緑。ここが赤いときは公開されていない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4892040" y="38953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33" name="Text 29"/>
          <p:cNvSpPr txBox="1"/>
          <p:nvPr/>
        </p:nvSpPr>
        <p:spPr>
          <a:xfrm>
            <a:off x="4892040" y="3895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5330952" y="39044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一覧から開く</a:t>
            </a:r>
            <a:endParaRPr lang="en-US" sz="1200" dirty="0"/>
          </a:p>
        </p:txBody>
      </p:sp>
      <p:sp>
        <p:nvSpPr>
          <p:cNvPr id="35" name="Text 31"/>
          <p:cNvSpPr txBox="1"/>
          <p:nvPr/>
        </p:nvSpPr>
        <p:spPr>
          <a:xfrm>
            <a:off x="5330952" y="4169664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直打ちでは開かない。カードのボタンから辿る</a:t>
            </a:r>
            <a:endParaRPr lang="en-US" sz="100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46817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wg-apps.yml に登録するまでは取り込まれない。WG がマージしても、サイトには出ない（homepage が作り直されるだけ）。</a:t>
            </a:r>
            <a:endParaRPr lang="en-US" sz="1050" dirty="0"/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10912" y="1737360"/>
            <a:ext cx="219456" cy="219456"/>
          </a:xfrm>
          <a:prstGeom prst="rect">
            <a:avLst/>
          </a:prstGeom>
        </p:spPr>
      </p:pic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4672" y="1737360"/>
            <a:ext cx="219456" cy="21945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公開  ·  気をつけること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同じアプリで動かすので、3 つに気をつける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624328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737360"/>
            <a:ext cx="658368" cy="65836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2696" y="1908536"/>
            <a:ext cx="316017" cy="31601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560320"/>
            <a:ext cx="207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一覧から入る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999232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 を直に開いた人は一覧へ送り返される。入口を funitclub に集めるため。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259836" y="1463040"/>
            <a:ext cx="2624328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534156" y="1737360"/>
            <a:ext cx="658368" cy="65836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5332" y="1908536"/>
            <a:ext cx="316017" cy="31601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534156" y="2560320"/>
            <a:ext cx="207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壊すと全体に響く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3534156" y="2999232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homepage と同じプロセス・同じ DB。起動に失敗するとサイト全体が止まる。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062472" y="1463040"/>
            <a:ext cx="2624328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36792" y="1737360"/>
            <a:ext cx="658368" cy="65836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7968" y="1908536"/>
            <a:ext cx="316017" cy="31601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336792" y="2560320"/>
            <a:ext cx="207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出す前に確かめる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6336792" y="2999232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取り込んだ状態でテストと migrate を流す。応答が無ければ直前の状態に戻す。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運営は homepage の wg-apps.yml に WG を登録し、WG のリポジトリに起動用のシークレットを入れる（deploy.txt）。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WG 立ち上げガイド 01 リポジトリの作り方と運用</dc:title>
  <dc:subject>PptxGenJS Presentation</dc:subject>
  <dc:creator>PptxGenJS</dc:creator>
  <cp:lastModifiedBy>PptxGenJS</cp:lastModifiedBy>
  <cp:revision>1</cp:revision>
  <dcterms:created xsi:type="dcterms:W3CDTF">2026-09-20T02:11:52Z</dcterms:created>
  <dcterms:modified xsi:type="dcterms:W3CDTF">2026-09-20T02:11:52Z</dcterms:modified>
</cp:coreProperties>
</file>