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7" r:id="rId18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2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運営向けの資料です。WG が立ち上がるたびに、この順番で作業します。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WG が立ち上がったら、まずサイトに「準備中」で載せます。アプリがまだでも構いません。リポジトリとチームが用意できたら、WG紹介にチーム名を入れて、メンバーが自分で参加できるようにします。main を守る仕組みはテンプレートに入っているので、運営の作業はありません。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WG は立ち上がった時点で、アプリがまだでも「準備中」で載せます。掲示しておくと、ほかのメンバーが活動を知って参加できます。「GitHub のチーム」を入れた WG にだけ「WG に参加」が出ます。「活動中」の WG だけが TOP の「活動中のWG」の件数に入ります。Webアプリの URL が空欄のうちは「作成中」ページに繋がります。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Owner を自分の個人アカウントのままにすると、org の外にリポジトリができてしまいます。作り直しになるので、必ず funITclub を選んでください。org のメンバーの基本権限は No permission にしてあるので、非公開のリポジトリは WG のチームの人だけが見られます。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WG のリポジトリは非公開にしています。無料プランでは非公開のリポジトリに main を守るルールを掛けられないので、開発環境の側でうっかりを防ぎます。プルリクエスト、レビュー、テストはそのまま使えます。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Write があれば、ブランチを作って送り、プルリクエストを出してマージできます。リポジトリの設定を変えられる Maintain や Admin は付けません。チームの名前はリポジトリと同じ wg-&lt;名前&gt; にそろえます。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チーム名を入れるまで「WG に参加」は出ません。リポジトリとチームを作ってから入れてください。状態が「準備中」でも参加はできます。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メンバーかどうかは Classroom のクラブのクラスの名簿で決まります。クラブに登録するときに Classroom に入れておけば、その人は自分で WG に参加できます。卒業・退部した人は Classroom からも外してください。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WG のアプリを載せるときの登録です。GitHub App をそのリポジトリにも入れ、起動用のシークレットを 2 つ置き、homepage の wg-apps.yml に 1 行足します。ここまでやって、はじめて取り込みの対象になります。手順の細かいところは homepage の deploy.txt にあります。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まだ用意していない構成案です。WG のアプリは Container Apps で動かし、イメージは GitHub のコンテナレジストリ（ghcr.io）に置きます。WG ごとにリソースグループ（RG）を分け、homepage と DB がある hirahira には入れません。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homepage の自動デプロイも、権限を App Service 1 つに絞り、RG の hirahira には付けていません。WG でも同じ考え方で、GitHub Actions から届く範囲を WG の RG に閉じます。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-9-1.png"/><Relationship Id="rId3" Type="http://schemas.openxmlformats.org/officeDocument/2006/relationships/image" Target="../media/image-9-2.png"/><Relationship Id="rId4" Type="http://schemas.openxmlformats.org/officeDocument/2006/relationships/notesSlide" Target="../notesSlides/notesSlide9.xml"/><Relationship Id="rId5" Type="http://schemas.openxmlformats.org/officeDocument/2006/relationships/image" Target="../media/image-8-4.png"/><Relationship Id="rId6" Type="http://schemas.openxmlformats.org/officeDocument/2006/relationships/image" Target="../media/image-2-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1E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B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fun IT club — WG 立ち上げガイド  01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47548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リポジトリを</a:t>
            </a:r>
            <a:endParaRPr lang="en-US" sz="4000" dirty="0"/>
          </a:p>
          <a:p>
            <a:pPr indent="0" marL="0">
              <a:buNone/>
            </a:pPr>
            <a:r>
              <a:rPr lang="en-US" sz="4000" b="1" dirty="0">
                <a:solidFill>
                  <a:srgbClr val="5BB8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作って見守る。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278892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DDDDD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WG のリポジトリの作り方（非公開）、main の守り方、WG のチーム、サイトへの掲載、メンバーの交代と終了。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3840480"/>
            <a:ext cx="822960" cy="274320"/>
          </a:xfrm>
          <a:prstGeom prst="roundRect">
            <a:avLst>
              <a:gd name="adj" fmla="val 50000"/>
            </a:avLst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57200" y="384048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運営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44348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B9CA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2026-09  ·  fun IT club 運営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394960" y="868680"/>
            <a:ext cx="3291840" cy="3520440"/>
          </a:xfrm>
          <a:prstGeom prst="rect">
            <a:avLst/>
          </a:prstGeom>
          <a:solidFill>
            <a:srgbClr val="1A4A70"/>
          </a:solidFill>
          <a:ln w="12700">
            <a:solidFill>
              <a:srgbClr val="1A4A7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623560" y="1024128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B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資料は 5 本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5623560" y="1417320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B9CA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00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6035040" y="1417320"/>
            <a:ext cx="2514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B9CAD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概要</a:t>
            </a:r>
            <a:endParaRPr lang="en-US" sz="1150" dirty="0"/>
          </a:p>
        </p:txBody>
      </p:sp>
      <p:sp>
        <p:nvSpPr>
          <p:cNvPr id="12" name="Text 10"/>
          <p:cNvSpPr txBox="1"/>
          <p:nvPr/>
        </p:nvSpPr>
        <p:spPr>
          <a:xfrm>
            <a:off x="6035040" y="1664208"/>
            <a:ext cx="2514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B9CAD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全員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5486400" y="1965960"/>
            <a:ext cx="3108960" cy="548640"/>
          </a:xfrm>
          <a:prstGeom prst="rect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623560" y="2020824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5BB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6035040" y="2020824"/>
            <a:ext cx="2514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リポジトリの作り方と運用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6035040" y="2267712"/>
            <a:ext cx="2514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B8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運営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5623560" y="2624328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B9CA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6035040" y="2624328"/>
            <a:ext cx="2514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B9CAD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パソコンの準備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6035040" y="2871216"/>
            <a:ext cx="2514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B9CAD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全員・初回</a:t>
            </a:r>
            <a:endParaRPr lang="en-US" sz="900" dirty="0"/>
          </a:p>
        </p:txBody>
      </p:sp>
      <p:sp>
        <p:nvSpPr>
          <p:cNvPr id="20" name="Text 18"/>
          <p:cNvSpPr txBox="1"/>
          <p:nvPr/>
        </p:nvSpPr>
        <p:spPr>
          <a:xfrm>
            <a:off x="5623560" y="3227832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B9CA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6035040" y="3227832"/>
            <a:ext cx="2514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B9CAD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開発の進め方</a:t>
            </a:r>
            <a:endParaRPr lang="en-US" sz="1150" dirty="0"/>
          </a:p>
        </p:txBody>
      </p:sp>
      <p:sp>
        <p:nvSpPr>
          <p:cNvPr id="22" name="Text 20"/>
          <p:cNvSpPr txBox="1"/>
          <p:nvPr/>
        </p:nvSpPr>
        <p:spPr>
          <a:xfrm>
            <a:off x="6035040" y="3474720"/>
            <a:ext cx="2514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B9CAD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全員</a:t>
            </a:r>
            <a:endParaRPr lang="en-US" sz="900" dirty="0"/>
          </a:p>
        </p:txBody>
      </p:sp>
      <p:sp>
        <p:nvSpPr>
          <p:cNvPr id="23" name="Text 21"/>
          <p:cNvSpPr txBox="1"/>
          <p:nvPr/>
        </p:nvSpPr>
        <p:spPr>
          <a:xfrm>
            <a:off x="5623560" y="3831336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B9CA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6035040" y="3831336"/>
            <a:ext cx="2514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B9CAD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アプリケーション構成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6035040" y="4078224"/>
            <a:ext cx="2514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B9CAD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全員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2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01  ·  運営の作業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WG が立ち上がったらやること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463040"/>
            <a:ext cx="1499616" cy="31546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21792" y="1664208"/>
            <a:ext cx="384048" cy="384048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21792" y="1664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4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08176" y="1709928"/>
            <a:ext cx="292608" cy="292608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621792" y="2240280"/>
            <a:ext cx="12252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載せる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621792" y="2697480"/>
            <a:ext cx="1188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立ち上げたらすぐ、サイトに「準備中」で載せる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621792" y="4178808"/>
            <a:ext cx="914400" cy="237744"/>
          </a:xfrm>
          <a:prstGeom prst="roundRect">
            <a:avLst>
              <a:gd name="adj" fmla="val 50000"/>
            </a:avLst>
          </a:prstGeom>
          <a:solidFill>
            <a:srgbClr val="E4F2FF"/>
          </a:solidFill>
          <a:ln w="12700">
            <a:solidFill>
              <a:srgbClr val="E4F2F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21792" y="4178808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4A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すぐ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2139696" y="1463040"/>
            <a:ext cx="1499616" cy="31546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2304288" y="1664208"/>
            <a:ext cx="384048" cy="384048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2304288" y="1664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400" dirty="0"/>
          </a:p>
        </p:txBody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90672" y="1709928"/>
            <a:ext cx="292608" cy="292608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2304288" y="2240280"/>
            <a:ext cx="12252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作る</a:t>
            </a:r>
            <a:endParaRPr lang="en-US" sz="1600" dirty="0"/>
          </a:p>
        </p:txBody>
      </p:sp>
      <p:sp>
        <p:nvSpPr>
          <p:cNvPr id="17" name="Text 13"/>
          <p:cNvSpPr txBox="1"/>
          <p:nvPr/>
        </p:nvSpPr>
        <p:spPr>
          <a:xfrm>
            <a:off x="2304288" y="2697480"/>
            <a:ext cx="1188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テンプレートからリポジトリを作る（非公開）</a:t>
            </a:r>
            <a:endParaRPr lang="en-US" sz="1100" dirty="0"/>
          </a:p>
        </p:txBody>
      </p:sp>
      <p:sp>
        <p:nvSpPr>
          <p:cNvPr id="18" name="Shape 14"/>
          <p:cNvSpPr/>
          <p:nvPr/>
        </p:nvSpPr>
        <p:spPr>
          <a:xfrm>
            <a:off x="2304288" y="4178808"/>
            <a:ext cx="914400" cy="237744"/>
          </a:xfrm>
          <a:prstGeom prst="roundRect">
            <a:avLst>
              <a:gd name="adj" fmla="val 50000"/>
            </a:avLst>
          </a:prstGeom>
          <a:solidFill>
            <a:srgbClr val="E4F2FF"/>
          </a:solidFill>
          <a:ln w="12700">
            <a:solidFill>
              <a:srgbClr val="E4F2FF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2304288" y="4178808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4A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一度だけ</a:t>
            </a:r>
            <a:endParaRPr lang="en-US" sz="900" dirty="0"/>
          </a:p>
        </p:txBody>
      </p:sp>
      <p:sp>
        <p:nvSpPr>
          <p:cNvPr id="20" name="Shape 16"/>
          <p:cNvSpPr/>
          <p:nvPr/>
        </p:nvSpPr>
        <p:spPr>
          <a:xfrm>
            <a:off x="3822192" y="1463040"/>
            <a:ext cx="1499616" cy="31546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1" name="Shape 17"/>
          <p:cNvSpPr/>
          <p:nvPr/>
        </p:nvSpPr>
        <p:spPr>
          <a:xfrm>
            <a:off x="3986784" y="1664208"/>
            <a:ext cx="384048" cy="384048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3986784" y="1664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400" dirty="0"/>
          </a:p>
        </p:txBody>
      </p:sp>
      <p:pic>
        <p:nvPicPr>
          <p:cNvPr id="2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73168" y="1709928"/>
            <a:ext cx="292608" cy="292608"/>
          </a:xfrm>
          <a:prstGeom prst="rect">
            <a:avLst/>
          </a:prstGeom>
        </p:spPr>
      </p:pic>
      <p:sp>
        <p:nvSpPr>
          <p:cNvPr id="24" name="Text 19"/>
          <p:cNvSpPr txBox="1"/>
          <p:nvPr/>
        </p:nvSpPr>
        <p:spPr>
          <a:xfrm>
            <a:off x="3986784" y="2240280"/>
            <a:ext cx="12252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チーム</a:t>
            </a:r>
            <a:endParaRPr lang="en-US" sz="1600" dirty="0"/>
          </a:p>
        </p:txBody>
      </p:sp>
      <p:sp>
        <p:nvSpPr>
          <p:cNvPr id="25" name="Text 20"/>
          <p:cNvSpPr txBox="1"/>
          <p:nvPr/>
        </p:nvSpPr>
        <p:spPr>
          <a:xfrm>
            <a:off x="3986784" y="2697480"/>
            <a:ext cx="1188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WG のチームを作り、リポジトリに Write を付ける</a:t>
            </a:r>
            <a:endParaRPr lang="en-US" sz="1100" dirty="0"/>
          </a:p>
        </p:txBody>
      </p:sp>
      <p:sp>
        <p:nvSpPr>
          <p:cNvPr id="26" name="Shape 21"/>
          <p:cNvSpPr/>
          <p:nvPr/>
        </p:nvSpPr>
        <p:spPr>
          <a:xfrm>
            <a:off x="3986784" y="4178808"/>
            <a:ext cx="914400" cy="237744"/>
          </a:xfrm>
          <a:prstGeom prst="roundRect">
            <a:avLst>
              <a:gd name="adj" fmla="val 50000"/>
            </a:avLst>
          </a:prstGeom>
          <a:solidFill>
            <a:srgbClr val="E4F2FF"/>
          </a:solidFill>
          <a:ln w="12700">
            <a:solidFill>
              <a:srgbClr val="E4F2FF"/>
            </a:solidFill>
            <a:prstDash val="solid"/>
          </a:ln>
        </p:spPr>
      </p:sp>
      <p:sp>
        <p:nvSpPr>
          <p:cNvPr id="27" name="Text 22"/>
          <p:cNvSpPr txBox="1"/>
          <p:nvPr/>
        </p:nvSpPr>
        <p:spPr>
          <a:xfrm>
            <a:off x="3986784" y="4178808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4A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一度だけ</a:t>
            </a:r>
            <a:endParaRPr lang="en-US" sz="900" dirty="0"/>
          </a:p>
        </p:txBody>
      </p:sp>
      <p:sp>
        <p:nvSpPr>
          <p:cNvPr id="28" name="Shape 23"/>
          <p:cNvSpPr/>
          <p:nvPr/>
        </p:nvSpPr>
        <p:spPr>
          <a:xfrm>
            <a:off x="5504688" y="1463040"/>
            <a:ext cx="1499616" cy="31546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9" name="Shape 24"/>
          <p:cNvSpPr/>
          <p:nvPr/>
        </p:nvSpPr>
        <p:spPr>
          <a:xfrm>
            <a:off x="5669280" y="1664208"/>
            <a:ext cx="384048" cy="384048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30" name="Text 25"/>
          <p:cNvSpPr txBox="1"/>
          <p:nvPr/>
        </p:nvSpPr>
        <p:spPr>
          <a:xfrm>
            <a:off x="5669280" y="1664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400" dirty="0"/>
          </a:p>
        </p:txBody>
      </p:sp>
      <p:pic>
        <p:nvPicPr>
          <p:cNvPr id="3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55664" y="1709928"/>
            <a:ext cx="292608" cy="292608"/>
          </a:xfrm>
          <a:prstGeom prst="rect">
            <a:avLst/>
          </a:prstGeom>
        </p:spPr>
      </p:pic>
      <p:sp>
        <p:nvSpPr>
          <p:cNvPr id="32" name="Text 26"/>
          <p:cNvSpPr txBox="1"/>
          <p:nvPr/>
        </p:nvSpPr>
        <p:spPr>
          <a:xfrm>
            <a:off x="5669280" y="2240280"/>
            <a:ext cx="12252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つなぐ</a:t>
            </a:r>
            <a:endParaRPr lang="en-US" sz="1600" dirty="0"/>
          </a:p>
        </p:txBody>
      </p:sp>
      <p:sp>
        <p:nvSpPr>
          <p:cNvPr id="33" name="Text 27"/>
          <p:cNvSpPr txBox="1"/>
          <p:nvPr/>
        </p:nvSpPr>
        <p:spPr>
          <a:xfrm>
            <a:off x="5669280" y="2697480"/>
            <a:ext cx="1188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WG紹介にチーム名を入れる。参加ボタンが出る</a:t>
            </a:r>
            <a:endParaRPr lang="en-US" sz="1100" dirty="0"/>
          </a:p>
        </p:txBody>
      </p:sp>
      <p:sp>
        <p:nvSpPr>
          <p:cNvPr id="34" name="Shape 28"/>
          <p:cNvSpPr/>
          <p:nvPr/>
        </p:nvSpPr>
        <p:spPr>
          <a:xfrm>
            <a:off x="5669280" y="4178808"/>
            <a:ext cx="914400" cy="237744"/>
          </a:xfrm>
          <a:prstGeom prst="roundRect">
            <a:avLst>
              <a:gd name="adj" fmla="val 50000"/>
            </a:avLst>
          </a:prstGeom>
          <a:solidFill>
            <a:srgbClr val="E4F2FF"/>
          </a:solidFill>
          <a:ln w="12700">
            <a:solidFill>
              <a:srgbClr val="E4F2FF"/>
            </a:solidFill>
            <a:prstDash val="solid"/>
          </a:ln>
        </p:spPr>
      </p:sp>
      <p:sp>
        <p:nvSpPr>
          <p:cNvPr id="35" name="Text 29"/>
          <p:cNvSpPr txBox="1"/>
          <p:nvPr/>
        </p:nvSpPr>
        <p:spPr>
          <a:xfrm>
            <a:off x="5669280" y="4178808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4A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一度だけ</a:t>
            </a:r>
            <a:endParaRPr lang="en-US" sz="900" dirty="0"/>
          </a:p>
        </p:txBody>
      </p:sp>
      <p:sp>
        <p:nvSpPr>
          <p:cNvPr id="36" name="Shape 30"/>
          <p:cNvSpPr/>
          <p:nvPr/>
        </p:nvSpPr>
        <p:spPr>
          <a:xfrm>
            <a:off x="7187184" y="1463040"/>
            <a:ext cx="1499616" cy="31546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37" name="Shape 31"/>
          <p:cNvSpPr/>
          <p:nvPr/>
        </p:nvSpPr>
        <p:spPr>
          <a:xfrm>
            <a:off x="7351776" y="1664208"/>
            <a:ext cx="384048" cy="384048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38" name="Text 32"/>
          <p:cNvSpPr txBox="1"/>
          <p:nvPr/>
        </p:nvSpPr>
        <p:spPr>
          <a:xfrm>
            <a:off x="7351776" y="1664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1400" dirty="0"/>
          </a:p>
        </p:txBody>
      </p:sp>
      <p:pic>
        <p:nvPicPr>
          <p:cNvPr id="3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38160" y="1709928"/>
            <a:ext cx="292608" cy="292608"/>
          </a:xfrm>
          <a:prstGeom prst="rect">
            <a:avLst/>
          </a:prstGeom>
        </p:spPr>
      </p:pic>
      <p:sp>
        <p:nvSpPr>
          <p:cNvPr id="40" name="Text 33"/>
          <p:cNvSpPr txBox="1"/>
          <p:nvPr/>
        </p:nvSpPr>
        <p:spPr>
          <a:xfrm>
            <a:off x="7351776" y="2240280"/>
            <a:ext cx="12252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見守る</a:t>
            </a:r>
            <a:endParaRPr lang="en-US" sz="1600" dirty="0"/>
          </a:p>
        </p:txBody>
      </p:sp>
      <p:sp>
        <p:nvSpPr>
          <p:cNvPr id="41" name="Text 34"/>
          <p:cNvSpPr txBox="1"/>
          <p:nvPr/>
        </p:nvSpPr>
        <p:spPr>
          <a:xfrm>
            <a:off x="7351776" y="2697480"/>
            <a:ext cx="1188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抜けた人を外し、終わったらアーカイブ</a:t>
            </a:r>
            <a:endParaRPr lang="en-US" sz="1100" dirty="0"/>
          </a:p>
        </p:txBody>
      </p:sp>
      <p:sp>
        <p:nvSpPr>
          <p:cNvPr id="42" name="Shape 35"/>
          <p:cNvSpPr/>
          <p:nvPr/>
        </p:nvSpPr>
        <p:spPr>
          <a:xfrm>
            <a:off x="7351776" y="4178808"/>
            <a:ext cx="914400" cy="237744"/>
          </a:xfrm>
          <a:prstGeom prst="roundRect">
            <a:avLst>
              <a:gd name="adj" fmla="val 50000"/>
            </a:avLst>
          </a:prstGeom>
          <a:solidFill>
            <a:srgbClr val="E4F2FF"/>
          </a:solidFill>
          <a:ln w="12700">
            <a:solidFill>
              <a:srgbClr val="E4F2FF"/>
            </a:solidFill>
            <a:prstDash val="solid"/>
          </a:ln>
        </p:spPr>
      </p:sp>
      <p:sp>
        <p:nvSpPr>
          <p:cNvPr id="43" name="Text 36"/>
          <p:cNvSpPr txBox="1"/>
          <p:nvPr/>
        </p:nvSpPr>
        <p:spPr>
          <a:xfrm>
            <a:off x="7351776" y="4178808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4A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そのつど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2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01  ·  手順 1  ·  載せる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まずサイトに「準備中」で載せる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3716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896112" y="1380744"/>
            <a:ext cx="3767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funitclub.org/edit/ にログイン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896112" y="1645920"/>
            <a:ext cx="37673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編集画面は公開サイトからリンクしていない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57200" y="201168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7200" y="20116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896112" y="2020824"/>
            <a:ext cx="3767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「WG紹介」→「WGを追加」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457200" y="265176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57200" y="265176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896112" y="2660904"/>
            <a:ext cx="3767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右のように入れる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896112" y="2926080"/>
            <a:ext cx="37673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状態は「準備中」。GitHub のチームは空欄のまま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457200" y="329184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57200" y="32918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896112" y="3300984"/>
            <a:ext cx="3767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「追加する」を押す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896112" y="3566160"/>
            <a:ext cx="37673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WG 一覧に「準備中」のカードが出る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457200" y="393192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57200" y="39319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896112" y="3941064"/>
            <a:ext cx="3767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チーム名はあとで入れる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896112" y="4206240"/>
            <a:ext cx="37673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リポジトリとチームを作ってから（手順 4）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4892040" y="1371600"/>
            <a:ext cx="3794760" cy="3246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4892040" y="1371600"/>
            <a:ext cx="3794760" cy="274320"/>
          </a:xfrm>
          <a:prstGeom prst="rect">
            <a:avLst/>
          </a:prstGeom>
          <a:solidFill>
            <a:srgbClr val="E3E7EB"/>
          </a:solidFill>
          <a:ln w="12700">
            <a:solidFill>
              <a:srgbClr val="E3E7E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020056" y="1463040"/>
            <a:ext cx="91440" cy="91440"/>
          </a:xfrm>
          <a:prstGeom prst="ellipse">
            <a:avLst/>
          </a:prstGeom>
          <a:solidFill>
            <a:srgbClr val="FF5F57"/>
          </a:solidFill>
          <a:ln w="12700">
            <a:solidFill>
              <a:srgbClr val="FF5F57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184648" y="1463040"/>
            <a:ext cx="91440" cy="91440"/>
          </a:xfrm>
          <a:prstGeom prst="ellipse">
            <a:avLst/>
          </a:prstGeom>
          <a:solidFill>
            <a:srgbClr val="FEBC2E"/>
          </a:solidFill>
          <a:ln w="12700">
            <a:solidFill>
              <a:srgbClr val="FEBC2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349240" y="1463040"/>
            <a:ext cx="91440" cy="91440"/>
          </a:xfrm>
          <a:prstGeom prst="ellipse">
            <a:avLst/>
          </a:prstGeom>
          <a:solidFill>
            <a:srgbClr val="28C840"/>
          </a:solidFill>
          <a:ln w="12700">
            <a:solidFill>
              <a:srgbClr val="28C840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5577840" y="1371600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funitclub.org/edit/wg/add/</a:t>
            </a:r>
            <a:endParaRPr lang="en-US" sz="900" dirty="0"/>
          </a:p>
        </p:txBody>
      </p:sp>
      <p:sp>
        <p:nvSpPr>
          <p:cNvPr id="29" name="Text 27"/>
          <p:cNvSpPr txBox="1"/>
          <p:nvPr/>
        </p:nvSpPr>
        <p:spPr>
          <a:xfrm>
            <a:off x="5120640" y="1783080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識別子</a:t>
            </a:r>
            <a:endParaRPr lang="en-US" sz="850" dirty="0"/>
          </a:p>
        </p:txBody>
      </p:sp>
      <p:sp>
        <p:nvSpPr>
          <p:cNvPr id="30" name="Shape 28"/>
          <p:cNvSpPr/>
          <p:nvPr/>
        </p:nvSpPr>
        <p:spPr>
          <a:xfrm>
            <a:off x="6355080" y="1801368"/>
            <a:ext cx="2103120" cy="24688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6419088" y="1801368"/>
            <a:ext cx="19659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WG-04</a:t>
            </a:r>
            <a:endParaRPr lang="en-US" sz="850" dirty="0"/>
          </a:p>
        </p:txBody>
      </p:sp>
      <p:sp>
        <p:nvSpPr>
          <p:cNvPr id="32" name="Text 30"/>
          <p:cNvSpPr txBox="1"/>
          <p:nvPr/>
        </p:nvSpPr>
        <p:spPr>
          <a:xfrm>
            <a:off x="5120640" y="2112264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名前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6355080" y="2130552"/>
            <a:ext cx="2103120" cy="24688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6419088" y="2130552"/>
            <a:ext cx="19659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カウントダウン</a:t>
            </a:r>
            <a:endParaRPr lang="en-US" sz="850" dirty="0"/>
          </a:p>
        </p:txBody>
      </p:sp>
      <p:sp>
        <p:nvSpPr>
          <p:cNvPr id="35" name="Text 33"/>
          <p:cNvSpPr txBox="1"/>
          <p:nvPr/>
        </p:nvSpPr>
        <p:spPr>
          <a:xfrm>
            <a:off x="5120640" y="2441448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説明</a:t>
            </a:r>
            <a:endParaRPr lang="en-US" sz="850" dirty="0"/>
          </a:p>
        </p:txBody>
      </p:sp>
      <p:sp>
        <p:nvSpPr>
          <p:cNvPr id="36" name="Shape 34"/>
          <p:cNvSpPr/>
          <p:nvPr/>
        </p:nvSpPr>
        <p:spPr>
          <a:xfrm>
            <a:off x="6355080" y="2459736"/>
            <a:ext cx="2103120" cy="24688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6419088" y="2459736"/>
            <a:ext cx="19659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2〜3 行で、何を作る WG か</a:t>
            </a:r>
            <a:endParaRPr lang="en-US" sz="850" dirty="0"/>
          </a:p>
        </p:txBody>
      </p:sp>
      <p:sp>
        <p:nvSpPr>
          <p:cNvPr id="38" name="Text 36"/>
          <p:cNvSpPr txBox="1"/>
          <p:nvPr/>
        </p:nvSpPr>
        <p:spPr>
          <a:xfrm>
            <a:off x="5120640" y="2770632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状態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6355080" y="2788920"/>
            <a:ext cx="2103120" cy="24688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6419088" y="2788920"/>
            <a:ext cx="19659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準備中  ▾</a:t>
            </a:r>
            <a:endParaRPr lang="en-US" sz="850" dirty="0"/>
          </a:p>
        </p:txBody>
      </p:sp>
      <p:sp>
        <p:nvSpPr>
          <p:cNvPr id="41" name="Text 39"/>
          <p:cNvSpPr txBox="1"/>
          <p:nvPr/>
        </p:nvSpPr>
        <p:spPr>
          <a:xfrm>
            <a:off x="5120640" y="3099816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Webアプリの URL</a:t>
            </a:r>
            <a:endParaRPr lang="en-US" sz="850" dirty="0"/>
          </a:p>
        </p:txBody>
      </p:sp>
      <p:sp>
        <p:nvSpPr>
          <p:cNvPr id="42" name="Shape 40"/>
          <p:cNvSpPr/>
          <p:nvPr/>
        </p:nvSpPr>
        <p:spPr>
          <a:xfrm>
            <a:off x="6355080" y="3118104"/>
            <a:ext cx="2103120" cy="24688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6419088" y="3118104"/>
            <a:ext cx="19659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（空欄のまま）</a:t>
            </a:r>
            <a:endParaRPr lang="en-US" sz="850" dirty="0"/>
          </a:p>
        </p:txBody>
      </p:sp>
      <p:sp>
        <p:nvSpPr>
          <p:cNvPr id="44" name="Text 42"/>
          <p:cNvSpPr txBox="1"/>
          <p:nvPr/>
        </p:nvSpPr>
        <p:spPr>
          <a:xfrm>
            <a:off x="5120640" y="3429000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追加リンクの名前</a:t>
            </a:r>
            <a:endParaRPr lang="en-US" sz="850" dirty="0"/>
          </a:p>
        </p:txBody>
      </p:sp>
      <p:sp>
        <p:nvSpPr>
          <p:cNvPr id="45" name="Shape 43"/>
          <p:cNvSpPr/>
          <p:nvPr/>
        </p:nvSpPr>
        <p:spPr>
          <a:xfrm>
            <a:off x="6355080" y="3447288"/>
            <a:ext cx="2103120" cy="24688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6419088" y="3447288"/>
            <a:ext cx="19659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GitHub</a:t>
            </a:r>
            <a:endParaRPr lang="en-US" sz="850" dirty="0"/>
          </a:p>
        </p:txBody>
      </p:sp>
      <p:sp>
        <p:nvSpPr>
          <p:cNvPr id="47" name="Text 45"/>
          <p:cNvSpPr txBox="1"/>
          <p:nvPr/>
        </p:nvSpPr>
        <p:spPr>
          <a:xfrm>
            <a:off x="5120640" y="3758184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GitHub のチーム</a:t>
            </a:r>
            <a:endParaRPr lang="en-US" sz="850" dirty="0"/>
          </a:p>
        </p:txBody>
      </p:sp>
      <p:sp>
        <p:nvSpPr>
          <p:cNvPr id="48" name="Shape 46"/>
          <p:cNvSpPr/>
          <p:nvPr/>
        </p:nvSpPr>
        <p:spPr>
          <a:xfrm>
            <a:off x="6355080" y="3776472"/>
            <a:ext cx="2103120" cy="24688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6419088" y="3776472"/>
            <a:ext cx="19659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（あとで入れる）</a:t>
            </a:r>
            <a:endParaRPr lang="en-US" sz="850" dirty="0"/>
          </a:p>
        </p:txBody>
      </p:sp>
      <p:sp>
        <p:nvSpPr>
          <p:cNvPr id="50" name="Shape 48"/>
          <p:cNvSpPr/>
          <p:nvPr/>
        </p:nvSpPr>
        <p:spPr>
          <a:xfrm>
            <a:off x="5120640" y="4133088"/>
            <a:ext cx="155448" cy="155448"/>
          </a:xfrm>
          <a:prstGeom prst="rect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</p:sp>
      <p:pic>
        <p:nvPicPr>
          <p:cNvPr id="5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148072" y="4160520"/>
            <a:ext cx="100584" cy="100584"/>
          </a:xfrm>
          <a:prstGeom prst="rect">
            <a:avLst/>
          </a:prstGeom>
        </p:spPr>
      </p:pic>
      <p:sp>
        <p:nvSpPr>
          <p:cNvPr id="52" name="Text 49"/>
          <p:cNvSpPr txBox="1"/>
          <p:nvPr/>
        </p:nvSpPr>
        <p:spPr>
          <a:xfrm>
            <a:off x="5367528" y="4114800"/>
            <a:ext cx="3108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公開する</a:t>
            </a:r>
            <a:endParaRPr lang="en-US" sz="950" dirty="0"/>
          </a:p>
        </p:txBody>
      </p:sp>
      <p:sp>
        <p:nvSpPr>
          <p:cNvPr id="53" name="Shape 50"/>
          <p:cNvSpPr/>
          <p:nvPr/>
        </p:nvSpPr>
        <p:spPr>
          <a:xfrm>
            <a:off x="7589520" y="4187952"/>
            <a:ext cx="868680" cy="292608"/>
          </a:xfrm>
          <a:prstGeom prst="rect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7589520" y="4187952"/>
            <a:ext cx="868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追加する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2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01  ·  手順 2  ·  作る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テンプレートからリポジトリを作る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3716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896112" y="1380744"/>
            <a:ext cx="3767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wg-template を開く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896112" y="1645920"/>
            <a:ext cx="37673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github.com/funITclub/wg-template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57200" y="201168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7200" y="20116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896112" y="2020824"/>
            <a:ext cx="3767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「Use this template」を押す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896112" y="2286000"/>
            <a:ext cx="37673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右上の緑のボタン →「Create a new repository」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57200" y="265176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7200" y="265176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896112" y="2660904"/>
            <a:ext cx="3767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Owner を funITclub にする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896112" y="2926080"/>
            <a:ext cx="37673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自分のアカウントのままにしない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57200" y="329184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57200" y="32918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896112" y="3300984"/>
            <a:ext cx="3767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名前を wg-&lt;名前&gt; にする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896112" y="3566160"/>
            <a:ext cx="37673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英小文字とハイフン（例 wg-countdown）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57200" y="393192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57200" y="39319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96112" y="3941064"/>
            <a:ext cx="3767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Private を選んで作る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896112" y="4206240"/>
            <a:ext cx="37673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WG のチームの人だけが見られる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4892040" y="1371600"/>
            <a:ext cx="3794760" cy="3246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4892040" y="1371600"/>
            <a:ext cx="3794760" cy="274320"/>
          </a:xfrm>
          <a:prstGeom prst="rect">
            <a:avLst/>
          </a:prstGeom>
          <a:solidFill>
            <a:srgbClr val="E3E7EB"/>
          </a:solidFill>
          <a:ln w="12700">
            <a:solidFill>
              <a:srgbClr val="E3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020056" y="1463040"/>
            <a:ext cx="91440" cy="91440"/>
          </a:xfrm>
          <a:prstGeom prst="ellipse">
            <a:avLst/>
          </a:prstGeom>
          <a:solidFill>
            <a:srgbClr val="FF5F57"/>
          </a:solidFill>
          <a:ln w="12700">
            <a:solidFill>
              <a:srgbClr val="FF5F57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184648" y="1463040"/>
            <a:ext cx="91440" cy="91440"/>
          </a:xfrm>
          <a:prstGeom prst="ellipse">
            <a:avLst/>
          </a:prstGeom>
          <a:solidFill>
            <a:srgbClr val="FEBC2E"/>
          </a:solidFill>
          <a:ln w="12700">
            <a:solidFill>
              <a:srgbClr val="FEBC2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349240" y="1463040"/>
            <a:ext cx="91440" cy="91440"/>
          </a:xfrm>
          <a:prstGeom prst="ellipse">
            <a:avLst/>
          </a:prstGeom>
          <a:solidFill>
            <a:srgbClr val="28C840"/>
          </a:solidFill>
          <a:ln w="12700">
            <a:solidFill>
              <a:srgbClr val="28C840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577840" y="1371600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Create a new repository</a:t>
            </a:r>
            <a:endParaRPr lang="en-US" sz="900" dirty="0"/>
          </a:p>
        </p:txBody>
      </p:sp>
      <p:sp>
        <p:nvSpPr>
          <p:cNvPr id="30" name="Text 28"/>
          <p:cNvSpPr txBox="1"/>
          <p:nvPr/>
        </p:nvSpPr>
        <p:spPr>
          <a:xfrm>
            <a:off x="5120640" y="173736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Create a new repository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5120640" y="2103120"/>
            <a:ext cx="1234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Owner *</a:t>
            </a:r>
            <a:endParaRPr lang="en-US" sz="850" dirty="0"/>
          </a:p>
        </p:txBody>
      </p:sp>
      <p:sp>
        <p:nvSpPr>
          <p:cNvPr id="32" name="Shape 30"/>
          <p:cNvSpPr/>
          <p:nvPr/>
        </p:nvSpPr>
        <p:spPr>
          <a:xfrm>
            <a:off x="5120640" y="2322576"/>
            <a:ext cx="1234440" cy="274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7DE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5193792" y="2322576"/>
            <a:ext cx="10881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funITclub  ▾</a:t>
            </a:r>
            <a:endParaRPr lang="en-US" sz="900" dirty="0"/>
          </a:p>
        </p:txBody>
      </p:sp>
      <p:sp>
        <p:nvSpPr>
          <p:cNvPr id="34" name="Text 32"/>
          <p:cNvSpPr txBox="1"/>
          <p:nvPr/>
        </p:nvSpPr>
        <p:spPr>
          <a:xfrm>
            <a:off x="6382512" y="2322576"/>
            <a:ext cx="137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963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6537960" y="2103120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Repository name *</a:t>
            </a:r>
            <a:endParaRPr lang="en-US" sz="850" dirty="0"/>
          </a:p>
        </p:txBody>
      </p:sp>
      <p:sp>
        <p:nvSpPr>
          <p:cNvPr id="36" name="Shape 34"/>
          <p:cNvSpPr/>
          <p:nvPr/>
        </p:nvSpPr>
        <p:spPr>
          <a:xfrm>
            <a:off x="6537960" y="2322576"/>
            <a:ext cx="1920240" cy="274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7DE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6611112" y="2322576"/>
            <a:ext cx="1773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wg-countdown</a:t>
            </a:r>
            <a:endParaRPr lang="en-US" sz="900" dirty="0"/>
          </a:p>
        </p:txBody>
      </p:sp>
      <p:sp>
        <p:nvSpPr>
          <p:cNvPr id="38" name="Text 36"/>
          <p:cNvSpPr txBox="1"/>
          <p:nvPr/>
        </p:nvSpPr>
        <p:spPr>
          <a:xfrm>
            <a:off x="5120640" y="2697480"/>
            <a:ext cx="3337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Description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5120640" y="2916936"/>
            <a:ext cx="3337560" cy="274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7DE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5193792" y="2916936"/>
            <a:ext cx="31912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963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カウントダウンのアプリを作る WG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5138928" y="3364992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D0D7DE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5367528" y="3319272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963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Public</a:t>
            </a:r>
            <a:endParaRPr lang="en-US" sz="950" dirty="0"/>
          </a:p>
        </p:txBody>
      </p:sp>
      <p:sp>
        <p:nvSpPr>
          <p:cNvPr id="43" name="Shape 41"/>
          <p:cNvSpPr/>
          <p:nvPr/>
        </p:nvSpPr>
        <p:spPr>
          <a:xfrm>
            <a:off x="5138928" y="3657600"/>
            <a:ext cx="146304" cy="146304"/>
          </a:xfrm>
          <a:prstGeom prst="ellipse">
            <a:avLst/>
          </a:prstGeom>
          <a:solidFill>
            <a:srgbClr val="FFFFFF"/>
          </a:solidFill>
          <a:ln w="50800">
            <a:solidFill>
              <a:srgbClr val="0078D4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5367528" y="3611880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Private</a:t>
            </a:r>
            <a:endParaRPr lang="en-US" sz="950" dirty="0"/>
          </a:p>
        </p:txBody>
      </p:sp>
      <p:sp>
        <p:nvSpPr>
          <p:cNvPr id="45" name="Shape 43"/>
          <p:cNvSpPr/>
          <p:nvPr/>
        </p:nvSpPr>
        <p:spPr>
          <a:xfrm>
            <a:off x="7178040" y="4160520"/>
            <a:ext cx="1280160" cy="274320"/>
          </a:xfrm>
          <a:prstGeom prst="rect">
            <a:avLst/>
          </a:prstGeom>
          <a:solidFill>
            <a:srgbClr val="1F883D"/>
          </a:solidFill>
          <a:ln w="12700">
            <a:solidFill>
              <a:srgbClr val="1F883D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7178040" y="416052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Create repository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2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01  ·  補足  ·  main の守り方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main はテンプレートの仕組みで守る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402336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85800" y="1600200"/>
            <a:ext cx="502920" cy="502920"/>
          </a:xfrm>
          <a:prstGeom prst="ellipse">
            <a:avLst/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6559" y="1730959"/>
            <a:ext cx="241402" cy="24140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325880" y="1627632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VS Code の設定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685800" y="224028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main のままコミットしようとすると、新しいブランチを作るように促す。</a:t>
            </a:r>
            <a:endParaRPr lang="en-US" sz="1050" dirty="0"/>
          </a:p>
        </p:txBody>
      </p:sp>
      <p:sp>
        <p:nvSpPr>
          <p:cNvPr id="9" name="Text 6"/>
          <p:cNvSpPr txBox="1"/>
          <p:nvPr/>
        </p:nvSpPr>
        <p:spPr>
          <a:xfrm>
            <a:off x="685800" y="2715768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.vscode/settings.json（git.branchProtection）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4663440" y="1371600"/>
            <a:ext cx="402336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892040" y="1600200"/>
            <a:ext cx="502920" cy="502920"/>
          </a:xfrm>
          <a:prstGeom prst="ellipse">
            <a:avLst/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2799" y="1730959"/>
            <a:ext cx="241402" cy="241402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5532120" y="1627632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Git のフック</a:t>
            </a:r>
            <a:endParaRPr lang="en-US" sz="1500" dirty="0"/>
          </a:p>
        </p:txBody>
      </p:sp>
      <p:sp>
        <p:nvSpPr>
          <p:cNvPr id="14" name="Text 10"/>
          <p:cNvSpPr txBox="1"/>
          <p:nvPr/>
        </p:nvSpPr>
        <p:spPr>
          <a:xfrm>
            <a:off x="4892040" y="224028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main への push を、送る前に手元で止める。作業部屋を作るときに自動で有効になる。</a:t>
            </a:r>
            <a:endParaRPr lang="en-US" sz="1050" dirty="0"/>
          </a:p>
        </p:txBody>
      </p:sp>
      <p:sp>
        <p:nvSpPr>
          <p:cNvPr id="15" name="Text 11"/>
          <p:cNvSpPr txBox="1"/>
          <p:nvPr/>
        </p:nvSpPr>
        <p:spPr>
          <a:xfrm>
            <a:off x="4892040" y="2715768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.githooks/pre-push</a:t>
            </a:r>
            <a:endParaRPr lang="en-US" sz="900" dirty="0"/>
          </a:p>
        </p:txBody>
      </p:sp>
      <p:sp>
        <p:nvSpPr>
          <p:cNvPr id="16" name="Shape 12"/>
          <p:cNvSpPr/>
          <p:nvPr/>
        </p:nvSpPr>
        <p:spPr>
          <a:xfrm>
            <a:off x="457200" y="3246120"/>
            <a:ext cx="822960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685800" y="336499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運営の作業はない</a:t>
            </a:r>
            <a:endParaRPr lang="en-US" sz="1200" dirty="0"/>
          </a:p>
        </p:txBody>
      </p:sp>
      <p:sp>
        <p:nvSpPr>
          <p:cNvPr id="18" name="Text 14"/>
          <p:cNvSpPr txBox="1"/>
          <p:nvPr/>
        </p:nvSpPr>
        <p:spPr>
          <a:xfrm>
            <a:off x="685800" y="3675888"/>
            <a:ext cx="7772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どちらも wg-template に入っているので、テンプレートから作れば最初から効いている。GitHub の側で強制するルール（Rulesets）は、無料プランでは非公開のリポジトリに掛けられない。有料の Team プラン（教育機関向けの無料アップグレードもある）にしたら足す（手順は wg-template の README）。</a:t>
            </a:r>
            <a:endParaRPr lang="en-US" sz="1000" dirty="0"/>
          </a:p>
        </p:txBody>
      </p:sp>
      <p:sp>
        <p:nvSpPr>
          <p:cNvPr id="19" name="Text 15"/>
          <p:cNvSpPr txBox="1"/>
          <p:nvPr/>
        </p:nvSpPr>
        <p:spPr>
          <a:xfrm>
            <a:off x="457200" y="4590288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どちらも外そうと思えば外せる。「うっかり main に入れる」を防ぐためのもの。PR・レビュー・テストはそのまま使える。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2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01  ·  手順 3  ·  チーム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WG のチームを作って権限を付ける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3716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896112" y="1380744"/>
            <a:ext cx="3767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チームを作る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896112" y="1645920"/>
            <a:ext cx="37673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org の「Teams」→「New team」。名前は wg-&lt;名前&gt;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57200" y="201168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7200" y="20116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896112" y="2020824"/>
            <a:ext cx="3767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公開範囲は Visible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896112" y="2286000"/>
            <a:ext cx="37673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作った運営は maintainer で入る。そのままでよい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57200" y="265176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7200" y="265176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896112" y="2660904"/>
            <a:ext cx="3767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リポジトリにチームを付ける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896112" y="2926080"/>
            <a:ext cx="37673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Settings →「Collaborators and teams」→「Add teams」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57200" y="329184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57200" y="32918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896112" y="3300984"/>
            <a:ext cx="3767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役割は「Write」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896112" y="3566160"/>
            <a:ext cx="37673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チームを選び、Write で追加する（右の画面）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57200" y="393192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57200" y="39319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96112" y="3941064"/>
            <a:ext cx="3767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メンバーは入れない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896112" y="4206240"/>
            <a:ext cx="37673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本人がサイトの「WG に参加」から入る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4892040" y="1371600"/>
            <a:ext cx="3794760" cy="2971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4892040" y="1371600"/>
            <a:ext cx="3794760" cy="274320"/>
          </a:xfrm>
          <a:prstGeom prst="rect">
            <a:avLst/>
          </a:prstGeom>
          <a:solidFill>
            <a:srgbClr val="E3E7EB"/>
          </a:solidFill>
          <a:ln w="12700">
            <a:solidFill>
              <a:srgbClr val="E3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020056" y="1463040"/>
            <a:ext cx="91440" cy="91440"/>
          </a:xfrm>
          <a:prstGeom prst="ellipse">
            <a:avLst/>
          </a:prstGeom>
          <a:solidFill>
            <a:srgbClr val="FF5F57"/>
          </a:solidFill>
          <a:ln w="12700">
            <a:solidFill>
              <a:srgbClr val="FF5F57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184648" y="1463040"/>
            <a:ext cx="91440" cy="91440"/>
          </a:xfrm>
          <a:prstGeom prst="ellipse">
            <a:avLst/>
          </a:prstGeom>
          <a:solidFill>
            <a:srgbClr val="FEBC2E"/>
          </a:solidFill>
          <a:ln w="12700">
            <a:solidFill>
              <a:srgbClr val="FEBC2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349240" y="1463040"/>
            <a:ext cx="91440" cy="91440"/>
          </a:xfrm>
          <a:prstGeom prst="ellipse">
            <a:avLst/>
          </a:prstGeom>
          <a:solidFill>
            <a:srgbClr val="28C840"/>
          </a:solidFill>
          <a:ln w="12700">
            <a:solidFill>
              <a:srgbClr val="28C840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577840" y="1371600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Settings › Collaborators and teams</a:t>
            </a:r>
            <a:endParaRPr lang="en-US" sz="900" dirty="0"/>
          </a:p>
        </p:txBody>
      </p:sp>
      <p:sp>
        <p:nvSpPr>
          <p:cNvPr id="30" name="Text 28"/>
          <p:cNvSpPr txBox="1"/>
          <p:nvPr/>
        </p:nvSpPr>
        <p:spPr>
          <a:xfrm>
            <a:off x="5120640" y="17830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Manage access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6903720" y="1783080"/>
            <a:ext cx="749808" cy="256032"/>
          </a:xfrm>
          <a:prstGeom prst="rect">
            <a:avLst/>
          </a:prstGeom>
          <a:solidFill>
            <a:srgbClr val="F6F8FA"/>
          </a:solidFill>
          <a:ln w="12700">
            <a:solidFill>
              <a:srgbClr val="D0D7DE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6903720" y="1783080"/>
            <a:ext cx="7498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Add people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7726680" y="1783080"/>
            <a:ext cx="749808" cy="256032"/>
          </a:xfrm>
          <a:prstGeom prst="rect">
            <a:avLst/>
          </a:prstGeom>
          <a:solidFill>
            <a:srgbClr val="1F883D"/>
          </a:solidFill>
          <a:ln w="12700">
            <a:solidFill>
              <a:srgbClr val="1F883D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7726680" y="1783080"/>
            <a:ext cx="7498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Add teams</a:t>
            </a:r>
            <a:endParaRPr lang="en-US" sz="800" dirty="0"/>
          </a:p>
        </p:txBody>
      </p:sp>
      <p:sp>
        <p:nvSpPr>
          <p:cNvPr id="35" name="Shape 33"/>
          <p:cNvSpPr/>
          <p:nvPr/>
        </p:nvSpPr>
        <p:spPr>
          <a:xfrm>
            <a:off x="5120640" y="2240280"/>
            <a:ext cx="3337560" cy="658368"/>
          </a:xfrm>
          <a:prstGeom prst="rect">
            <a:avLst/>
          </a:prstGeom>
          <a:solidFill>
            <a:srgbClr val="DDF4FF"/>
          </a:solidFill>
          <a:ln w="12700">
            <a:solidFill>
              <a:srgbClr val="54AEFF"/>
            </a:solidFill>
            <a:prstDash val="solid"/>
          </a:ln>
        </p:spPr>
      </p:sp>
      <p:pic>
        <p:nvPicPr>
          <p:cNvPr id="3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239512" y="2404872"/>
            <a:ext cx="274320" cy="274320"/>
          </a:xfrm>
          <a:prstGeom prst="rect">
            <a:avLst/>
          </a:prstGeom>
        </p:spPr>
      </p:pic>
      <p:sp>
        <p:nvSpPr>
          <p:cNvPr id="37" name="Text 34"/>
          <p:cNvSpPr txBox="1"/>
          <p:nvPr/>
        </p:nvSpPr>
        <p:spPr>
          <a:xfrm>
            <a:off x="5623560" y="2304288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wg-countdown</a:t>
            </a:r>
            <a:endParaRPr lang="en-US" sz="1000" dirty="0"/>
          </a:p>
        </p:txBody>
      </p:sp>
      <p:sp>
        <p:nvSpPr>
          <p:cNvPr id="38" name="Text 35"/>
          <p:cNvSpPr txBox="1"/>
          <p:nvPr/>
        </p:nvSpPr>
        <p:spPr>
          <a:xfrm>
            <a:off x="5623560" y="2560320"/>
            <a:ext cx="1645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963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Team · 3 members</a:t>
            </a:r>
            <a:endParaRPr lang="en-US" sz="850" dirty="0"/>
          </a:p>
        </p:txBody>
      </p:sp>
      <p:sp>
        <p:nvSpPr>
          <p:cNvPr id="39" name="Shape 36"/>
          <p:cNvSpPr/>
          <p:nvPr/>
        </p:nvSpPr>
        <p:spPr>
          <a:xfrm>
            <a:off x="7452360" y="2432304"/>
            <a:ext cx="914400" cy="274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7DE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7452360" y="243230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Role: Write  ▾</a:t>
            </a:r>
            <a:endParaRPr lang="en-US" sz="850" dirty="0"/>
          </a:p>
        </p:txBody>
      </p:sp>
      <p:sp>
        <p:nvSpPr>
          <p:cNvPr id="41" name="Text 38"/>
          <p:cNvSpPr txBox="1"/>
          <p:nvPr/>
        </p:nvSpPr>
        <p:spPr>
          <a:xfrm>
            <a:off x="5120640" y="3063240"/>
            <a:ext cx="3337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A4A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人ごとではなく、チームに 1 回だけ付ける</a:t>
            </a:r>
            <a:endParaRPr lang="en-US" sz="1000" dirty="0"/>
          </a:p>
        </p:txBody>
      </p:sp>
      <p:sp>
        <p:nvSpPr>
          <p:cNvPr id="42" name="Text 39"/>
          <p:cNvSpPr txBox="1"/>
          <p:nvPr/>
        </p:nvSpPr>
        <p:spPr>
          <a:xfrm>
            <a:off x="5120640" y="3383280"/>
            <a:ext cx="3337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メンバーは本人が「WG に参加」から入る。運営はチームに人を入れない。</a:t>
            </a:r>
            <a:endParaRPr lang="en-US" sz="950" dirty="0"/>
          </a:p>
        </p:txBody>
      </p:sp>
      <p:sp>
        <p:nvSpPr>
          <p:cNvPr id="43" name="Text 40"/>
          <p:cNvSpPr txBox="1"/>
          <p:nvPr/>
        </p:nvSpPr>
        <p:spPr>
          <a:xfrm>
            <a:off x="457200" y="4645152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抜けた人・卒業した人を外すのは運営（手順 5）。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2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01  ·  手順 4  ·  つなぐ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WG紹介にチーム名を入れる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41732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4173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896112" y="1426464"/>
            <a:ext cx="3858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「WG紹介」→ その WG の「編集」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896112" y="1691640"/>
            <a:ext cx="385876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funitclub.org/edit/ にログインして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57200" y="214884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7200" y="21488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896112" y="2157984"/>
            <a:ext cx="3858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「GitHub のチーム」を入れる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896112" y="2423160"/>
            <a:ext cx="385876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手順 3 で作ったチームの名前（例 wg-countdown）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57200" y="288036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7200" y="288036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896112" y="2889504"/>
            <a:ext cx="3858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「保存する」を押す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896112" y="3154680"/>
            <a:ext cx="385876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カードに「WG に参加」が出る（右）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57200" y="361188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57200" y="36118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896112" y="3621024"/>
            <a:ext cx="3858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アプリができたら直す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896112" y="3886200"/>
            <a:ext cx="385876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状態を「活動中」、Webアプリの URL を入れる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983480" y="1417320"/>
            <a:ext cx="3703320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4983480" y="1417320"/>
            <a:ext cx="3703320" cy="274320"/>
          </a:xfrm>
          <a:prstGeom prst="rect">
            <a:avLst/>
          </a:prstGeom>
          <a:solidFill>
            <a:srgbClr val="E3E7EB"/>
          </a:solidFill>
          <a:ln w="12700">
            <a:solidFill>
              <a:srgbClr val="E3E7E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111496" y="1508760"/>
            <a:ext cx="91440" cy="91440"/>
          </a:xfrm>
          <a:prstGeom prst="ellipse">
            <a:avLst/>
          </a:prstGeom>
          <a:solidFill>
            <a:srgbClr val="FF5F57"/>
          </a:solidFill>
          <a:ln w="12700">
            <a:solidFill>
              <a:srgbClr val="FF5F57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276088" y="1508760"/>
            <a:ext cx="91440" cy="91440"/>
          </a:xfrm>
          <a:prstGeom prst="ellipse">
            <a:avLst/>
          </a:prstGeom>
          <a:solidFill>
            <a:srgbClr val="FEBC2E"/>
          </a:solidFill>
          <a:ln w="12700">
            <a:solidFill>
              <a:srgbClr val="FEBC2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440680" y="1508760"/>
            <a:ext cx="91440" cy="91440"/>
          </a:xfrm>
          <a:prstGeom prst="ellipse">
            <a:avLst/>
          </a:prstGeom>
          <a:solidFill>
            <a:srgbClr val="28C840"/>
          </a:solidFill>
          <a:ln w="12700">
            <a:solidFill>
              <a:srgbClr val="28C840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5669280" y="1417320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funitclub.org/wg/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5166360" y="1828800"/>
            <a:ext cx="3337560" cy="2423160"/>
          </a:xfrm>
          <a:prstGeom prst="rect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486400" y="2103120"/>
            <a:ext cx="2697480" cy="18745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669280" y="2340864"/>
            <a:ext cx="91440" cy="91440"/>
          </a:xfrm>
          <a:prstGeom prst="ellipse">
            <a:avLst/>
          </a:prstGeom>
          <a:solidFill>
            <a:srgbClr val="B9CAD9"/>
          </a:solidFill>
          <a:ln w="12700">
            <a:solidFill>
              <a:srgbClr val="B9CAD9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833872" y="2249424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4A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準備中</a:t>
            </a:r>
            <a:endParaRPr lang="en-US" sz="900" dirty="0"/>
          </a:p>
        </p:txBody>
      </p:sp>
      <p:sp>
        <p:nvSpPr>
          <p:cNvPr id="30" name="Text 28"/>
          <p:cNvSpPr txBox="1"/>
          <p:nvPr/>
        </p:nvSpPr>
        <p:spPr>
          <a:xfrm>
            <a:off x="5669280" y="2560320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WG-04</a:t>
            </a:r>
            <a:endParaRPr lang="en-US" sz="850" dirty="0"/>
          </a:p>
        </p:txBody>
      </p:sp>
      <p:sp>
        <p:nvSpPr>
          <p:cNvPr id="31" name="Text 29"/>
          <p:cNvSpPr txBox="1"/>
          <p:nvPr/>
        </p:nvSpPr>
        <p:spPr>
          <a:xfrm>
            <a:off x="5669280" y="2816352"/>
            <a:ext cx="2331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カウントダウン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5669280" y="3163824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2〜3 行で、何を作る WG か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669280" y="3429000"/>
            <a:ext cx="2331720" cy="347472"/>
          </a:xfrm>
          <a:prstGeom prst="rect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5669280" y="3429000"/>
            <a:ext cx="2331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BB8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WG に参加</a:t>
            </a:r>
            <a:endParaRPr lang="en-US" sz="1000" dirty="0"/>
          </a:p>
        </p:txBody>
      </p:sp>
      <p:sp>
        <p:nvSpPr>
          <p:cNvPr id="35" name="Text 33"/>
          <p:cNvSpPr txBox="1"/>
          <p:nvPr/>
        </p:nvSpPr>
        <p:spPr>
          <a:xfrm>
            <a:off x="5486400" y="402336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BB8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← チーム名を入れると出る</a:t>
            </a:r>
            <a:endParaRPr lang="en-US" sz="900" dirty="0"/>
          </a:p>
        </p:txBody>
      </p:sp>
      <p:sp>
        <p:nvSpPr>
          <p:cNvPr id="36" name="Text 34"/>
          <p:cNvSpPr txBox="1"/>
          <p:nvPr/>
        </p:nvSpPr>
        <p:spPr>
          <a:xfrm>
            <a:off x="457200" y="46177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「準備中」のままでも参加できる。アプリができたら「活動中」に変える（TOP の件数もここで連動する）。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2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01  ·  参加のしくみ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メンバーの参加は自動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417320"/>
            <a:ext cx="192024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40080" y="1600200"/>
            <a:ext cx="457200" cy="457200"/>
          </a:xfrm>
          <a:prstGeom prst="ellipse">
            <a:avLst/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8952" y="1719072"/>
            <a:ext cx="219456" cy="21945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640080" y="2194560"/>
            <a:ext cx="1600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アドレスを入れる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640080" y="2514600"/>
            <a:ext cx="1600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本人が「WG に参加」で大学のアドレスを入れる</a:t>
            </a:r>
            <a:endParaRPr lang="en-US" sz="950" dirty="0"/>
          </a:p>
        </p:txBody>
      </p:sp>
      <p:sp>
        <p:nvSpPr>
          <p:cNvPr id="9" name="Shape 6"/>
          <p:cNvSpPr/>
          <p:nvPr/>
        </p:nvSpPr>
        <p:spPr>
          <a:xfrm>
            <a:off x="2404872" y="2331720"/>
            <a:ext cx="128016" cy="0"/>
          </a:xfrm>
          <a:prstGeom prst="line">
            <a:avLst/>
          </a:prstGeom>
          <a:noFill/>
          <a:ln w="19050">
            <a:solidFill>
              <a:srgbClr val="1A4A70"/>
            </a:solidFill>
            <a:prstDash val="solid"/>
            <a:tailEnd type="triangle"/>
          </a:ln>
        </p:spPr>
      </p:sp>
      <p:sp>
        <p:nvSpPr>
          <p:cNvPr id="10" name="Shape 7"/>
          <p:cNvSpPr/>
          <p:nvPr/>
        </p:nvSpPr>
        <p:spPr>
          <a:xfrm>
            <a:off x="2560320" y="1417320"/>
            <a:ext cx="192024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2743200" y="1600200"/>
            <a:ext cx="457200" cy="457200"/>
          </a:xfrm>
          <a:prstGeom prst="ellipse">
            <a:avLst/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62072" y="1719072"/>
            <a:ext cx="219456" cy="219456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2743200" y="2194560"/>
            <a:ext cx="1600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名簿で確かめる</a:t>
            </a:r>
            <a:endParaRPr lang="en-US" sz="1300" dirty="0"/>
          </a:p>
        </p:txBody>
      </p:sp>
      <p:sp>
        <p:nvSpPr>
          <p:cNvPr id="14" name="Text 10"/>
          <p:cNvSpPr txBox="1"/>
          <p:nvPr/>
        </p:nvSpPr>
        <p:spPr>
          <a:xfrm>
            <a:off x="2743200" y="2514600"/>
            <a:ext cx="1600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Classroom のクラブのクラスにいるか（運営の許可で読む）</a:t>
            </a:r>
            <a:endParaRPr lang="en-US" sz="950" dirty="0"/>
          </a:p>
        </p:txBody>
      </p:sp>
      <p:sp>
        <p:nvSpPr>
          <p:cNvPr id="15" name="Shape 11"/>
          <p:cNvSpPr/>
          <p:nvPr/>
        </p:nvSpPr>
        <p:spPr>
          <a:xfrm>
            <a:off x="4507992" y="2331720"/>
            <a:ext cx="128016" cy="0"/>
          </a:xfrm>
          <a:prstGeom prst="line">
            <a:avLst/>
          </a:prstGeom>
          <a:noFill/>
          <a:ln w="19050">
            <a:solidFill>
              <a:srgbClr val="1A4A70"/>
            </a:solidFill>
            <a:prstDash val="solid"/>
            <a:tailEnd type="triangle"/>
          </a:ln>
        </p:spPr>
      </p:sp>
      <p:sp>
        <p:nvSpPr>
          <p:cNvPr id="16" name="Shape 12"/>
          <p:cNvSpPr/>
          <p:nvPr/>
        </p:nvSpPr>
        <p:spPr>
          <a:xfrm>
            <a:off x="4663440" y="1417320"/>
            <a:ext cx="192024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4846320" y="1600200"/>
            <a:ext cx="457200" cy="457200"/>
          </a:xfrm>
          <a:prstGeom prst="ellipse">
            <a:avLst/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65192" y="1719072"/>
            <a:ext cx="219456" cy="219456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4846320" y="2194560"/>
            <a:ext cx="1600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メールのリンク</a:t>
            </a:r>
            <a:endParaRPr lang="en-US" sz="1300" dirty="0"/>
          </a:p>
        </p:txBody>
      </p:sp>
      <p:sp>
        <p:nvSpPr>
          <p:cNvPr id="20" name="Text 15"/>
          <p:cNvSpPr txBox="1"/>
          <p:nvPr/>
        </p:nvSpPr>
        <p:spPr>
          <a:xfrm>
            <a:off x="4846320" y="2514600"/>
            <a:ext cx="1600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アドレスの持ち主だと確かめる</a:t>
            </a:r>
            <a:endParaRPr lang="en-US" sz="950" dirty="0"/>
          </a:p>
        </p:txBody>
      </p:sp>
      <p:sp>
        <p:nvSpPr>
          <p:cNvPr id="21" name="Shape 16"/>
          <p:cNvSpPr/>
          <p:nvPr/>
        </p:nvSpPr>
        <p:spPr>
          <a:xfrm>
            <a:off x="6611112" y="2331720"/>
            <a:ext cx="128016" cy="0"/>
          </a:xfrm>
          <a:prstGeom prst="line">
            <a:avLst/>
          </a:prstGeom>
          <a:noFill/>
          <a:ln w="19050">
            <a:solidFill>
              <a:srgbClr val="1A4A70"/>
            </a:solidFill>
            <a:prstDash val="solid"/>
            <a:tailEnd type="triangle"/>
          </a:ln>
        </p:spPr>
      </p:sp>
      <p:sp>
        <p:nvSpPr>
          <p:cNvPr id="22" name="Shape 17"/>
          <p:cNvSpPr/>
          <p:nvPr/>
        </p:nvSpPr>
        <p:spPr>
          <a:xfrm>
            <a:off x="6766560" y="1417320"/>
            <a:ext cx="192024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3" name="Shape 18"/>
          <p:cNvSpPr/>
          <p:nvPr/>
        </p:nvSpPr>
        <p:spPr>
          <a:xfrm>
            <a:off x="6949440" y="1600200"/>
            <a:ext cx="457200" cy="457200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68312" y="1719072"/>
            <a:ext cx="219456" cy="219456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6949440" y="2194560"/>
            <a:ext cx="1600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チームに追加</a:t>
            </a:r>
            <a:endParaRPr lang="en-US" sz="1300" dirty="0"/>
          </a:p>
        </p:txBody>
      </p:sp>
      <p:sp>
        <p:nvSpPr>
          <p:cNvPr id="26" name="Text 20"/>
          <p:cNvSpPr txBox="1"/>
          <p:nvPr/>
        </p:nvSpPr>
        <p:spPr>
          <a:xfrm>
            <a:off x="6949440" y="2514600"/>
            <a:ext cx="1600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GitHub でログイン。org にいなければ招待が届く</a:t>
            </a:r>
            <a:endParaRPr lang="en-US" sz="950" dirty="0"/>
          </a:p>
        </p:txBody>
      </p:sp>
      <p:sp>
        <p:nvSpPr>
          <p:cNvPr id="27" name="Shape 21"/>
          <p:cNvSpPr/>
          <p:nvPr/>
        </p:nvSpPr>
        <p:spPr>
          <a:xfrm>
            <a:off x="457200" y="3429000"/>
            <a:ext cx="2624328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28" name="Text 22"/>
          <p:cNvSpPr txBox="1"/>
          <p:nvPr/>
        </p:nvSpPr>
        <p:spPr>
          <a:xfrm>
            <a:off x="640080" y="3538728"/>
            <a:ext cx="22585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運営の作業はない</a:t>
            </a:r>
            <a:endParaRPr lang="en-US" sz="1100" dirty="0"/>
          </a:p>
        </p:txBody>
      </p:sp>
      <p:sp>
        <p:nvSpPr>
          <p:cNvPr id="29" name="Text 23"/>
          <p:cNvSpPr txBox="1"/>
          <p:nvPr/>
        </p:nvSpPr>
        <p:spPr>
          <a:xfrm>
            <a:off x="640080" y="3840480"/>
            <a:ext cx="230428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チームを作ってサイトに登録しておけば、あとは本人が進める。Chat は Classroom の授業のリンクから本人が入る。</a:t>
            </a:r>
            <a:endParaRPr lang="en-US" sz="900" dirty="0"/>
          </a:p>
        </p:txBody>
      </p:sp>
      <p:sp>
        <p:nvSpPr>
          <p:cNvPr id="30" name="Shape 24"/>
          <p:cNvSpPr/>
          <p:nvPr/>
        </p:nvSpPr>
        <p:spPr>
          <a:xfrm>
            <a:off x="3259836" y="3429000"/>
            <a:ext cx="2624328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31" name="Text 25"/>
          <p:cNvSpPr txBox="1"/>
          <p:nvPr/>
        </p:nvSpPr>
        <p:spPr>
          <a:xfrm>
            <a:off x="3442716" y="3538728"/>
            <a:ext cx="22585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個人の情報は残らない</a:t>
            </a:r>
            <a:endParaRPr lang="en-US" sz="1100" dirty="0"/>
          </a:p>
        </p:txBody>
      </p:sp>
      <p:sp>
        <p:nvSpPr>
          <p:cNvPr id="32" name="Text 26"/>
          <p:cNvSpPr txBox="1"/>
          <p:nvPr/>
        </p:nvSpPr>
        <p:spPr>
          <a:xfrm>
            <a:off x="3442716" y="3840480"/>
            <a:ext cx="230428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アドレスも GitHub のユーザー名も、サイトは保存もログ出力もしない。メンバーかどうかは画面に出さず、メールで本人にだけ伝える。</a:t>
            </a:r>
            <a:endParaRPr lang="en-US" sz="900" dirty="0"/>
          </a:p>
        </p:txBody>
      </p:sp>
      <p:sp>
        <p:nvSpPr>
          <p:cNvPr id="33" name="Shape 27"/>
          <p:cNvSpPr/>
          <p:nvPr/>
        </p:nvSpPr>
        <p:spPr>
          <a:xfrm>
            <a:off x="6062472" y="3429000"/>
            <a:ext cx="2624328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34" name="Text 28"/>
          <p:cNvSpPr txBox="1"/>
          <p:nvPr/>
        </p:nvSpPr>
        <p:spPr>
          <a:xfrm>
            <a:off x="6245352" y="3538728"/>
            <a:ext cx="22585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運営が替わったら</a:t>
            </a:r>
            <a:endParaRPr lang="en-US" sz="1100" dirty="0"/>
          </a:p>
        </p:txBody>
      </p:sp>
      <p:sp>
        <p:nvSpPr>
          <p:cNvPr id="35" name="Text 29"/>
          <p:cNvSpPr txBox="1"/>
          <p:nvPr/>
        </p:nvSpPr>
        <p:spPr>
          <a:xfrm>
            <a:off x="6245352" y="3840480"/>
            <a:ext cx="230428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名簿を読む許可は運営（クラスの先生）のアカウント。替わったら許可し直す（deploy.txt）。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2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01  ·  手順 5  ·  見守る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メンバーの交代と、WG の終了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417320"/>
            <a:ext cx="4023360" cy="31546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85800" y="1618488"/>
            <a:ext cx="457200" cy="457200"/>
          </a:xfrm>
          <a:prstGeom prst="ellipse">
            <a:avLst/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672" y="1737360"/>
            <a:ext cx="219456" cy="21945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280160" y="1618488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メンバーが抜けたら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685800" y="228600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85800" y="22860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1124712" y="2295144"/>
            <a:ext cx="3172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WG を抜けた人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1124712" y="2560320"/>
            <a:ext cx="317296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チームの「Members」から外す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685800" y="3090672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685800" y="309067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1124712" y="3099816"/>
            <a:ext cx="3172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卒業・退部なら org から外す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1124712" y="3364992"/>
            <a:ext cx="317296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org の「People」→ その人 →「Remove from organization」。チームからも外れる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685800" y="3895344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85800" y="389534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124712" y="3904488"/>
            <a:ext cx="3172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Classroom からも外す</a:t>
            </a:r>
            <a:endParaRPr lang="en-US" sz="1200" dirty="0"/>
          </a:p>
        </p:txBody>
      </p:sp>
      <p:sp>
        <p:nvSpPr>
          <p:cNvPr id="19" name="Text 16"/>
          <p:cNvSpPr txBox="1"/>
          <p:nvPr/>
        </p:nvSpPr>
        <p:spPr>
          <a:xfrm>
            <a:off x="1124712" y="4169664"/>
            <a:ext cx="317296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外さないと「WG に参加」を通れてしまう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4663440" y="1417320"/>
            <a:ext cx="4023360" cy="31546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4892040" y="1618488"/>
            <a:ext cx="457200" cy="457200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pic>
        <p:nvPicPr>
          <p:cNvPr id="2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10912" y="1737360"/>
            <a:ext cx="219456" cy="219456"/>
          </a:xfrm>
          <a:prstGeom prst="rect">
            <a:avLst/>
          </a:prstGeom>
        </p:spPr>
      </p:pic>
      <p:sp>
        <p:nvSpPr>
          <p:cNvPr id="23" name="Text 19"/>
          <p:cNvSpPr txBox="1"/>
          <p:nvPr/>
        </p:nvSpPr>
        <p:spPr>
          <a:xfrm>
            <a:off x="5486400" y="1618488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WG が終わったら</a:t>
            </a:r>
            <a:endParaRPr lang="en-US" sz="1400" dirty="0"/>
          </a:p>
        </p:txBody>
      </p:sp>
      <p:sp>
        <p:nvSpPr>
          <p:cNvPr id="24" name="Shape 20"/>
          <p:cNvSpPr/>
          <p:nvPr/>
        </p:nvSpPr>
        <p:spPr>
          <a:xfrm>
            <a:off x="4892040" y="228600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4892040" y="22860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100" dirty="0"/>
          </a:p>
        </p:txBody>
      </p:sp>
      <p:sp>
        <p:nvSpPr>
          <p:cNvPr id="26" name="Text 22"/>
          <p:cNvSpPr txBox="1"/>
          <p:nvPr/>
        </p:nvSpPr>
        <p:spPr>
          <a:xfrm>
            <a:off x="5330952" y="2295144"/>
            <a:ext cx="3172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サイトの WG 紹介を直す</a:t>
            </a:r>
            <a:endParaRPr lang="en-US" sz="1200" dirty="0"/>
          </a:p>
        </p:txBody>
      </p:sp>
      <p:sp>
        <p:nvSpPr>
          <p:cNvPr id="27" name="Text 23"/>
          <p:cNvSpPr txBox="1"/>
          <p:nvPr/>
        </p:nvSpPr>
        <p:spPr>
          <a:xfrm>
            <a:off x="5330952" y="2560320"/>
            <a:ext cx="317296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記録として残すか、「公開する」を外すか決める</a:t>
            </a:r>
            <a:endParaRPr lang="en-US" sz="1000" dirty="0"/>
          </a:p>
        </p:txBody>
      </p:sp>
      <p:sp>
        <p:nvSpPr>
          <p:cNvPr id="28" name="Shape 24"/>
          <p:cNvSpPr/>
          <p:nvPr/>
        </p:nvSpPr>
        <p:spPr>
          <a:xfrm>
            <a:off x="4892040" y="3090672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4892040" y="309067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100" dirty="0"/>
          </a:p>
        </p:txBody>
      </p:sp>
      <p:sp>
        <p:nvSpPr>
          <p:cNvPr id="30" name="Text 26"/>
          <p:cNvSpPr txBox="1"/>
          <p:nvPr/>
        </p:nvSpPr>
        <p:spPr>
          <a:xfrm>
            <a:off x="5330952" y="3099816"/>
            <a:ext cx="3172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リポジトリをアーカイブ</a:t>
            </a:r>
            <a:endParaRPr lang="en-US" sz="1200" dirty="0"/>
          </a:p>
        </p:txBody>
      </p:sp>
      <p:sp>
        <p:nvSpPr>
          <p:cNvPr id="31" name="Text 27"/>
          <p:cNvSpPr txBox="1"/>
          <p:nvPr/>
        </p:nvSpPr>
        <p:spPr>
          <a:xfrm>
            <a:off x="5330952" y="3364992"/>
            <a:ext cx="317296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Settings のいちばん下 →「Archive this repository」。チームは消してよい</a:t>
            </a:r>
            <a:endParaRPr lang="en-US" sz="1000" dirty="0"/>
          </a:p>
        </p:txBody>
      </p:sp>
      <p:sp>
        <p:nvSpPr>
          <p:cNvPr id="32" name="Shape 28"/>
          <p:cNvSpPr/>
          <p:nvPr/>
        </p:nvSpPr>
        <p:spPr>
          <a:xfrm>
            <a:off x="4892040" y="3895344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4892040" y="389534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100" dirty="0"/>
          </a:p>
        </p:txBody>
      </p:sp>
      <p:sp>
        <p:nvSpPr>
          <p:cNvPr id="34" name="Text 30"/>
          <p:cNvSpPr txBox="1"/>
          <p:nvPr/>
        </p:nvSpPr>
        <p:spPr>
          <a:xfrm>
            <a:off x="5330952" y="3904488"/>
            <a:ext cx="3172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公開を止める</a:t>
            </a:r>
            <a:endParaRPr lang="en-US" sz="1200" dirty="0"/>
          </a:p>
        </p:txBody>
      </p:sp>
      <p:sp>
        <p:nvSpPr>
          <p:cNvPr id="35" name="Text 31"/>
          <p:cNvSpPr txBox="1"/>
          <p:nvPr/>
        </p:nvSpPr>
        <p:spPr>
          <a:xfrm>
            <a:off x="5330952" y="4169664"/>
            <a:ext cx="317296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homepage の wg-apps.yml から外す。次のデプロイで消える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2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01  ·  公開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アプリは homepage の中で動かす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863840" y="777240"/>
            <a:ext cx="822960" cy="237744"/>
          </a:xfrm>
          <a:prstGeom prst="roundRect">
            <a:avLst>
              <a:gd name="adj" fmla="val 50000"/>
            </a:avLst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863840" y="777240"/>
            <a:ext cx="822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稼働中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457200" y="1417320"/>
            <a:ext cx="2560320" cy="32461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618488"/>
            <a:ext cx="292608" cy="292608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078992" y="1600200"/>
            <a:ext cx="1645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GitHub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685800" y="2148840"/>
            <a:ext cx="2103120" cy="603504"/>
          </a:xfrm>
          <a:prstGeom prst="rect">
            <a:avLst/>
          </a:prstGeom>
          <a:solidFill>
            <a:srgbClr val="F2F5F8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822960" y="2221992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wg-&lt;名前&gt;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822960" y="2468880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WG のリポジトリ（非公開）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1737360" y="2770632"/>
            <a:ext cx="0" cy="237744"/>
          </a:xfrm>
          <a:prstGeom prst="line">
            <a:avLst/>
          </a:prstGeom>
          <a:noFill/>
          <a:ln w="15875">
            <a:solidFill>
              <a:srgbClr val="1A4A70"/>
            </a:solidFill>
            <a:prstDash val="solid"/>
            <a:tailEnd type="triangle"/>
          </a:ln>
        </p:spPr>
      </p:sp>
      <p:sp>
        <p:nvSpPr>
          <p:cNvPr id="13" name="Shape 10"/>
          <p:cNvSpPr/>
          <p:nvPr/>
        </p:nvSpPr>
        <p:spPr>
          <a:xfrm>
            <a:off x="685800" y="3017520"/>
            <a:ext cx="2103120" cy="603504"/>
          </a:xfrm>
          <a:prstGeom prst="rect">
            <a:avLst/>
          </a:prstGeom>
          <a:solidFill>
            <a:srgbClr val="F2F5F8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822960" y="3090672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GitHub Actions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822960" y="3337560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main への push で起動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1737360" y="3639312"/>
            <a:ext cx="0" cy="237744"/>
          </a:xfrm>
          <a:prstGeom prst="line">
            <a:avLst/>
          </a:prstGeom>
          <a:noFill/>
          <a:ln w="15875">
            <a:solidFill>
              <a:srgbClr val="1A4A70"/>
            </a:solidFill>
            <a:prstDash val="solid"/>
            <a:tailEnd type="triangle"/>
          </a:ln>
        </p:spPr>
      </p:sp>
      <p:sp>
        <p:nvSpPr>
          <p:cNvPr id="17" name="Shape 14"/>
          <p:cNvSpPr/>
          <p:nvPr/>
        </p:nvSpPr>
        <p:spPr>
          <a:xfrm>
            <a:off x="685800" y="3886200"/>
            <a:ext cx="2103120" cy="603504"/>
          </a:xfrm>
          <a:prstGeom prst="rect">
            <a:avLst/>
          </a:prstGeom>
          <a:solidFill>
            <a:srgbClr val="F2F5F8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822960" y="3959352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homepage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822960" y="4206240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取り込んで zip を作る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3703320" y="1417320"/>
            <a:ext cx="4983480" cy="3246120"/>
          </a:xfrm>
          <a:prstGeom prst="rect">
            <a:avLst/>
          </a:prstGeom>
          <a:solidFill>
            <a:srgbClr val="FFFFFF"/>
          </a:solidFill>
          <a:ln w="12700">
            <a:solidFill>
              <a:srgbClr val="B9CAD9"/>
            </a:solidFill>
            <a:prstDash val="dash"/>
          </a:ln>
        </p:spPr>
      </p:sp>
      <p:pic>
        <p:nvPicPr>
          <p:cNvPr id="2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31920" y="1618488"/>
            <a:ext cx="310896" cy="310896"/>
          </a:xfrm>
          <a:prstGeom prst="rect">
            <a:avLst/>
          </a:prstGeom>
        </p:spPr>
      </p:pic>
      <p:sp>
        <p:nvSpPr>
          <p:cNvPr id="22" name="Text 18"/>
          <p:cNvSpPr txBox="1"/>
          <p:nvPr/>
        </p:nvSpPr>
        <p:spPr>
          <a:xfrm>
            <a:off x="4343400" y="160020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Azure</a:t>
            </a:r>
            <a:endParaRPr lang="en-US" sz="1500" dirty="0"/>
          </a:p>
        </p:txBody>
      </p:sp>
      <p:sp>
        <p:nvSpPr>
          <p:cNvPr id="23" name="Shape 19"/>
          <p:cNvSpPr/>
          <p:nvPr/>
        </p:nvSpPr>
        <p:spPr>
          <a:xfrm>
            <a:off x="4078224" y="2002536"/>
            <a:ext cx="2331720" cy="2286000"/>
          </a:xfrm>
          <a:prstGeom prst="rect">
            <a:avLst/>
          </a:prstGeom>
          <a:solidFill>
            <a:srgbClr val="CFE8FC"/>
          </a:solidFill>
          <a:ln w="12700">
            <a:solidFill>
              <a:srgbClr val="5BB8FF"/>
            </a:solidFill>
            <a:prstDash val="solid"/>
          </a:ln>
        </p:spPr>
      </p:sp>
      <p:sp>
        <p:nvSpPr>
          <p:cNvPr id="24" name="Shape 20"/>
          <p:cNvSpPr/>
          <p:nvPr/>
        </p:nvSpPr>
        <p:spPr>
          <a:xfrm>
            <a:off x="4005072" y="2075688"/>
            <a:ext cx="2331720" cy="2286000"/>
          </a:xfrm>
          <a:prstGeom prst="rect">
            <a:avLst/>
          </a:prstGeom>
          <a:solidFill>
            <a:srgbClr val="CFE8FC"/>
          </a:solidFill>
          <a:ln w="12700">
            <a:solidFill>
              <a:srgbClr val="5BB8FF"/>
            </a:solidFill>
            <a:prstDash val="solid"/>
          </a:ln>
        </p:spPr>
      </p:sp>
      <p:sp>
        <p:nvSpPr>
          <p:cNvPr id="25" name="Shape 21"/>
          <p:cNvSpPr/>
          <p:nvPr/>
        </p:nvSpPr>
        <p:spPr>
          <a:xfrm>
            <a:off x="3931920" y="2148840"/>
            <a:ext cx="2331720" cy="2286000"/>
          </a:xfrm>
          <a:prstGeom prst="rect">
            <a:avLst/>
          </a:prstGeom>
          <a:solidFill>
            <a:srgbClr val="E4F2FF"/>
          </a:solidFill>
          <a:ln w="12700">
            <a:solidFill>
              <a:srgbClr val="5BB8FF"/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4096512" y="2286000"/>
            <a:ext cx="2057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App Service: funITclub</a:t>
            </a:r>
            <a:endParaRPr lang="en-US" sz="1000" dirty="0"/>
          </a:p>
        </p:txBody>
      </p:sp>
      <p:sp>
        <p:nvSpPr>
          <p:cNvPr id="27" name="Shape 23"/>
          <p:cNvSpPr/>
          <p:nvPr/>
        </p:nvSpPr>
        <p:spPr>
          <a:xfrm>
            <a:off x="4096512" y="2651760"/>
            <a:ext cx="2002536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5BB8FF"/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4206240" y="274320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wg/&lt;名前&gt;/</a:t>
            </a:r>
            <a:endParaRPr lang="en-US" sz="1300" dirty="0"/>
          </a:p>
        </p:txBody>
      </p:sp>
      <p:sp>
        <p:nvSpPr>
          <p:cNvPr id="29" name="Text 25"/>
          <p:cNvSpPr txBox="1"/>
          <p:nvPr/>
        </p:nvSpPr>
        <p:spPr>
          <a:xfrm>
            <a:off x="4206240" y="3044952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/&lt;名前&gt;/ で動く。一覧から辿って開く</a:t>
            </a:r>
            <a:endParaRPr lang="en-US" sz="950" dirty="0"/>
          </a:p>
        </p:txBody>
      </p:sp>
      <p:sp>
        <p:nvSpPr>
          <p:cNvPr id="30" name="Text 26"/>
          <p:cNvSpPr txBox="1"/>
          <p:nvPr/>
        </p:nvSpPr>
        <p:spPr>
          <a:xfrm>
            <a:off x="4096512" y="365760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A4A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デプロイ時だけ取り込む</a:t>
            </a:r>
            <a:endParaRPr lang="en-US" sz="1100" dirty="0"/>
          </a:p>
        </p:txBody>
      </p:sp>
      <p:sp>
        <p:nvSpPr>
          <p:cNvPr id="31" name="Text 27"/>
          <p:cNvSpPr txBox="1"/>
          <p:nvPr/>
        </p:nvSpPr>
        <p:spPr>
          <a:xfrm>
            <a:off x="4096512" y="393192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公表したら works/ へ移す</a:t>
            </a:r>
            <a:endParaRPr lang="en-US" sz="950" dirty="0"/>
          </a:p>
        </p:txBody>
      </p:sp>
      <p:sp>
        <p:nvSpPr>
          <p:cNvPr id="32" name="Shape 28"/>
          <p:cNvSpPr/>
          <p:nvPr/>
        </p:nvSpPr>
        <p:spPr>
          <a:xfrm>
            <a:off x="6537960" y="2148840"/>
            <a:ext cx="1920240" cy="2286000"/>
          </a:xfrm>
          <a:prstGeom prst="rect">
            <a:avLst/>
          </a:prstGeom>
          <a:solidFill>
            <a:srgbClr val="F2F5F8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6702552" y="2286000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5A6B7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同じアプリの中</a:t>
            </a:r>
            <a:endParaRPr lang="en-US" sz="1000" dirty="0"/>
          </a:p>
        </p:txBody>
      </p:sp>
      <p:sp>
        <p:nvSpPr>
          <p:cNvPr id="34" name="Text 30"/>
          <p:cNvSpPr txBox="1"/>
          <p:nvPr/>
        </p:nvSpPr>
        <p:spPr>
          <a:xfrm>
            <a:off x="6702552" y="2651760"/>
            <a:ext cx="1645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homepage の画面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PostgreSQL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Key Vault</a:t>
            </a:r>
            <a:endParaRPr lang="en-US" sz="1100" dirty="0"/>
          </a:p>
        </p:txBody>
      </p:sp>
      <p:pic>
        <p:nvPicPr>
          <p:cNvPr id="3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02552" y="3721608"/>
            <a:ext cx="182880" cy="182880"/>
          </a:xfrm>
          <a:prstGeom prst="rect">
            <a:avLst/>
          </a:prstGeom>
        </p:spPr>
      </p:pic>
      <p:sp>
        <p:nvSpPr>
          <p:cNvPr id="36" name="Text 31"/>
          <p:cNvSpPr txBox="1"/>
          <p:nvPr/>
        </p:nvSpPr>
        <p:spPr>
          <a:xfrm>
            <a:off x="6949440" y="3685032"/>
            <a:ext cx="1417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WG のアプリも同じものを使う</a:t>
            </a:r>
            <a:endParaRPr lang="en-US" sz="1000" dirty="0"/>
          </a:p>
        </p:txBody>
      </p:sp>
      <p:sp>
        <p:nvSpPr>
          <p:cNvPr id="37" name="Shape 32"/>
          <p:cNvSpPr/>
          <p:nvPr/>
        </p:nvSpPr>
        <p:spPr>
          <a:xfrm>
            <a:off x="3035808" y="4187952"/>
            <a:ext cx="877824" cy="0"/>
          </a:xfrm>
          <a:prstGeom prst="line">
            <a:avLst/>
          </a:prstGeom>
          <a:noFill/>
          <a:ln w="19050">
            <a:solidFill>
              <a:srgbClr val="1A4A70"/>
            </a:solidFill>
            <a:prstDash val="solid"/>
            <a:tailEnd type="triangle"/>
          </a:ln>
        </p:spPr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 name="Slide 9">
    <p:bg>
      <p:bgPr>
        <a:solidFill>
          <a:srgbClr val="F2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01  ·  公開  ·  登録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アプリを載せるときの登録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417320"/>
            <a:ext cx="4023360" cy="31546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685800" y="1618488"/>
            <a:ext cx="457200" cy="457200"/>
          </a:xfrm>
          <a:prstGeom prst="ellipse">
            <a:avLst/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  <p:txBody>
          <a:bodyPr/>
          <a:p/>
        </p:txBody>
      </p:sp>
      <p:sp>
        <p:nvSpPr>
          <p:cNvPr id="7" name="Text 4"/>
          <p:cNvSpPr txBox="1"/>
          <p:nvPr/>
        </p:nvSpPr>
        <p:spPr>
          <a:xfrm>
            <a:off x="1280160" y="1618488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一度だけ（WG ごと）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685800" y="228600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  <p:txBody>
          <a:bodyPr/>
          <a:p/>
        </p:txBody>
      </p:sp>
      <p:sp>
        <p:nvSpPr>
          <p:cNvPr id="9" name="Text 6"/>
          <p:cNvSpPr txBox="1"/>
          <p:nvPr/>
        </p:nvSpPr>
        <p:spPr>
          <a:xfrm>
            <a:off x="685800" y="22860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1124712" y="2295144"/>
            <a:ext cx="3172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GitHub App をこのリポジトリにも入れる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1124712" y="2560320"/>
            <a:ext cx="317296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App の「Install App」→「Only select repositories」に足す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685800" y="3090672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  <p:txBody>
          <a:bodyPr/>
          <a:p/>
        </p:txBody>
      </p:sp>
      <p:sp>
        <p:nvSpPr>
          <p:cNvPr id="13" name="Text 10"/>
          <p:cNvSpPr txBox="1"/>
          <p:nvPr/>
        </p:nvSpPr>
        <p:spPr>
          <a:xfrm>
            <a:off x="685800" y="309067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1124712" y="3099816"/>
            <a:ext cx="3172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シークレットを 2 つ入れる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1124712" y="3364992"/>
            <a:ext cx="317296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鍵を作り、HOMEPAGE_DEPLOY_APP_ID と _PRIVATE_KEY を入れる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685800" y="3895344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  <p:txBody>
          <a:bodyPr/>
          <a:p/>
        </p:txBody>
      </p:sp>
      <p:sp>
        <p:nvSpPr>
          <p:cNvPr id="17" name="Text 14"/>
          <p:cNvSpPr txBox="1"/>
          <p:nvPr/>
        </p:nvSpPr>
        <p:spPr>
          <a:xfrm>
            <a:off x="685800" y="389534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124712" y="3904488"/>
            <a:ext cx="3172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wg-apps.yml に 1 行足す</a:t>
            </a:r>
            <a:endParaRPr lang="en-US" sz="1200" dirty="0"/>
          </a:p>
        </p:txBody>
      </p:sp>
      <p:sp>
        <p:nvSpPr>
          <p:cNvPr id="19" name="Text 16"/>
          <p:cNvSpPr txBox="1"/>
          <p:nvPr/>
        </p:nvSpPr>
        <p:spPr>
          <a:xfrm>
            <a:off x="1124712" y="4169664"/>
            <a:ext cx="317296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homepage に repo・take・as を書いて push。/&lt;名前&gt;/ が生える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4663440" y="1417320"/>
            <a:ext cx="4023360" cy="31546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21" name="Shape 18"/>
          <p:cNvSpPr/>
          <p:nvPr/>
        </p:nvSpPr>
        <p:spPr>
          <a:xfrm>
            <a:off x="4892040" y="1618488"/>
            <a:ext cx="457200" cy="457200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  <p:txBody>
          <a:bodyPr/>
          <a:p/>
        </p:txBody>
      </p:sp>
      <p:sp>
        <p:nvSpPr>
          <p:cNvPr id="23" name="Text 19"/>
          <p:cNvSpPr txBox="1"/>
          <p:nvPr/>
        </p:nvSpPr>
        <p:spPr>
          <a:xfrm>
            <a:off x="5486400" y="1618488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アプリができたら</a:t>
            </a:r>
            <a:endParaRPr lang="en-US" sz="1400" dirty="0"/>
          </a:p>
        </p:txBody>
      </p:sp>
      <p:sp>
        <p:nvSpPr>
          <p:cNvPr id="24" name="Shape 20"/>
          <p:cNvSpPr/>
          <p:nvPr/>
        </p:nvSpPr>
        <p:spPr>
          <a:xfrm>
            <a:off x="4892040" y="228600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  <p:txBody>
          <a:bodyPr/>
          <a:p/>
        </p:txBody>
      </p:sp>
      <p:sp>
        <p:nvSpPr>
          <p:cNvPr id="25" name="Text 21"/>
          <p:cNvSpPr txBox="1"/>
          <p:nvPr/>
        </p:nvSpPr>
        <p:spPr>
          <a:xfrm>
            <a:off x="4892040" y="22860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100" dirty="0"/>
          </a:p>
        </p:txBody>
      </p:sp>
      <p:sp>
        <p:nvSpPr>
          <p:cNvPr id="26" name="Text 22"/>
          <p:cNvSpPr txBox="1"/>
          <p:nvPr/>
        </p:nvSpPr>
        <p:spPr>
          <a:xfrm>
            <a:off x="5330952" y="2295144"/>
            <a:ext cx="3172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Webアプリの URL を入れる</a:t>
            </a:r>
            <a:endParaRPr lang="en-US" sz="1200" dirty="0"/>
          </a:p>
        </p:txBody>
      </p:sp>
      <p:sp>
        <p:nvSpPr>
          <p:cNvPr id="27" name="Text 23"/>
          <p:cNvSpPr txBox="1"/>
          <p:nvPr/>
        </p:nvSpPr>
        <p:spPr>
          <a:xfrm>
            <a:off x="5330952" y="2560320"/>
            <a:ext cx="317296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/edit/ の WG紹介に。入れるまで誰も辿り着けない</a:t>
            </a:r>
            <a:endParaRPr lang="en-US" sz="1000" dirty="0"/>
          </a:p>
        </p:txBody>
      </p:sp>
      <p:sp>
        <p:nvSpPr>
          <p:cNvPr id="28" name="Shape 24"/>
          <p:cNvSpPr/>
          <p:nvPr/>
        </p:nvSpPr>
        <p:spPr>
          <a:xfrm>
            <a:off x="4892040" y="3090672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  <p:txBody>
          <a:bodyPr/>
          <a:p/>
        </p:txBody>
      </p:sp>
      <p:sp>
        <p:nvSpPr>
          <p:cNvPr id="29" name="Text 25"/>
          <p:cNvSpPr txBox="1"/>
          <p:nvPr/>
        </p:nvSpPr>
        <p:spPr>
          <a:xfrm>
            <a:off x="4892040" y="309067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100" dirty="0"/>
          </a:p>
        </p:txBody>
      </p:sp>
      <p:sp>
        <p:nvSpPr>
          <p:cNvPr id="30" name="Text 26"/>
          <p:cNvSpPr txBox="1"/>
          <p:nvPr/>
        </p:nvSpPr>
        <p:spPr>
          <a:xfrm>
            <a:off x="5330952" y="3099816"/>
            <a:ext cx="3172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状態を「活動中」にする</a:t>
            </a:r>
            <a:endParaRPr lang="en-US" sz="1200" dirty="0"/>
          </a:p>
        </p:txBody>
      </p:sp>
      <p:sp>
        <p:nvSpPr>
          <p:cNvPr id="31" name="Text 27"/>
          <p:cNvSpPr txBox="1"/>
          <p:nvPr/>
        </p:nvSpPr>
        <p:spPr>
          <a:xfrm>
            <a:off x="5330952" y="3364992"/>
            <a:ext cx="317296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「準備中」のままだと、作りかけに見える</a:t>
            </a:r>
            <a:endParaRPr lang="en-US" sz="1000" dirty="0"/>
          </a:p>
        </p:txBody>
      </p:sp>
      <p:sp>
        <p:nvSpPr>
          <p:cNvPr id="32" name="Shape 28"/>
          <p:cNvSpPr/>
          <p:nvPr/>
        </p:nvSpPr>
        <p:spPr>
          <a:xfrm>
            <a:off x="4892040" y="3895344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  <p:txBody>
          <a:bodyPr/>
          <a:p/>
        </p:txBody>
      </p:sp>
      <p:sp>
        <p:nvSpPr>
          <p:cNvPr id="33" name="Text 29"/>
          <p:cNvSpPr txBox="1"/>
          <p:nvPr/>
        </p:nvSpPr>
        <p:spPr>
          <a:xfrm>
            <a:off x="4892040" y="389534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100" dirty="0"/>
          </a:p>
        </p:txBody>
      </p:sp>
      <p:sp>
        <p:nvSpPr>
          <p:cNvPr id="34" name="Text 30"/>
          <p:cNvSpPr txBox="1"/>
          <p:nvPr/>
        </p:nvSpPr>
        <p:spPr>
          <a:xfrm>
            <a:off x="5330952" y="3904488"/>
            <a:ext cx="3172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公表するときは works へ</a:t>
            </a:r>
            <a:endParaRPr lang="en-US" sz="1200" dirty="0"/>
          </a:p>
        </p:txBody>
      </p:sp>
      <p:sp>
        <p:nvSpPr>
          <p:cNvPr id="35" name="Text 31"/>
          <p:cNvSpPr txBox="1"/>
          <p:nvPr/>
        </p:nvSpPr>
        <p:spPr>
          <a:xfrm>
            <a:off x="5330952" y="4169664"/>
            <a:ext cx="317296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wg-apps.yml の as を works に変える（URL はそのまま）</a:t>
            </a:r>
            <a:endParaRPr lang="en-US" sz="1000" dirty="0"/>
          </a:p>
        </p:txBody>
      </p:sp>
      <p:pic>
        <p:nvPicPr>
          <p:cNvPr id="36" name="Picture 35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4672" y="1737360"/>
            <a:ext cx="219456" cy="219456"/>
          </a:xfrm>
          <a:prstGeom prst="rect">
            <a:avLst/>
          </a:prstGeom>
        </p:spPr>
      </p:pic>
      <p:pic>
        <p:nvPicPr>
          <p:cNvPr id="37" name="Picture 36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10912" y="1737360"/>
            <a:ext cx="219456" cy="219456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457200" y="4681728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登録するまでは取り込まれない。WG が main にマージしても、サイトには出ない（homepage が作り直されるだけ）。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2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01  ·  公開  ·  気をつけること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同じアプリで動かすので、3 つに気をつける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463040"/>
            <a:ext cx="2624328" cy="25146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31520" y="1737360"/>
            <a:ext cx="658368" cy="658368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2696" y="1908536"/>
            <a:ext cx="316017" cy="316017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31520" y="2560320"/>
            <a:ext cx="20756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一覧から入る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731520" y="2999232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URL を直に開いた人は一覧へ送り返される。入口を funitclub に集めるため。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3259836" y="1463040"/>
            <a:ext cx="2624328" cy="25146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3534156" y="1737360"/>
            <a:ext cx="658368" cy="658368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05332" y="1908536"/>
            <a:ext cx="316017" cy="316017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3534156" y="2560320"/>
            <a:ext cx="20756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壊すと全体に響く</a:t>
            </a:r>
            <a:endParaRPr lang="en-US" sz="1700" dirty="0"/>
          </a:p>
        </p:txBody>
      </p:sp>
      <p:sp>
        <p:nvSpPr>
          <p:cNvPr id="13" name="Text 9"/>
          <p:cNvSpPr txBox="1"/>
          <p:nvPr/>
        </p:nvSpPr>
        <p:spPr>
          <a:xfrm>
            <a:off x="3534156" y="2999232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homepage と同じプロセス・同じ DB。起動に失敗するとサイト全体が止まる。</a:t>
            </a:r>
            <a:endParaRPr 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6062472" y="1463040"/>
            <a:ext cx="2624328" cy="25146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6336792" y="1737360"/>
            <a:ext cx="658368" cy="658368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07968" y="1908536"/>
            <a:ext cx="316017" cy="316017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6336792" y="2560320"/>
            <a:ext cx="20756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出す前に確かめる</a:t>
            </a:r>
            <a:endParaRPr lang="en-US" sz="1700" dirty="0"/>
          </a:p>
        </p:txBody>
      </p:sp>
      <p:sp>
        <p:nvSpPr>
          <p:cNvPr id="18" name="Text 13"/>
          <p:cNvSpPr txBox="1"/>
          <p:nvPr/>
        </p:nvSpPr>
        <p:spPr>
          <a:xfrm>
            <a:off x="6336792" y="2999232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取り込んだ状態でテストと migrate を流す。応答が無ければ直前の状態に戻す。</a:t>
            </a:r>
            <a:endParaRPr lang="en-US" sz="1100" dirty="0"/>
          </a:p>
        </p:txBody>
      </p:sp>
      <p:sp>
        <p:nvSpPr>
          <p:cNvPr id="19" name="Text 14"/>
          <p:cNvSpPr txBox="1"/>
          <p:nvPr/>
        </p:nvSpPr>
        <p:spPr>
          <a:xfrm>
            <a:off x="457200" y="42062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運営は homepage の wg-apps.yml に WG を登録し、WG のリポジトリに起動用のシークレットを入れる（deploy.txt）。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WG 立ち上げガイド 01 リポジトリの作り方と運用</dc:title>
  <dc:subject>PptxGenJS Presentation</dc:subject>
  <dc:creator>PptxGenJS</dc:creator>
  <cp:lastModifiedBy>PptxGenJS</cp:lastModifiedBy>
  <cp:revision>1</cp:revision>
  <dcterms:created xsi:type="dcterms:W3CDTF">2026-09-20T02:11:52Z</dcterms:created>
  <dcterms:modified xsi:type="dcterms:W3CDTF">2026-09-20T02:11:52Z</dcterms:modified>
</cp:coreProperties>
</file>